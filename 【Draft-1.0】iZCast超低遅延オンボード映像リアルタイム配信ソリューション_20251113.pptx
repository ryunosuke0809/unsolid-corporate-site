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9" r:id="rId2"/>
    <p:sldId id="257" r:id="rId3"/>
    <p:sldId id="258" r:id="rId4"/>
    <p:sldId id="259" r:id="rId5"/>
    <p:sldId id="260" r:id="rId6"/>
    <p:sldId id="261" r:id="rId7"/>
    <p:sldId id="262" r:id="rId8"/>
    <p:sldId id="268" r:id="rId9"/>
    <p:sldId id="263" r:id="rId10"/>
    <p:sldId id="264" r:id="rId11"/>
    <p:sldId id="265" r:id="rId12"/>
    <p:sldId id="266" r:id="rId13"/>
    <p:sldId id="267"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80"/>
    <p:restoredTop sz="94610"/>
  </p:normalViewPr>
  <p:slideViewPr>
    <p:cSldViewPr snapToGrid="0" snapToObjects="1">
      <p:cViewPr varScale="1">
        <p:scale>
          <a:sx n="105" d="100"/>
          <a:sy n="105" d="100"/>
        </p:scale>
        <p:origin x="22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775761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3" Type="http://schemas.openxmlformats.org/officeDocument/2006/relationships/image" Target="../media/image41.png"/><Relationship Id="rId7" Type="http://schemas.openxmlformats.org/officeDocument/2006/relationships/image" Target="../media/image23.png"/><Relationship Id="rId12" Type="http://schemas.openxmlformats.org/officeDocument/2006/relationships/image" Target="../media/image4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4.png"/><Relationship Id="rId11" Type="http://schemas.openxmlformats.org/officeDocument/2006/relationships/image" Target="../media/image48.png"/><Relationship Id="rId5" Type="http://schemas.openxmlformats.org/officeDocument/2006/relationships/image" Target="../media/image43.png"/><Relationship Id="rId10" Type="http://schemas.openxmlformats.org/officeDocument/2006/relationships/image" Target="../media/image47.png"/><Relationship Id="rId4" Type="http://schemas.openxmlformats.org/officeDocument/2006/relationships/image" Target="../media/image42.png"/><Relationship Id="rId9" Type="http://schemas.openxmlformats.org/officeDocument/2006/relationships/image" Target="../media/image46.png"/><Relationship Id="rId14" Type="http://schemas.openxmlformats.org/officeDocument/2006/relationships/image" Target="../media/image51.png"/></Relationships>
</file>

<file path=ppt/slides/_rels/slide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9.png"/><Relationship Id="rId4" Type="http://schemas.openxmlformats.org/officeDocument/2006/relationships/image" Target="../media/image53.png"/></Relationships>
</file>

<file path=ppt/slides/_rels/slide1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11.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61.png"/><Relationship Id="rId4" Type="http://schemas.openxmlformats.org/officeDocument/2006/relationships/image" Target="../media/image60.png"/></Relationships>
</file>

<file path=ppt/slides/_rels/slide12.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6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7900" r="790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C3E50">
              <a:alpha val="80000"/>
            </a:srgbClr>
          </a:solidFill>
          <a:ln/>
        </p:spPr>
        <p:txBody>
          <a:bodyPr/>
          <a:lstStyle/>
          <a:p>
            <a:endParaRPr lang="ja-JP" altLang="en-US"/>
          </a:p>
        </p:txBody>
      </p:sp>
      <p:sp>
        <p:nvSpPr>
          <p:cNvPr id="4" name="Shape 1"/>
          <p:cNvSpPr/>
          <p:nvPr/>
        </p:nvSpPr>
        <p:spPr>
          <a:xfrm>
            <a:off x="9601200" y="476402"/>
            <a:ext cx="1828800" cy="390449"/>
          </a:xfrm>
          <a:prstGeom prst="roundRect">
            <a:avLst>
              <a:gd name="adj" fmla="val 22848"/>
            </a:avLst>
          </a:prstGeom>
          <a:solidFill>
            <a:srgbClr val="FFFFFF">
              <a:alpha val="10000"/>
            </a:srgbClr>
          </a:solidFill>
          <a:ln/>
        </p:spPr>
        <p:txBody>
          <a:bodyPr/>
          <a:lstStyle/>
          <a:p>
            <a:endParaRPr lang="ja-JP" altLang="en-US"/>
          </a:p>
        </p:txBody>
      </p:sp>
      <p:sp>
        <p:nvSpPr>
          <p:cNvPr id="5" name="Shape 2"/>
          <p:cNvSpPr/>
          <p:nvPr/>
        </p:nvSpPr>
        <p:spPr>
          <a:xfrm>
            <a:off x="10403129" y="571500"/>
            <a:ext cx="9144" cy="200254"/>
          </a:xfrm>
          <a:prstGeom prst="rect">
            <a:avLst/>
          </a:prstGeom>
          <a:solidFill>
            <a:srgbClr val="FFFFFF">
              <a:alpha val="30000"/>
            </a:srgbClr>
          </a:solidFill>
          <a:ln/>
        </p:spPr>
        <p:txBody>
          <a:bodyPr/>
          <a:lstStyle/>
          <a:p>
            <a:endParaRPr lang="ja-JP" altLang="en-US"/>
          </a:p>
        </p:txBody>
      </p:sp>
      <p:sp>
        <p:nvSpPr>
          <p:cNvPr id="6" name="Text 3"/>
          <p:cNvSpPr txBox="1"/>
          <p:nvPr/>
        </p:nvSpPr>
        <p:spPr>
          <a:xfrm>
            <a:off x="9791395" y="571500"/>
            <a:ext cx="633679" cy="200254"/>
          </a:xfrm>
          <a:prstGeom prst="rect">
            <a:avLst/>
          </a:prstGeom>
          <a:noFill/>
          <a:ln/>
        </p:spPr>
        <p:txBody>
          <a:bodyPr wrap="square" lIns="0" tIns="0" rIns="0" bIns="0" rtlCol="0" anchor="ctr"/>
          <a:lstStyle/>
          <a:p>
            <a:pPr marL="0" indent="0" algn="l">
              <a:buNone/>
            </a:pPr>
            <a:r>
              <a:rPr lang="en-US" sz="1300" b="1" dirty="0">
                <a:solidFill>
                  <a:srgbClr val="FFFFFF"/>
                </a:solidFill>
                <a:latin typeface="Roboto" pitchFamily="34" charset="0"/>
                <a:ea typeface="Roboto" pitchFamily="34" charset="-122"/>
                <a:cs typeface="Roboto" pitchFamily="34" charset="-120"/>
              </a:rPr>
              <a:t>iZCast</a:t>
            </a:r>
            <a:endParaRPr lang="en-US" sz="1300" dirty="0"/>
          </a:p>
        </p:txBody>
      </p:sp>
      <p:sp>
        <p:nvSpPr>
          <p:cNvPr id="7" name="Text 4"/>
          <p:cNvSpPr txBox="1"/>
          <p:nvPr/>
        </p:nvSpPr>
        <p:spPr>
          <a:xfrm>
            <a:off x="10527487" y="571500"/>
            <a:ext cx="843077" cy="200254"/>
          </a:xfrm>
          <a:prstGeom prst="rect">
            <a:avLst/>
          </a:prstGeom>
          <a:noFill/>
          <a:ln/>
        </p:spPr>
        <p:txBody>
          <a:bodyPr wrap="square" lIns="0" tIns="0" rIns="0" bIns="0" rtlCol="0" anchor="ctr"/>
          <a:lstStyle/>
          <a:p>
            <a:pPr marL="0" indent="0" algn="l">
              <a:buNone/>
            </a:pPr>
            <a:r>
              <a:rPr lang="en-US" sz="1300" b="1" dirty="0">
                <a:solidFill>
                  <a:srgbClr val="FFFFFF"/>
                </a:solidFill>
                <a:latin typeface="Roboto" pitchFamily="34" charset="0"/>
                <a:ea typeface="Roboto" pitchFamily="34" charset="-122"/>
                <a:cs typeface="Roboto" pitchFamily="34" charset="-120"/>
              </a:rPr>
              <a:t>UNSOLID</a:t>
            </a:r>
            <a:endParaRPr lang="en-US" sz="1300" dirty="0"/>
          </a:p>
        </p:txBody>
      </p:sp>
      <p:sp>
        <p:nvSpPr>
          <p:cNvPr id="8" name="Text 5"/>
          <p:cNvSpPr txBox="1"/>
          <p:nvPr/>
        </p:nvSpPr>
        <p:spPr>
          <a:xfrm>
            <a:off x="761695" y="1152144"/>
            <a:ext cx="4445813" cy="191110"/>
          </a:xfrm>
          <a:prstGeom prst="rect">
            <a:avLst/>
          </a:prstGeom>
          <a:noFill/>
          <a:ln/>
        </p:spPr>
        <p:txBody>
          <a:bodyPr wrap="square" lIns="0" tIns="0" rIns="0" bIns="0" rtlCol="0" anchor="ctr"/>
          <a:lstStyle/>
          <a:p>
            <a:pPr marL="0" indent="0" algn="l">
              <a:buNone/>
            </a:pPr>
            <a:r>
              <a:rPr lang="en-US" sz="1200" b="1" dirty="0">
                <a:solidFill>
                  <a:srgbClr val="3498DB"/>
                </a:solidFill>
                <a:latin typeface="Roboto" pitchFamily="34" charset="0"/>
                <a:ea typeface="Roboto" pitchFamily="34" charset="-122"/>
                <a:cs typeface="Roboto" pitchFamily="34" charset="-120"/>
              </a:rPr>
              <a:t>NEXT GENERATION MOTORSPORT TECHNOLOGY</a:t>
            </a:r>
            <a:endParaRPr lang="en-US" sz="1200" dirty="0"/>
          </a:p>
        </p:txBody>
      </p:sp>
      <p:sp>
        <p:nvSpPr>
          <p:cNvPr id="9" name="Text 6"/>
          <p:cNvSpPr txBox="1"/>
          <p:nvPr/>
        </p:nvSpPr>
        <p:spPr>
          <a:xfrm>
            <a:off x="761695" y="3076956"/>
            <a:ext cx="5027371" cy="286207"/>
          </a:xfrm>
          <a:prstGeom prst="rect">
            <a:avLst/>
          </a:prstGeom>
          <a:noFill/>
          <a:ln/>
        </p:spPr>
        <p:txBody>
          <a:bodyPr wrap="square" lIns="0" tIns="0" rIns="0" bIns="0" rtlCol="0" anchor="ctr"/>
          <a:lstStyle/>
          <a:p>
            <a:pPr marL="0" indent="0" algn="l">
              <a:buNone/>
            </a:pPr>
            <a:r>
              <a:rPr lang="en-US" sz="1500" dirty="0" err="1">
                <a:solidFill>
                  <a:srgbClr val="CCCCCC"/>
                </a:solidFill>
                <a:latin typeface="Noto Sans JP" pitchFamily="34" charset="0"/>
                <a:ea typeface="Noto Sans JP" pitchFamily="34" charset="-122"/>
                <a:cs typeface="Noto Sans JP" pitchFamily="34" charset="-120"/>
              </a:rPr>
              <a:t>レーシングカーの映像を</a:t>
            </a:r>
            <a:r>
              <a:rPr lang="en-US" sz="1500" dirty="0">
                <a:solidFill>
                  <a:srgbClr val="CCCCCC"/>
                </a:solidFill>
                <a:latin typeface="Noto Sans JP" pitchFamily="34" charset="0"/>
                <a:ea typeface="Noto Sans JP" pitchFamily="34" charset="-122"/>
                <a:cs typeface="Noto Sans JP" pitchFamily="34" charset="-120"/>
              </a:rPr>
              <a:t> "</a:t>
            </a:r>
            <a:r>
              <a:rPr lang="en-US" sz="1500" dirty="0" err="1">
                <a:solidFill>
                  <a:srgbClr val="CCCCCC"/>
                </a:solidFill>
                <a:latin typeface="Noto Sans JP" pitchFamily="34" charset="0"/>
                <a:ea typeface="Noto Sans JP" pitchFamily="34" charset="-122"/>
                <a:cs typeface="Noto Sans JP" pitchFamily="34" charset="-120"/>
              </a:rPr>
              <a:t>リアルタイム</a:t>
            </a:r>
            <a:r>
              <a:rPr lang="en-US" sz="1500" dirty="0">
                <a:solidFill>
                  <a:srgbClr val="CCCCCC"/>
                </a:solidFill>
                <a:latin typeface="Noto Sans JP" pitchFamily="34" charset="0"/>
                <a:ea typeface="Noto Sans JP" pitchFamily="34" charset="-122"/>
                <a:cs typeface="Noto Sans JP" pitchFamily="34" charset="-120"/>
              </a:rPr>
              <a:t>" で世界へ</a:t>
            </a:r>
            <a:endParaRPr lang="en-US" sz="1500" dirty="0"/>
          </a:p>
        </p:txBody>
      </p:sp>
      <p:sp>
        <p:nvSpPr>
          <p:cNvPr id="10" name="Text 7"/>
          <p:cNvSpPr txBox="1"/>
          <p:nvPr/>
        </p:nvSpPr>
        <p:spPr>
          <a:xfrm>
            <a:off x="761695" y="1371600"/>
            <a:ext cx="6253582" cy="553212"/>
          </a:xfrm>
          <a:prstGeom prst="rect">
            <a:avLst/>
          </a:prstGeom>
          <a:noFill/>
          <a:ln/>
        </p:spPr>
        <p:txBody>
          <a:bodyPr wrap="square" lIns="0" tIns="0" rIns="0" bIns="0" rtlCol="0" anchor="ctr"/>
          <a:lstStyle/>
          <a:p>
            <a:pPr marL="0" indent="0" algn="l">
              <a:buNone/>
            </a:pPr>
            <a:r>
              <a:rPr lang="en-US" sz="3700" b="1" dirty="0">
                <a:solidFill>
                  <a:srgbClr val="FFFFFF"/>
                </a:solidFill>
                <a:latin typeface="Roboto" pitchFamily="34" charset="0"/>
                <a:ea typeface="Roboto" pitchFamily="34" charset="-122"/>
                <a:cs typeface="Roboto" pitchFamily="34" charset="-120"/>
              </a:rPr>
              <a:t>Ultra Low-Latency Onboard</a:t>
            </a:r>
            <a:endParaRPr lang="en-US" sz="3700" dirty="0"/>
          </a:p>
        </p:txBody>
      </p:sp>
      <p:sp>
        <p:nvSpPr>
          <p:cNvPr id="11" name="Text 8"/>
          <p:cNvSpPr txBox="1"/>
          <p:nvPr/>
        </p:nvSpPr>
        <p:spPr>
          <a:xfrm>
            <a:off x="761695" y="1895551"/>
            <a:ext cx="5520233" cy="553212"/>
          </a:xfrm>
          <a:prstGeom prst="rect">
            <a:avLst/>
          </a:prstGeom>
          <a:noFill/>
          <a:ln/>
        </p:spPr>
        <p:txBody>
          <a:bodyPr wrap="square" lIns="0" tIns="0" rIns="0" bIns="0" rtlCol="0" anchor="ctr"/>
          <a:lstStyle/>
          <a:p>
            <a:pPr marL="0" indent="0" algn="l">
              <a:buNone/>
            </a:pPr>
            <a:r>
              <a:rPr lang="en-US" sz="3700" b="1" dirty="0">
                <a:solidFill>
                  <a:srgbClr val="FFFFFF"/>
                </a:solidFill>
                <a:latin typeface="Roboto" pitchFamily="34" charset="0"/>
                <a:ea typeface="Roboto" pitchFamily="34" charset="-122"/>
                <a:cs typeface="Roboto" pitchFamily="34" charset="-120"/>
              </a:rPr>
              <a:t>Live Streaming Solution</a:t>
            </a:r>
            <a:endParaRPr lang="en-US" sz="3700" dirty="0"/>
          </a:p>
        </p:txBody>
      </p:sp>
      <p:sp>
        <p:nvSpPr>
          <p:cNvPr id="12" name="Text 9"/>
          <p:cNvSpPr txBox="1"/>
          <p:nvPr/>
        </p:nvSpPr>
        <p:spPr>
          <a:xfrm>
            <a:off x="761695" y="2486254"/>
            <a:ext cx="6615684" cy="352958"/>
          </a:xfrm>
          <a:prstGeom prst="rect">
            <a:avLst/>
          </a:prstGeom>
          <a:noFill/>
          <a:ln/>
        </p:spPr>
        <p:txBody>
          <a:bodyPr wrap="square" lIns="0" tIns="0" rIns="0" bIns="0" rtlCol="0" anchor="ctr"/>
          <a:lstStyle/>
          <a:p>
            <a:pPr marL="0" indent="0" algn="l">
              <a:buNone/>
            </a:pPr>
            <a:r>
              <a:rPr lang="en-US" sz="1900" b="1" dirty="0">
                <a:solidFill>
                  <a:srgbClr val="E74C3C"/>
                </a:solidFill>
                <a:latin typeface="Noto Sans JP" pitchFamily="34" charset="0"/>
                <a:ea typeface="Noto Sans JP" pitchFamily="34" charset="-122"/>
                <a:cs typeface="Noto Sans JP" pitchFamily="34" charset="-120"/>
              </a:rPr>
              <a:t>超低遅延オンボード映像リアルタイム配信ソリューション</a:t>
            </a:r>
            <a:endParaRPr lang="en-US" sz="1900" dirty="0"/>
          </a:p>
        </p:txBody>
      </p:sp>
      <p:sp>
        <p:nvSpPr>
          <p:cNvPr id="13" name="Shape 10"/>
          <p:cNvSpPr/>
          <p:nvPr/>
        </p:nvSpPr>
        <p:spPr>
          <a:xfrm>
            <a:off x="761695" y="3696005"/>
            <a:ext cx="1276502" cy="314554"/>
          </a:xfrm>
          <a:prstGeom prst="rect">
            <a:avLst/>
          </a:prstGeom>
          <a:solidFill>
            <a:srgbClr val="E74C3C">
              <a:alpha val="15000"/>
            </a:srgbClr>
          </a:solidFill>
          <a:ln/>
        </p:spPr>
        <p:txBody>
          <a:bodyPr/>
          <a:lstStyle/>
          <a:p>
            <a:endParaRPr lang="ja-JP" altLang="en-US"/>
          </a:p>
        </p:txBody>
      </p:sp>
      <p:sp>
        <p:nvSpPr>
          <p:cNvPr id="14" name="Shape 11"/>
          <p:cNvSpPr/>
          <p:nvPr/>
        </p:nvSpPr>
        <p:spPr>
          <a:xfrm>
            <a:off x="761695" y="3696005"/>
            <a:ext cx="28346" cy="314554"/>
          </a:xfrm>
          <a:prstGeom prst="rect">
            <a:avLst/>
          </a:prstGeom>
          <a:solidFill>
            <a:srgbClr val="E74C3C"/>
          </a:solidFill>
          <a:ln/>
        </p:spPr>
        <p:txBody>
          <a:bodyPr/>
          <a:lstStyle/>
          <a:p>
            <a:endParaRPr lang="ja-JP" altLang="en-US"/>
          </a:p>
        </p:txBody>
      </p:sp>
      <p:pic>
        <p:nvPicPr>
          <p:cNvPr id="15" name="Image 1" descr="preencoded.png"/>
          <p:cNvPicPr>
            <a:picLocks noChangeAspect="1"/>
          </p:cNvPicPr>
          <p:nvPr/>
        </p:nvPicPr>
        <p:blipFill>
          <a:blip r:embed="rId4"/>
          <a:srcRect t="-555" b="-555"/>
          <a:stretch/>
        </p:blipFill>
        <p:spPr>
          <a:xfrm>
            <a:off x="923544" y="3781044"/>
            <a:ext cx="123444" cy="142646"/>
          </a:xfrm>
          <a:prstGeom prst="rect">
            <a:avLst/>
          </a:prstGeom>
        </p:spPr>
      </p:pic>
      <p:sp>
        <p:nvSpPr>
          <p:cNvPr id="16" name="Shape 12"/>
          <p:cNvSpPr/>
          <p:nvPr/>
        </p:nvSpPr>
        <p:spPr>
          <a:xfrm>
            <a:off x="2151583" y="3696005"/>
            <a:ext cx="1438351" cy="314554"/>
          </a:xfrm>
          <a:prstGeom prst="rect">
            <a:avLst/>
          </a:prstGeom>
          <a:solidFill>
            <a:srgbClr val="3498DB">
              <a:alpha val="15000"/>
            </a:srgbClr>
          </a:solidFill>
          <a:ln/>
        </p:spPr>
        <p:txBody>
          <a:bodyPr/>
          <a:lstStyle/>
          <a:p>
            <a:endParaRPr lang="ja-JP" altLang="en-US"/>
          </a:p>
        </p:txBody>
      </p:sp>
      <p:sp>
        <p:nvSpPr>
          <p:cNvPr id="17" name="Shape 13"/>
          <p:cNvSpPr/>
          <p:nvPr/>
        </p:nvSpPr>
        <p:spPr>
          <a:xfrm>
            <a:off x="2151583" y="3696005"/>
            <a:ext cx="28346" cy="314554"/>
          </a:xfrm>
          <a:prstGeom prst="rect">
            <a:avLst/>
          </a:prstGeom>
          <a:solidFill>
            <a:srgbClr val="3498DB"/>
          </a:solidFill>
          <a:ln/>
        </p:spPr>
        <p:txBody>
          <a:bodyPr/>
          <a:lstStyle/>
          <a:p>
            <a:endParaRPr lang="ja-JP" altLang="en-US"/>
          </a:p>
        </p:txBody>
      </p:sp>
      <p:sp>
        <p:nvSpPr>
          <p:cNvPr id="18" name="Text 14"/>
          <p:cNvSpPr txBox="1"/>
          <p:nvPr/>
        </p:nvSpPr>
        <p:spPr>
          <a:xfrm>
            <a:off x="1143000" y="3781044"/>
            <a:ext cx="869594" cy="171907"/>
          </a:xfrm>
          <a:prstGeom prst="rect">
            <a:avLst/>
          </a:prstGeom>
          <a:noFill/>
          <a:ln/>
        </p:spPr>
        <p:txBody>
          <a:bodyPr wrap="square" lIns="0" tIns="0" rIns="0" bIns="0" rtlCol="0" anchor="ctr"/>
          <a:lstStyle/>
          <a:p>
            <a:pPr marL="0" indent="0" algn="l">
              <a:buNone/>
            </a:pPr>
            <a:r>
              <a:rPr lang="en-US" sz="1100" dirty="0">
                <a:solidFill>
                  <a:srgbClr val="FFFFFF"/>
                </a:solidFill>
                <a:latin typeface="Roboto" pitchFamily="34" charset="0"/>
                <a:ea typeface="Roboto" pitchFamily="34" charset="-122"/>
                <a:cs typeface="Roboto" pitchFamily="34" charset="-120"/>
              </a:rPr>
              <a:t>0.5-2秒遅延</a:t>
            </a:r>
            <a:endParaRPr lang="en-US" sz="1100" dirty="0"/>
          </a:p>
        </p:txBody>
      </p:sp>
      <p:pic>
        <p:nvPicPr>
          <p:cNvPr id="19" name="Image 2" descr="preencoded.png"/>
          <p:cNvPicPr>
            <a:picLocks noChangeAspect="1"/>
          </p:cNvPicPr>
          <p:nvPr/>
        </p:nvPicPr>
        <p:blipFill>
          <a:blip r:embed="rId5"/>
          <a:srcRect l="-428" r="-428"/>
          <a:stretch/>
        </p:blipFill>
        <p:spPr>
          <a:xfrm>
            <a:off x="2313432" y="3781044"/>
            <a:ext cx="161849" cy="142646"/>
          </a:xfrm>
          <a:prstGeom prst="rect">
            <a:avLst/>
          </a:prstGeom>
        </p:spPr>
      </p:pic>
      <p:sp>
        <p:nvSpPr>
          <p:cNvPr id="20" name="Shape 15"/>
          <p:cNvSpPr/>
          <p:nvPr/>
        </p:nvSpPr>
        <p:spPr>
          <a:xfrm>
            <a:off x="3694176" y="3696005"/>
            <a:ext cx="1495044" cy="314554"/>
          </a:xfrm>
          <a:prstGeom prst="rect">
            <a:avLst/>
          </a:prstGeom>
          <a:solidFill>
            <a:srgbClr val="E74C3C">
              <a:alpha val="15000"/>
            </a:srgbClr>
          </a:solidFill>
          <a:ln/>
        </p:spPr>
        <p:txBody>
          <a:bodyPr/>
          <a:lstStyle/>
          <a:p>
            <a:endParaRPr lang="ja-JP" altLang="en-US"/>
          </a:p>
        </p:txBody>
      </p:sp>
      <p:sp>
        <p:nvSpPr>
          <p:cNvPr id="21" name="Shape 16"/>
          <p:cNvSpPr/>
          <p:nvPr/>
        </p:nvSpPr>
        <p:spPr>
          <a:xfrm>
            <a:off x="3694176" y="3696005"/>
            <a:ext cx="28346" cy="314554"/>
          </a:xfrm>
          <a:prstGeom prst="rect">
            <a:avLst/>
          </a:prstGeom>
          <a:solidFill>
            <a:srgbClr val="E74C3C"/>
          </a:solidFill>
          <a:ln/>
        </p:spPr>
        <p:txBody>
          <a:bodyPr/>
          <a:lstStyle/>
          <a:p>
            <a:endParaRPr lang="ja-JP" altLang="en-US"/>
          </a:p>
        </p:txBody>
      </p:sp>
      <p:sp>
        <p:nvSpPr>
          <p:cNvPr id="22" name="Text 17"/>
          <p:cNvSpPr txBox="1"/>
          <p:nvPr/>
        </p:nvSpPr>
        <p:spPr>
          <a:xfrm>
            <a:off x="2570378" y="3767328"/>
            <a:ext cx="993038" cy="171907"/>
          </a:xfrm>
          <a:prstGeom prst="rect">
            <a:avLst/>
          </a:prstGeom>
          <a:noFill/>
          <a:ln/>
        </p:spPr>
        <p:txBody>
          <a:bodyPr wrap="square" lIns="0" tIns="0" rIns="0" bIns="0" rtlCol="0" anchor="ctr"/>
          <a:lstStyle/>
          <a:p>
            <a:pPr marL="0" indent="0" algn="l">
              <a:buNone/>
            </a:pPr>
            <a:r>
              <a:rPr lang="en-US" sz="1100" dirty="0">
                <a:solidFill>
                  <a:srgbClr val="FFFFFF"/>
                </a:solidFill>
                <a:latin typeface="Roboto" pitchFamily="34" charset="0"/>
                <a:ea typeface="Roboto" pitchFamily="34" charset="-122"/>
                <a:cs typeface="Roboto" pitchFamily="34" charset="-120"/>
              </a:rPr>
              <a:t>FHD 1080p30</a:t>
            </a:r>
            <a:endParaRPr lang="en-US" sz="1100" dirty="0"/>
          </a:p>
        </p:txBody>
      </p:sp>
      <p:pic>
        <p:nvPicPr>
          <p:cNvPr id="23" name="Image 3" descr="preencoded.png"/>
          <p:cNvPicPr>
            <a:picLocks noChangeAspect="1"/>
          </p:cNvPicPr>
          <p:nvPr/>
        </p:nvPicPr>
        <p:blipFill>
          <a:blip r:embed="rId6"/>
          <a:srcRect l="-428" r="-428"/>
          <a:stretch/>
        </p:blipFill>
        <p:spPr>
          <a:xfrm>
            <a:off x="3856025" y="3781044"/>
            <a:ext cx="161849" cy="142646"/>
          </a:xfrm>
          <a:prstGeom prst="rect">
            <a:avLst/>
          </a:prstGeom>
        </p:spPr>
      </p:pic>
      <p:sp>
        <p:nvSpPr>
          <p:cNvPr id="24" name="Shape 18"/>
          <p:cNvSpPr/>
          <p:nvPr/>
        </p:nvSpPr>
        <p:spPr>
          <a:xfrm>
            <a:off x="5302606" y="3696005"/>
            <a:ext cx="1533449" cy="314554"/>
          </a:xfrm>
          <a:prstGeom prst="rect">
            <a:avLst/>
          </a:prstGeom>
          <a:solidFill>
            <a:srgbClr val="3498DB">
              <a:alpha val="15000"/>
            </a:srgbClr>
          </a:solidFill>
          <a:ln/>
        </p:spPr>
        <p:txBody>
          <a:bodyPr/>
          <a:lstStyle/>
          <a:p>
            <a:endParaRPr lang="ja-JP" altLang="en-US"/>
          </a:p>
        </p:txBody>
      </p:sp>
      <p:sp>
        <p:nvSpPr>
          <p:cNvPr id="25" name="Shape 19"/>
          <p:cNvSpPr/>
          <p:nvPr/>
        </p:nvSpPr>
        <p:spPr>
          <a:xfrm>
            <a:off x="5302606" y="3696005"/>
            <a:ext cx="28346" cy="314554"/>
          </a:xfrm>
          <a:prstGeom prst="rect">
            <a:avLst/>
          </a:prstGeom>
          <a:solidFill>
            <a:srgbClr val="3498DB"/>
          </a:solidFill>
          <a:ln/>
        </p:spPr>
        <p:txBody>
          <a:bodyPr/>
          <a:lstStyle/>
          <a:p>
            <a:endParaRPr lang="ja-JP" altLang="en-US"/>
          </a:p>
        </p:txBody>
      </p:sp>
      <p:sp>
        <p:nvSpPr>
          <p:cNvPr id="26" name="Text 20"/>
          <p:cNvSpPr txBox="1"/>
          <p:nvPr/>
        </p:nvSpPr>
        <p:spPr>
          <a:xfrm>
            <a:off x="4113886" y="3781044"/>
            <a:ext cx="1050646" cy="171907"/>
          </a:xfrm>
          <a:prstGeom prst="rect">
            <a:avLst/>
          </a:prstGeom>
          <a:noFill/>
          <a:ln/>
        </p:spPr>
        <p:txBody>
          <a:bodyPr wrap="square" lIns="0" tIns="0" rIns="0" bIns="0" rtlCol="0" anchor="ctr"/>
          <a:lstStyle/>
          <a:p>
            <a:pPr marL="0" indent="0" algn="l">
              <a:buNone/>
            </a:pPr>
            <a:r>
              <a:rPr lang="en-US" sz="1100" dirty="0">
                <a:solidFill>
                  <a:srgbClr val="FFFFFF"/>
                </a:solidFill>
                <a:latin typeface="Roboto" pitchFamily="34" charset="0"/>
                <a:ea typeface="Roboto" pitchFamily="34" charset="-122"/>
                <a:cs typeface="Roboto" pitchFamily="34" charset="-120"/>
              </a:rPr>
              <a:t>マルチパスLTE</a:t>
            </a:r>
            <a:endParaRPr lang="en-US" sz="1100" dirty="0"/>
          </a:p>
        </p:txBody>
      </p:sp>
      <p:pic>
        <p:nvPicPr>
          <p:cNvPr id="27" name="Image 4" descr="preencoded.png"/>
          <p:cNvPicPr>
            <a:picLocks noChangeAspect="1"/>
          </p:cNvPicPr>
          <p:nvPr/>
        </p:nvPicPr>
        <p:blipFill>
          <a:blip r:embed="rId7"/>
          <a:srcRect/>
          <a:stretch/>
        </p:blipFill>
        <p:spPr>
          <a:xfrm>
            <a:off x="5465369" y="3781044"/>
            <a:ext cx="142646" cy="142646"/>
          </a:xfrm>
          <a:prstGeom prst="rect">
            <a:avLst/>
          </a:prstGeom>
        </p:spPr>
      </p:pic>
      <p:sp>
        <p:nvSpPr>
          <p:cNvPr id="28" name="Shape 21"/>
          <p:cNvSpPr/>
          <p:nvPr/>
        </p:nvSpPr>
        <p:spPr>
          <a:xfrm>
            <a:off x="6949440" y="3696005"/>
            <a:ext cx="2095805" cy="314554"/>
          </a:xfrm>
          <a:prstGeom prst="rect">
            <a:avLst/>
          </a:prstGeom>
          <a:solidFill>
            <a:srgbClr val="E74C3C">
              <a:alpha val="15000"/>
            </a:srgbClr>
          </a:solidFill>
          <a:ln/>
        </p:spPr>
        <p:txBody>
          <a:bodyPr/>
          <a:lstStyle/>
          <a:p>
            <a:endParaRPr lang="ja-JP" altLang="en-US"/>
          </a:p>
        </p:txBody>
      </p:sp>
      <p:sp>
        <p:nvSpPr>
          <p:cNvPr id="29" name="Shape 22"/>
          <p:cNvSpPr/>
          <p:nvPr/>
        </p:nvSpPr>
        <p:spPr>
          <a:xfrm>
            <a:off x="6949440" y="3696005"/>
            <a:ext cx="28346" cy="314554"/>
          </a:xfrm>
          <a:prstGeom prst="rect">
            <a:avLst/>
          </a:prstGeom>
          <a:solidFill>
            <a:srgbClr val="E74C3C"/>
          </a:solidFill>
          <a:ln/>
        </p:spPr>
        <p:txBody>
          <a:bodyPr/>
          <a:lstStyle/>
          <a:p>
            <a:endParaRPr lang="ja-JP" altLang="en-US"/>
          </a:p>
        </p:txBody>
      </p:sp>
      <p:sp>
        <p:nvSpPr>
          <p:cNvPr id="30" name="Text 23"/>
          <p:cNvSpPr txBox="1"/>
          <p:nvPr/>
        </p:nvSpPr>
        <p:spPr>
          <a:xfrm>
            <a:off x="5703113" y="3781044"/>
            <a:ext cx="1107338" cy="171907"/>
          </a:xfrm>
          <a:prstGeom prst="rect">
            <a:avLst/>
          </a:prstGeom>
          <a:noFill/>
          <a:ln/>
        </p:spPr>
        <p:txBody>
          <a:bodyPr wrap="square" lIns="0" tIns="0" rIns="0" bIns="0" rtlCol="0" anchor="ctr"/>
          <a:lstStyle/>
          <a:p>
            <a:pPr marL="0" indent="0" algn="l">
              <a:buNone/>
            </a:pPr>
            <a:r>
              <a:rPr lang="en-US" sz="1100" dirty="0">
                <a:solidFill>
                  <a:srgbClr val="FFFFFF"/>
                </a:solidFill>
                <a:latin typeface="Roboto" pitchFamily="34" charset="0"/>
                <a:ea typeface="Roboto" pitchFamily="34" charset="-122"/>
                <a:cs typeface="Roboto" pitchFamily="34" charset="-120"/>
              </a:rPr>
              <a:t>グローバル伝送</a:t>
            </a:r>
            <a:endParaRPr lang="en-US" sz="1100" dirty="0"/>
          </a:p>
        </p:txBody>
      </p:sp>
      <p:pic>
        <p:nvPicPr>
          <p:cNvPr id="31" name="Image 5" descr="preencoded.png"/>
          <p:cNvPicPr>
            <a:picLocks noChangeAspect="1"/>
          </p:cNvPicPr>
          <p:nvPr/>
        </p:nvPicPr>
        <p:blipFill>
          <a:blip r:embed="rId8"/>
          <a:srcRect/>
          <a:stretch/>
        </p:blipFill>
        <p:spPr>
          <a:xfrm>
            <a:off x="7111289" y="3781044"/>
            <a:ext cx="142646" cy="142646"/>
          </a:xfrm>
          <a:prstGeom prst="rect">
            <a:avLst/>
          </a:prstGeom>
        </p:spPr>
      </p:pic>
      <p:sp>
        <p:nvSpPr>
          <p:cNvPr id="32" name="Text 24"/>
          <p:cNvSpPr txBox="1"/>
          <p:nvPr/>
        </p:nvSpPr>
        <p:spPr>
          <a:xfrm>
            <a:off x="7349947" y="3781044"/>
            <a:ext cx="1669694" cy="171907"/>
          </a:xfrm>
          <a:prstGeom prst="rect">
            <a:avLst/>
          </a:prstGeom>
          <a:noFill/>
          <a:ln/>
        </p:spPr>
        <p:txBody>
          <a:bodyPr wrap="square" lIns="0" tIns="0" rIns="0" bIns="0" rtlCol="0" anchor="ctr"/>
          <a:lstStyle/>
          <a:p>
            <a:pPr marL="0" indent="0" algn="l">
              <a:buNone/>
            </a:pPr>
            <a:r>
              <a:rPr lang="en-US" sz="1100" dirty="0">
                <a:solidFill>
                  <a:srgbClr val="FFFFFF"/>
                </a:solidFill>
                <a:latin typeface="Roboto" pitchFamily="34" charset="0"/>
                <a:ea typeface="Roboto" pitchFamily="34" charset="-122"/>
                <a:cs typeface="Roboto" pitchFamily="34" charset="-120"/>
              </a:rPr>
              <a:t>リアルタイムレース運用</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C3E50"/>
          </a:solidFill>
          <a:ln/>
        </p:spPr>
        <p:txBody>
          <a:bodyPr/>
          <a:lstStyle/>
          <a:p>
            <a:endParaRPr lang="ja-JP" altLang="en-US"/>
          </a:p>
        </p:txBody>
      </p:sp>
      <p:sp>
        <p:nvSpPr>
          <p:cNvPr id="3" name="Shape 1"/>
          <p:cNvSpPr/>
          <p:nvPr/>
        </p:nvSpPr>
        <p:spPr>
          <a:xfrm>
            <a:off x="761695" y="381305"/>
            <a:ext cx="47549" cy="942746"/>
          </a:xfrm>
          <a:prstGeom prst="rect">
            <a:avLst/>
          </a:prstGeom>
          <a:solidFill>
            <a:srgbClr val="E74C3C"/>
          </a:solidFill>
          <a:ln/>
        </p:spPr>
        <p:txBody>
          <a:bodyPr/>
          <a:lstStyle/>
          <a:p>
            <a:endParaRPr lang="ja-JP" altLang="en-US"/>
          </a:p>
        </p:txBody>
      </p:sp>
      <p:sp>
        <p:nvSpPr>
          <p:cNvPr id="4" name="Shape 2"/>
          <p:cNvSpPr/>
          <p:nvPr/>
        </p:nvSpPr>
        <p:spPr>
          <a:xfrm>
            <a:off x="761695" y="6267298"/>
            <a:ext cx="10668305" cy="9144"/>
          </a:xfrm>
          <a:prstGeom prst="rect">
            <a:avLst/>
          </a:prstGeom>
          <a:solidFill>
            <a:srgbClr val="FFFFFF">
              <a:alpha val="10000"/>
            </a:srgbClr>
          </a:solidFill>
          <a:ln/>
        </p:spPr>
        <p:txBody>
          <a:bodyPr/>
          <a:lstStyle/>
          <a:p>
            <a:endParaRPr lang="ja-JP" altLang="en-US"/>
          </a:p>
        </p:txBody>
      </p:sp>
      <p:sp>
        <p:nvSpPr>
          <p:cNvPr id="5" name="Text 3"/>
          <p:cNvSpPr txBox="1"/>
          <p:nvPr/>
        </p:nvSpPr>
        <p:spPr>
          <a:xfrm>
            <a:off x="952805" y="381305"/>
            <a:ext cx="1666951" cy="181051"/>
          </a:xfrm>
          <a:prstGeom prst="rect">
            <a:avLst/>
          </a:prstGeom>
          <a:noFill/>
          <a:ln/>
        </p:spPr>
        <p:txBody>
          <a:bodyPr wrap="square" lIns="0" tIns="0" rIns="0" bIns="0" rtlCol="0" anchor="ctr"/>
          <a:lstStyle/>
          <a:p>
            <a:pPr marL="0" indent="0" algn="l">
              <a:buNone/>
            </a:pPr>
            <a:r>
              <a:rPr lang="en-US" sz="1200" b="1" dirty="0">
                <a:solidFill>
                  <a:srgbClr val="3498DB"/>
                </a:solidFill>
                <a:latin typeface="Roboto" pitchFamily="34" charset="0"/>
                <a:ea typeface="Roboto" pitchFamily="34" charset="-122"/>
                <a:cs typeface="Roboto" pitchFamily="34" charset="-120"/>
              </a:rPr>
              <a:t>SERVICE OVERVIEW</a:t>
            </a:r>
            <a:endParaRPr lang="en-US" sz="1200" dirty="0"/>
          </a:p>
        </p:txBody>
      </p:sp>
      <p:sp>
        <p:nvSpPr>
          <p:cNvPr id="6" name="Text 4"/>
          <p:cNvSpPr txBox="1"/>
          <p:nvPr/>
        </p:nvSpPr>
        <p:spPr>
          <a:xfrm>
            <a:off x="952805" y="1016813"/>
            <a:ext cx="1424635" cy="305410"/>
          </a:xfrm>
          <a:prstGeom prst="rect">
            <a:avLst/>
          </a:prstGeom>
          <a:noFill/>
          <a:ln/>
        </p:spPr>
        <p:txBody>
          <a:bodyPr wrap="square" lIns="0" tIns="0" rIns="0" bIns="0" rtlCol="0" anchor="ctr"/>
          <a:lstStyle/>
          <a:p>
            <a:pPr marL="0" indent="0" algn="l">
              <a:buNone/>
            </a:pPr>
            <a:r>
              <a:rPr lang="en-US" sz="1600" dirty="0">
                <a:solidFill>
                  <a:srgbClr val="E74C3C"/>
                </a:solidFill>
                <a:latin typeface="Noto Sans JP" pitchFamily="34" charset="0"/>
                <a:ea typeface="Noto Sans JP" pitchFamily="34" charset="-122"/>
                <a:cs typeface="Noto Sans JP" pitchFamily="34" charset="-120"/>
              </a:rPr>
              <a:t>サービス概要</a:t>
            </a:r>
            <a:endParaRPr lang="en-US" sz="1600" dirty="0"/>
          </a:p>
        </p:txBody>
      </p:sp>
      <p:sp>
        <p:nvSpPr>
          <p:cNvPr id="7" name="Text 5"/>
          <p:cNvSpPr txBox="1"/>
          <p:nvPr/>
        </p:nvSpPr>
        <p:spPr>
          <a:xfrm>
            <a:off x="952805" y="571500"/>
            <a:ext cx="3586277" cy="419710"/>
          </a:xfrm>
          <a:prstGeom prst="rect">
            <a:avLst/>
          </a:prstGeom>
          <a:noFill/>
          <a:ln/>
        </p:spPr>
        <p:txBody>
          <a:bodyPr wrap="square" lIns="0" tIns="0" rIns="0" bIns="0" rtlCol="0" anchor="ctr"/>
          <a:lstStyle/>
          <a:p>
            <a:pPr marL="0" indent="0" algn="l">
              <a:buNone/>
            </a:pPr>
            <a:r>
              <a:rPr lang="en-US" sz="2800" b="1" dirty="0">
                <a:solidFill>
                  <a:srgbClr val="FFFFFF"/>
                </a:solidFill>
                <a:latin typeface="Roboto" pitchFamily="34" charset="0"/>
                <a:ea typeface="Roboto" pitchFamily="34" charset="-122"/>
                <a:cs typeface="Roboto" pitchFamily="34" charset="-120"/>
              </a:rPr>
              <a:t>What This Service Is</a:t>
            </a:r>
            <a:endParaRPr lang="en-US" sz="2800" dirty="0"/>
          </a:p>
        </p:txBody>
      </p:sp>
      <p:sp>
        <p:nvSpPr>
          <p:cNvPr id="8" name="Shape 6"/>
          <p:cNvSpPr/>
          <p:nvPr/>
        </p:nvSpPr>
        <p:spPr>
          <a:xfrm>
            <a:off x="761695" y="1512418"/>
            <a:ext cx="523951" cy="523951"/>
          </a:xfrm>
          <a:prstGeom prst="ellipse">
            <a:avLst/>
          </a:prstGeom>
          <a:solidFill>
            <a:srgbClr val="E74C3C">
              <a:alpha val="15000"/>
            </a:srgbClr>
          </a:solidFill>
          <a:ln/>
        </p:spPr>
        <p:txBody>
          <a:bodyPr/>
          <a:lstStyle/>
          <a:p>
            <a:endParaRPr lang="ja-JP" altLang="en-US"/>
          </a:p>
        </p:txBody>
      </p:sp>
      <p:pic>
        <p:nvPicPr>
          <p:cNvPr id="9" name="Image 0" descr="preencoded.png"/>
          <p:cNvPicPr>
            <a:picLocks noChangeAspect="1"/>
          </p:cNvPicPr>
          <p:nvPr/>
        </p:nvPicPr>
        <p:blipFill>
          <a:blip r:embed="rId3"/>
          <a:srcRect l="-606" r="-606"/>
          <a:stretch/>
        </p:blipFill>
        <p:spPr>
          <a:xfrm>
            <a:off x="914400" y="1650492"/>
            <a:ext cx="219456" cy="247802"/>
          </a:xfrm>
          <a:prstGeom prst="rect">
            <a:avLst/>
          </a:prstGeom>
        </p:spPr>
      </p:pic>
      <p:sp>
        <p:nvSpPr>
          <p:cNvPr id="10" name="Shape 7"/>
          <p:cNvSpPr/>
          <p:nvPr/>
        </p:nvSpPr>
        <p:spPr>
          <a:xfrm>
            <a:off x="761695" y="2307031"/>
            <a:ext cx="523951" cy="523951"/>
          </a:xfrm>
          <a:prstGeom prst="ellipse">
            <a:avLst/>
          </a:prstGeom>
          <a:solidFill>
            <a:srgbClr val="3498DB">
              <a:alpha val="15000"/>
            </a:srgbClr>
          </a:solidFill>
          <a:ln/>
        </p:spPr>
        <p:txBody>
          <a:bodyPr/>
          <a:lstStyle/>
          <a:p>
            <a:endParaRPr lang="ja-JP" altLang="en-US"/>
          </a:p>
        </p:txBody>
      </p:sp>
      <p:sp>
        <p:nvSpPr>
          <p:cNvPr id="11" name="Shape 8"/>
          <p:cNvSpPr/>
          <p:nvPr/>
        </p:nvSpPr>
        <p:spPr>
          <a:xfrm>
            <a:off x="9670694" y="6476695"/>
            <a:ext cx="286207" cy="38405"/>
          </a:xfrm>
          <a:prstGeom prst="rect">
            <a:avLst/>
          </a:prstGeom>
          <a:solidFill>
            <a:srgbClr val="E74C3C"/>
          </a:solidFill>
          <a:ln/>
        </p:spPr>
        <p:txBody>
          <a:bodyPr/>
          <a:lstStyle/>
          <a:p>
            <a:endParaRPr lang="ja-JP" altLang="en-US"/>
          </a:p>
        </p:txBody>
      </p:sp>
      <p:sp>
        <p:nvSpPr>
          <p:cNvPr id="12" name="Shape 9"/>
          <p:cNvSpPr/>
          <p:nvPr/>
        </p:nvSpPr>
        <p:spPr>
          <a:xfrm>
            <a:off x="10032797" y="6476695"/>
            <a:ext cx="286207" cy="38405"/>
          </a:xfrm>
          <a:prstGeom prst="rect">
            <a:avLst/>
          </a:prstGeom>
          <a:solidFill>
            <a:srgbClr val="3498DB"/>
          </a:solidFill>
          <a:ln/>
        </p:spPr>
        <p:txBody>
          <a:bodyPr/>
          <a:lstStyle/>
          <a:p>
            <a:endParaRPr lang="ja-JP" altLang="en-US"/>
          </a:p>
        </p:txBody>
      </p:sp>
      <p:sp>
        <p:nvSpPr>
          <p:cNvPr id="13" name="Text 10"/>
          <p:cNvSpPr txBox="1"/>
          <p:nvPr/>
        </p:nvSpPr>
        <p:spPr>
          <a:xfrm>
            <a:off x="1524305" y="1559966"/>
            <a:ext cx="4751222"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0.5〜2秒の超低遅延でレーシングカー映像を世界へ</a:t>
            </a:r>
            <a:endParaRPr lang="en-US" sz="1500" dirty="0"/>
          </a:p>
        </p:txBody>
      </p:sp>
      <p:sp>
        <p:nvSpPr>
          <p:cNvPr id="14" name="Text 11"/>
          <p:cNvSpPr txBox="1"/>
          <p:nvPr/>
        </p:nvSpPr>
        <p:spPr>
          <a:xfrm>
            <a:off x="1524305" y="1865376"/>
            <a:ext cx="7573061"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レーシングカーの車載カメラ映像を世界中へリアルタイム配信するプラットフォーム。速さと臨場感を両立。</a:t>
            </a:r>
            <a:endParaRPr lang="en-US" sz="1200" dirty="0"/>
          </a:p>
        </p:txBody>
      </p:sp>
      <p:pic>
        <p:nvPicPr>
          <p:cNvPr id="15" name="Image 1" descr="preencoded.png"/>
          <p:cNvPicPr>
            <a:picLocks noChangeAspect="1"/>
          </p:cNvPicPr>
          <p:nvPr/>
        </p:nvPicPr>
        <p:blipFill>
          <a:blip r:embed="rId4"/>
          <a:srcRect/>
          <a:stretch/>
        </p:blipFill>
        <p:spPr>
          <a:xfrm>
            <a:off x="899770" y="2445106"/>
            <a:ext cx="247802" cy="247802"/>
          </a:xfrm>
          <a:prstGeom prst="rect">
            <a:avLst/>
          </a:prstGeom>
        </p:spPr>
      </p:pic>
      <p:sp>
        <p:nvSpPr>
          <p:cNvPr id="16" name="Shape 12"/>
          <p:cNvSpPr/>
          <p:nvPr/>
        </p:nvSpPr>
        <p:spPr>
          <a:xfrm>
            <a:off x="761695" y="3101645"/>
            <a:ext cx="523951" cy="523951"/>
          </a:xfrm>
          <a:prstGeom prst="ellipse">
            <a:avLst/>
          </a:prstGeom>
          <a:solidFill>
            <a:srgbClr val="E74C3C">
              <a:alpha val="15000"/>
            </a:srgbClr>
          </a:solidFill>
          <a:ln/>
        </p:spPr>
        <p:txBody>
          <a:bodyPr/>
          <a:lstStyle/>
          <a:p>
            <a:endParaRPr lang="ja-JP" altLang="en-US"/>
          </a:p>
        </p:txBody>
      </p:sp>
      <p:sp>
        <p:nvSpPr>
          <p:cNvPr id="17" name="Text 13"/>
          <p:cNvSpPr txBox="1"/>
          <p:nvPr/>
        </p:nvSpPr>
        <p:spPr>
          <a:xfrm>
            <a:off x="1524305" y="2354580"/>
            <a:ext cx="4550969"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通常のストリーミングでは不可能なレベルを実現</a:t>
            </a:r>
            <a:endParaRPr lang="en-US" sz="1500" dirty="0"/>
          </a:p>
        </p:txBody>
      </p:sp>
      <p:sp>
        <p:nvSpPr>
          <p:cNvPr id="18" name="Text 14"/>
          <p:cNvSpPr txBox="1"/>
          <p:nvPr/>
        </p:nvSpPr>
        <p:spPr>
          <a:xfrm>
            <a:off x="1524305" y="2659075"/>
            <a:ext cx="8830361"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一般的な配信（20〜40秒遅延）では不可能な、運営判断・安全管理・ライブ演出・遠隔モニタリングに使えるリアルタイム性。</a:t>
            </a:r>
            <a:endParaRPr lang="en-US" sz="1200" dirty="0"/>
          </a:p>
        </p:txBody>
      </p:sp>
      <p:pic>
        <p:nvPicPr>
          <p:cNvPr id="19" name="Image 2" descr="preencoded.png"/>
          <p:cNvPicPr>
            <a:picLocks noChangeAspect="1"/>
          </p:cNvPicPr>
          <p:nvPr/>
        </p:nvPicPr>
        <p:blipFill>
          <a:blip r:embed="rId5"/>
          <a:srcRect/>
          <a:stretch/>
        </p:blipFill>
        <p:spPr>
          <a:xfrm>
            <a:off x="899770" y="3239719"/>
            <a:ext cx="247802" cy="247802"/>
          </a:xfrm>
          <a:prstGeom prst="rect">
            <a:avLst/>
          </a:prstGeom>
        </p:spPr>
      </p:pic>
      <p:sp>
        <p:nvSpPr>
          <p:cNvPr id="20" name="Text 15"/>
          <p:cNvSpPr txBox="1"/>
          <p:nvPr/>
        </p:nvSpPr>
        <p:spPr>
          <a:xfrm>
            <a:off x="1524305" y="3149194"/>
            <a:ext cx="2950769"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国境を越えたシームレスな連携</a:t>
            </a:r>
            <a:endParaRPr lang="en-US" sz="1500" dirty="0"/>
          </a:p>
        </p:txBody>
      </p:sp>
      <p:sp>
        <p:nvSpPr>
          <p:cNvPr id="21" name="Text 16"/>
          <p:cNvSpPr txBox="1"/>
          <p:nvPr/>
        </p:nvSpPr>
        <p:spPr>
          <a:xfrm>
            <a:off x="1524305" y="3453689"/>
            <a:ext cx="7258507"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海外レース → 日本オフィス → 各国の運営チームを同時接続可能。国際レース運営の効率を劇的に改善。</a:t>
            </a:r>
            <a:endParaRPr lang="en-US" sz="1200" dirty="0"/>
          </a:p>
        </p:txBody>
      </p:sp>
      <p:sp>
        <p:nvSpPr>
          <p:cNvPr id="22" name="Text 17"/>
          <p:cNvSpPr txBox="1"/>
          <p:nvPr/>
        </p:nvSpPr>
        <p:spPr>
          <a:xfrm>
            <a:off x="10394899" y="6420002"/>
            <a:ext cx="1138428" cy="152705"/>
          </a:xfrm>
          <a:prstGeom prst="rect">
            <a:avLst/>
          </a:prstGeom>
          <a:noFill/>
          <a:ln/>
        </p:spPr>
        <p:txBody>
          <a:bodyPr wrap="square" lIns="0" tIns="0" rIns="0" bIns="0" rtlCol="0" anchor="ctr"/>
          <a:lstStyle/>
          <a:p>
            <a:pPr marL="0" indent="0" algn="l">
              <a:buNone/>
            </a:pPr>
            <a:r>
              <a:rPr lang="en-US" sz="1000" dirty="0">
                <a:solidFill>
                  <a:srgbClr val="888888"/>
                </a:solidFill>
                <a:latin typeface="Roboto" pitchFamily="34" charset="0"/>
                <a:ea typeface="Roboto" pitchFamily="34" charset="-122"/>
                <a:cs typeface="Roboto" pitchFamily="34" charset="-120"/>
              </a:rPr>
              <a:t>iZCast | UNSOLID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C3E50"/>
          </a:solidFill>
          <a:ln/>
        </p:spPr>
        <p:txBody>
          <a:bodyPr/>
          <a:lstStyle/>
          <a:p>
            <a:endParaRPr lang="ja-JP" altLang="en-US"/>
          </a:p>
        </p:txBody>
      </p:sp>
      <p:sp>
        <p:nvSpPr>
          <p:cNvPr id="3" name="Shape 1"/>
          <p:cNvSpPr/>
          <p:nvPr/>
        </p:nvSpPr>
        <p:spPr>
          <a:xfrm>
            <a:off x="761695" y="381305"/>
            <a:ext cx="47549" cy="923544"/>
          </a:xfrm>
          <a:prstGeom prst="rect">
            <a:avLst/>
          </a:prstGeom>
          <a:solidFill>
            <a:srgbClr val="E74C3C"/>
          </a:solidFill>
          <a:ln/>
        </p:spPr>
        <p:txBody>
          <a:bodyPr/>
          <a:lstStyle/>
          <a:p>
            <a:endParaRPr lang="ja-JP" altLang="en-US"/>
          </a:p>
        </p:txBody>
      </p:sp>
      <p:sp>
        <p:nvSpPr>
          <p:cNvPr id="4" name="Text 2"/>
          <p:cNvSpPr txBox="1"/>
          <p:nvPr/>
        </p:nvSpPr>
        <p:spPr>
          <a:xfrm>
            <a:off x="952805" y="381305"/>
            <a:ext cx="1819656" cy="181051"/>
          </a:xfrm>
          <a:prstGeom prst="rect">
            <a:avLst/>
          </a:prstGeom>
          <a:noFill/>
          <a:ln/>
        </p:spPr>
        <p:txBody>
          <a:bodyPr wrap="square" lIns="0" tIns="0" rIns="0" bIns="0" rtlCol="0" anchor="ctr"/>
          <a:lstStyle/>
          <a:p>
            <a:pPr marL="0" indent="0" algn="l">
              <a:buNone/>
            </a:pPr>
            <a:r>
              <a:rPr lang="en-US" sz="1200" b="1" dirty="0">
                <a:solidFill>
                  <a:srgbClr val="3498DB"/>
                </a:solidFill>
                <a:latin typeface="Roboto" pitchFamily="34" charset="0"/>
                <a:ea typeface="Roboto" pitchFamily="34" charset="-122"/>
                <a:cs typeface="Roboto" pitchFamily="34" charset="-120"/>
              </a:rPr>
              <a:t>PROBLEMS WE SOLVE</a:t>
            </a:r>
            <a:endParaRPr lang="en-US" sz="1200" dirty="0"/>
          </a:p>
        </p:txBody>
      </p:sp>
      <p:sp>
        <p:nvSpPr>
          <p:cNvPr id="5" name="Text 3"/>
          <p:cNvSpPr txBox="1"/>
          <p:nvPr/>
        </p:nvSpPr>
        <p:spPr>
          <a:xfrm>
            <a:off x="952805" y="996696"/>
            <a:ext cx="1004926" cy="305410"/>
          </a:xfrm>
          <a:prstGeom prst="rect">
            <a:avLst/>
          </a:prstGeom>
          <a:noFill/>
          <a:ln/>
        </p:spPr>
        <p:txBody>
          <a:bodyPr wrap="square" lIns="0" tIns="0" rIns="0" bIns="0" rtlCol="0" anchor="ctr"/>
          <a:lstStyle/>
          <a:p>
            <a:pPr marL="0" indent="0" algn="l">
              <a:buNone/>
            </a:pPr>
            <a:r>
              <a:rPr lang="en-US" sz="1600" dirty="0">
                <a:solidFill>
                  <a:srgbClr val="E74C3C"/>
                </a:solidFill>
                <a:latin typeface="Noto Sans JP" pitchFamily="34" charset="0"/>
                <a:ea typeface="Noto Sans JP" pitchFamily="34" charset="-122"/>
                <a:cs typeface="Noto Sans JP" pitchFamily="34" charset="-120"/>
              </a:rPr>
              <a:t>課題解決</a:t>
            </a:r>
            <a:endParaRPr lang="en-US" sz="1600" dirty="0"/>
          </a:p>
        </p:txBody>
      </p:sp>
      <p:sp>
        <p:nvSpPr>
          <p:cNvPr id="6" name="Text 4"/>
          <p:cNvSpPr txBox="1"/>
          <p:nvPr/>
        </p:nvSpPr>
        <p:spPr>
          <a:xfrm>
            <a:off x="952805" y="571500"/>
            <a:ext cx="4144061" cy="400507"/>
          </a:xfrm>
          <a:prstGeom prst="rect">
            <a:avLst/>
          </a:prstGeom>
          <a:noFill/>
          <a:ln/>
        </p:spPr>
        <p:txBody>
          <a:bodyPr wrap="square" lIns="0" tIns="0" rIns="0" bIns="0" rtlCol="0" anchor="ctr"/>
          <a:lstStyle/>
          <a:p>
            <a:pPr marL="0" indent="0" algn="l">
              <a:buNone/>
            </a:pPr>
            <a:r>
              <a:rPr lang="en-US" sz="2700" b="1" dirty="0">
                <a:solidFill>
                  <a:srgbClr val="FFFFFF"/>
                </a:solidFill>
                <a:latin typeface="Roboto" pitchFamily="34" charset="0"/>
                <a:ea typeface="Roboto" pitchFamily="34" charset="-122"/>
                <a:cs typeface="Roboto" pitchFamily="34" charset="-120"/>
              </a:rPr>
              <a:t>Key Challenges in Racing</a:t>
            </a:r>
            <a:endParaRPr lang="en-US" sz="2700" dirty="0"/>
          </a:p>
        </p:txBody>
      </p:sp>
      <p:sp>
        <p:nvSpPr>
          <p:cNvPr id="7" name="Shape 5"/>
          <p:cNvSpPr/>
          <p:nvPr/>
        </p:nvSpPr>
        <p:spPr>
          <a:xfrm>
            <a:off x="761695" y="1538935"/>
            <a:ext cx="495605" cy="495605"/>
          </a:xfrm>
          <a:prstGeom prst="ellipse">
            <a:avLst/>
          </a:prstGeom>
          <a:solidFill>
            <a:srgbClr val="E74C3C">
              <a:alpha val="15000"/>
            </a:srgbClr>
          </a:solidFill>
          <a:ln/>
        </p:spPr>
        <p:txBody>
          <a:bodyPr/>
          <a:lstStyle/>
          <a:p>
            <a:endParaRPr lang="ja-JP" altLang="en-US"/>
          </a:p>
        </p:txBody>
      </p:sp>
      <p:pic>
        <p:nvPicPr>
          <p:cNvPr id="8" name="Image 0" descr="preencoded.png"/>
          <p:cNvPicPr>
            <a:picLocks noChangeAspect="1"/>
          </p:cNvPicPr>
          <p:nvPr/>
        </p:nvPicPr>
        <p:blipFill>
          <a:blip r:embed="rId3"/>
          <a:srcRect/>
          <a:stretch/>
        </p:blipFill>
        <p:spPr>
          <a:xfrm>
            <a:off x="895198" y="1672438"/>
            <a:ext cx="228600" cy="228600"/>
          </a:xfrm>
          <a:prstGeom prst="rect">
            <a:avLst/>
          </a:prstGeom>
        </p:spPr>
      </p:pic>
      <p:sp>
        <p:nvSpPr>
          <p:cNvPr id="9" name="Shape 6"/>
          <p:cNvSpPr/>
          <p:nvPr/>
        </p:nvSpPr>
        <p:spPr>
          <a:xfrm>
            <a:off x="761695" y="2266798"/>
            <a:ext cx="495605" cy="495605"/>
          </a:xfrm>
          <a:prstGeom prst="ellipse">
            <a:avLst/>
          </a:prstGeom>
          <a:solidFill>
            <a:srgbClr val="3498DB">
              <a:alpha val="15000"/>
            </a:srgbClr>
          </a:solidFill>
          <a:ln/>
        </p:spPr>
        <p:txBody>
          <a:bodyPr/>
          <a:lstStyle/>
          <a:p>
            <a:endParaRPr lang="ja-JP" altLang="en-US"/>
          </a:p>
        </p:txBody>
      </p:sp>
      <p:sp>
        <p:nvSpPr>
          <p:cNvPr id="10" name="Shape 7"/>
          <p:cNvSpPr/>
          <p:nvPr/>
        </p:nvSpPr>
        <p:spPr>
          <a:xfrm>
            <a:off x="761695" y="3722522"/>
            <a:ext cx="495605" cy="495605"/>
          </a:xfrm>
          <a:prstGeom prst="ellipse">
            <a:avLst/>
          </a:prstGeom>
          <a:solidFill>
            <a:srgbClr val="3498DB">
              <a:alpha val="15000"/>
            </a:srgbClr>
          </a:solidFill>
          <a:ln/>
        </p:spPr>
        <p:txBody>
          <a:bodyPr/>
          <a:lstStyle/>
          <a:p>
            <a:endParaRPr lang="ja-JP" altLang="en-US"/>
          </a:p>
        </p:txBody>
      </p:sp>
      <p:sp>
        <p:nvSpPr>
          <p:cNvPr id="11" name="Text 8"/>
          <p:cNvSpPr txBox="1"/>
          <p:nvPr/>
        </p:nvSpPr>
        <p:spPr>
          <a:xfrm>
            <a:off x="1447495" y="1577340"/>
            <a:ext cx="3372307"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レース運営の「映像確認が遅い」問題</a:t>
            </a:r>
            <a:endParaRPr lang="en-US" sz="1500" dirty="0"/>
          </a:p>
        </p:txBody>
      </p:sp>
      <p:sp>
        <p:nvSpPr>
          <p:cNvPr id="12" name="Text 9"/>
          <p:cNvSpPr txBox="1"/>
          <p:nvPr/>
        </p:nvSpPr>
        <p:spPr>
          <a:xfrm>
            <a:off x="1447495" y="1872691"/>
            <a:ext cx="6963156"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安全確認や判断に必要な映像が大幅に遅延。迅速な対応が困難となり、重要な判断が遅れることも。</a:t>
            </a:r>
            <a:endParaRPr lang="en-US" sz="1200" dirty="0"/>
          </a:p>
        </p:txBody>
      </p:sp>
      <p:pic>
        <p:nvPicPr>
          <p:cNvPr id="13" name="Image 1" descr="preencoded.png"/>
          <p:cNvPicPr>
            <a:picLocks noChangeAspect="1"/>
          </p:cNvPicPr>
          <p:nvPr/>
        </p:nvPicPr>
        <p:blipFill>
          <a:blip r:embed="rId4"/>
          <a:srcRect/>
          <a:stretch/>
        </p:blipFill>
        <p:spPr>
          <a:xfrm>
            <a:off x="895198" y="2400300"/>
            <a:ext cx="228600" cy="228600"/>
          </a:xfrm>
          <a:prstGeom prst="rect">
            <a:avLst/>
          </a:prstGeom>
        </p:spPr>
      </p:pic>
      <p:sp>
        <p:nvSpPr>
          <p:cNvPr id="14" name="Shape 10"/>
          <p:cNvSpPr/>
          <p:nvPr/>
        </p:nvSpPr>
        <p:spPr>
          <a:xfrm>
            <a:off x="761695" y="4735678"/>
            <a:ext cx="10668305" cy="819302"/>
          </a:xfrm>
          <a:prstGeom prst="rect">
            <a:avLst/>
          </a:prstGeom>
          <a:solidFill>
            <a:srgbClr val="3498DB">
              <a:alpha val="8000"/>
            </a:srgbClr>
          </a:solidFill>
          <a:ln/>
        </p:spPr>
        <p:txBody>
          <a:bodyPr/>
          <a:lstStyle/>
          <a:p>
            <a:endParaRPr lang="ja-JP" altLang="en-US"/>
          </a:p>
        </p:txBody>
      </p:sp>
      <p:sp>
        <p:nvSpPr>
          <p:cNvPr id="15" name="Shape 11"/>
          <p:cNvSpPr/>
          <p:nvPr/>
        </p:nvSpPr>
        <p:spPr>
          <a:xfrm>
            <a:off x="761695" y="4735678"/>
            <a:ext cx="38405" cy="819302"/>
          </a:xfrm>
          <a:prstGeom prst="rect">
            <a:avLst/>
          </a:prstGeom>
          <a:solidFill>
            <a:srgbClr val="3498DB"/>
          </a:solidFill>
          <a:ln/>
        </p:spPr>
        <p:txBody>
          <a:bodyPr/>
          <a:lstStyle/>
          <a:p>
            <a:endParaRPr lang="ja-JP" altLang="en-US"/>
          </a:p>
        </p:txBody>
      </p:sp>
      <p:sp>
        <p:nvSpPr>
          <p:cNvPr id="16" name="Shape 12"/>
          <p:cNvSpPr/>
          <p:nvPr/>
        </p:nvSpPr>
        <p:spPr>
          <a:xfrm>
            <a:off x="761695" y="6267298"/>
            <a:ext cx="10668305" cy="9144"/>
          </a:xfrm>
          <a:prstGeom prst="rect">
            <a:avLst/>
          </a:prstGeom>
          <a:solidFill>
            <a:srgbClr val="FFFFFF">
              <a:alpha val="10000"/>
            </a:srgbClr>
          </a:solidFill>
          <a:ln/>
        </p:spPr>
        <p:txBody>
          <a:bodyPr/>
          <a:lstStyle/>
          <a:p>
            <a:endParaRPr lang="ja-JP" altLang="en-US"/>
          </a:p>
        </p:txBody>
      </p:sp>
      <p:sp>
        <p:nvSpPr>
          <p:cNvPr id="17" name="Text 13"/>
          <p:cNvSpPr txBox="1"/>
          <p:nvPr/>
        </p:nvSpPr>
        <p:spPr>
          <a:xfrm>
            <a:off x="942746" y="4916729"/>
            <a:ext cx="1843430" cy="200254"/>
          </a:xfrm>
          <a:prstGeom prst="rect">
            <a:avLst/>
          </a:prstGeom>
          <a:noFill/>
          <a:ln/>
        </p:spPr>
        <p:txBody>
          <a:bodyPr wrap="square" lIns="0" tIns="0" rIns="0" bIns="0" rtlCol="0" anchor="ctr"/>
          <a:lstStyle/>
          <a:p>
            <a:pPr marL="0" indent="0" algn="l">
              <a:buNone/>
            </a:pPr>
            <a:r>
              <a:rPr lang="en-US" sz="1300" b="1" dirty="0">
                <a:solidFill>
                  <a:srgbClr val="FFFFFF"/>
                </a:solidFill>
                <a:latin typeface="Roboto" pitchFamily="34" charset="0"/>
                <a:ea typeface="Roboto" pitchFamily="34" charset="-122"/>
                <a:cs typeface="Roboto" pitchFamily="34" charset="-120"/>
              </a:rPr>
              <a:t>本サービスによる解決</a:t>
            </a:r>
            <a:endParaRPr lang="en-US" sz="1300" dirty="0"/>
          </a:p>
        </p:txBody>
      </p:sp>
      <p:sp>
        <p:nvSpPr>
          <p:cNvPr id="18" name="Shape 14"/>
          <p:cNvSpPr/>
          <p:nvPr/>
        </p:nvSpPr>
        <p:spPr>
          <a:xfrm>
            <a:off x="761695" y="2994660"/>
            <a:ext cx="495605" cy="495605"/>
          </a:xfrm>
          <a:prstGeom prst="ellipse">
            <a:avLst/>
          </a:prstGeom>
          <a:solidFill>
            <a:srgbClr val="E74C3C">
              <a:alpha val="15000"/>
            </a:srgbClr>
          </a:solidFill>
          <a:ln/>
        </p:spPr>
        <p:txBody>
          <a:bodyPr/>
          <a:lstStyle/>
          <a:p>
            <a:endParaRPr lang="ja-JP" altLang="en-US"/>
          </a:p>
        </p:txBody>
      </p:sp>
      <p:sp>
        <p:nvSpPr>
          <p:cNvPr id="19" name="Shape 15"/>
          <p:cNvSpPr/>
          <p:nvPr/>
        </p:nvSpPr>
        <p:spPr>
          <a:xfrm>
            <a:off x="9670694" y="6476695"/>
            <a:ext cx="286207" cy="38405"/>
          </a:xfrm>
          <a:prstGeom prst="rect">
            <a:avLst/>
          </a:prstGeom>
          <a:solidFill>
            <a:srgbClr val="E74C3C"/>
          </a:solidFill>
          <a:ln/>
        </p:spPr>
        <p:txBody>
          <a:bodyPr/>
          <a:lstStyle/>
          <a:p>
            <a:endParaRPr lang="ja-JP" altLang="en-US"/>
          </a:p>
        </p:txBody>
      </p:sp>
      <p:sp>
        <p:nvSpPr>
          <p:cNvPr id="20" name="Shape 16"/>
          <p:cNvSpPr/>
          <p:nvPr/>
        </p:nvSpPr>
        <p:spPr>
          <a:xfrm>
            <a:off x="10032797" y="6476695"/>
            <a:ext cx="286207" cy="38405"/>
          </a:xfrm>
          <a:prstGeom prst="rect">
            <a:avLst/>
          </a:prstGeom>
          <a:solidFill>
            <a:srgbClr val="3498DB"/>
          </a:solidFill>
          <a:ln/>
        </p:spPr>
        <p:txBody>
          <a:bodyPr/>
          <a:lstStyle/>
          <a:p>
            <a:endParaRPr lang="ja-JP" altLang="en-US"/>
          </a:p>
        </p:txBody>
      </p:sp>
      <p:sp>
        <p:nvSpPr>
          <p:cNvPr id="21" name="Text 17"/>
          <p:cNvSpPr txBox="1"/>
          <p:nvPr/>
        </p:nvSpPr>
        <p:spPr>
          <a:xfrm>
            <a:off x="1447495" y="2305202"/>
            <a:ext cx="4515307"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海外レースの「本部とのリアルタイム共有が困難」</a:t>
            </a:r>
            <a:endParaRPr lang="en-US" sz="1500" dirty="0"/>
          </a:p>
        </p:txBody>
      </p:sp>
      <p:sp>
        <p:nvSpPr>
          <p:cNvPr id="22" name="Text 18"/>
          <p:cNvSpPr txBox="1"/>
          <p:nvPr/>
        </p:nvSpPr>
        <p:spPr>
          <a:xfrm>
            <a:off x="1447495" y="2600554"/>
            <a:ext cx="7582205"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国際レース開催時、本国の運営本部と現地の状況共有が遅延。一体感のある運営が難しく、指示伝達に遅れ。</a:t>
            </a:r>
            <a:endParaRPr lang="en-US" sz="1200" dirty="0"/>
          </a:p>
        </p:txBody>
      </p:sp>
      <p:pic>
        <p:nvPicPr>
          <p:cNvPr id="23" name="Image 2" descr="preencoded.png"/>
          <p:cNvPicPr>
            <a:picLocks noChangeAspect="1"/>
          </p:cNvPicPr>
          <p:nvPr/>
        </p:nvPicPr>
        <p:blipFill>
          <a:blip r:embed="rId5"/>
          <a:srcRect/>
          <a:stretch/>
        </p:blipFill>
        <p:spPr>
          <a:xfrm>
            <a:off x="895198" y="3128162"/>
            <a:ext cx="228600" cy="228600"/>
          </a:xfrm>
          <a:prstGeom prst="rect">
            <a:avLst/>
          </a:prstGeom>
        </p:spPr>
      </p:pic>
      <p:sp>
        <p:nvSpPr>
          <p:cNvPr id="24" name="Text 19"/>
          <p:cNvSpPr txBox="1"/>
          <p:nvPr/>
        </p:nvSpPr>
        <p:spPr>
          <a:xfrm>
            <a:off x="1447495" y="3033065"/>
            <a:ext cx="4515307"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チームの「走行分析が現地に行かないとできない」</a:t>
            </a:r>
            <a:endParaRPr lang="en-US" sz="1500" dirty="0"/>
          </a:p>
        </p:txBody>
      </p:sp>
      <p:sp>
        <p:nvSpPr>
          <p:cNvPr id="25" name="Text 20"/>
          <p:cNvSpPr txBox="1"/>
          <p:nvPr/>
        </p:nvSpPr>
        <p:spPr>
          <a:xfrm>
            <a:off x="1447495" y="3328416"/>
            <a:ext cx="6372454"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走行データと映像の同時分析には現地参加が必須。遠隔での詳細な技術サポートが困難に。</a:t>
            </a:r>
            <a:endParaRPr lang="en-US" sz="1200" dirty="0"/>
          </a:p>
        </p:txBody>
      </p:sp>
      <p:pic>
        <p:nvPicPr>
          <p:cNvPr id="26" name="Image 3" descr="preencoded.png"/>
          <p:cNvPicPr>
            <a:picLocks noChangeAspect="1"/>
          </p:cNvPicPr>
          <p:nvPr/>
        </p:nvPicPr>
        <p:blipFill>
          <a:blip r:embed="rId6"/>
          <a:srcRect t="-44" b="-44"/>
          <a:stretch/>
        </p:blipFill>
        <p:spPr>
          <a:xfrm>
            <a:off x="881482" y="3856025"/>
            <a:ext cx="256946" cy="228600"/>
          </a:xfrm>
          <a:prstGeom prst="rect">
            <a:avLst/>
          </a:prstGeom>
        </p:spPr>
      </p:pic>
      <p:sp>
        <p:nvSpPr>
          <p:cNvPr id="27" name="Text 21"/>
          <p:cNvSpPr txBox="1"/>
          <p:nvPr/>
        </p:nvSpPr>
        <p:spPr>
          <a:xfrm>
            <a:off x="942746" y="5202936"/>
            <a:ext cx="8782812"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現地と本部が完全にリアルタイム同期し、戦略判断・安全確認・中継演出が大幅に向上。国境を越えた一体運営を実現します。</a:t>
            </a:r>
            <a:endParaRPr lang="en-US" sz="1200" dirty="0"/>
          </a:p>
        </p:txBody>
      </p:sp>
      <p:sp>
        <p:nvSpPr>
          <p:cNvPr id="28" name="Text 22"/>
          <p:cNvSpPr txBox="1"/>
          <p:nvPr/>
        </p:nvSpPr>
        <p:spPr>
          <a:xfrm>
            <a:off x="1447495" y="3760927"/>
            <a:ext cx="5287061"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映像演出の「迫力ある車載映像がリアルタイムで使えない」</a:t>
            </a:r>
            <a:endParaRPr lang="en-US" sz="1500" dirty="0"/>
          </a:p>
        </p:txBody>
      </p:sp>
      <p:sp>
        <p:nvSpPr>
          <p:cNvPr id="29" name="Text 23"/>
          <p:cNvSpPr txBox="1"/>
          <p:nvPr/>
        </p:nvSpPr>
        <p:spPr>
          <a:xfrm>
            <a:off x="1447495" y="4056278"/>
            <a:ext cx="6220663"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従来の配信では遅延が大きく、ライブ放送での臨場感あるオンボード映像活用が限定的。</a:t>
            </a:r>
            <a:endParaRPr lang="en-US" sz="1200" dirty="0"/>
          </a:p>
        </p:txBody>
      </p:sp>
      <p:sp>
        <p:nvSpPr>
          <p:cNvPr id="30" name="Text 24"/>
          <p:cNvSpPr txBox="1"/>
          <p:nvPr/>
        </p:nvSpPr>
        <p:spPr>
          <a:xfrm>
            <a:off x="10394899" y="6420002"/>
            <a:ext cx="1138428" cy="152705"/>
          </a:xfrm>
          <a:prstGeom prst="rect">
            <a:avLst/>
          </a:prstGeom>
          <a:noFill/>
          <a:ln/>
        </p:spPr>
        <p:txBody>
          <a:bodyPr wrap="square" lIns="0" tIns="0" rIns="0" bIns="0" rtlCol="0" anchor="ctr"/>
          <a:lstStyle/>
          <a:p>
            <a:pPr marL="0" indent="0" algn="l">
              <a:buNone/>
            </a:pPr>
            <a:r>
              <a:rPr lang="en-US" sz="1000" dirty="0">
                <a:solidFill>
                  <a:srgbClr val="888888"/>
                </a:solidFill>
                <a:latin typeface="Roboto" pitchFamily="34" charset="0"/>
                <a:ea typeface="Roboto" pitchFamily="34" charset="-122"/>
                <a:cs typeface="Roboto" pitchFamily="34" charset="-120"/>
              </a:rPr>
              <a:t>iZCast | UNSOLID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C3E50"/>
          </a:solidFill>
          <a:ln/>
        </p:spPr>
        <p:txBody>
          <a:bodyPr/>
          <a:lstStyle/>
          <a:p>
            <a:endParaRPr lang="ja-JP" altLang="en-US"/>
          </a:p>
        </p:txBody>
      </p:sp>
      <p:sp>
        <p:nvSpPr>
          <p:cNvPr id="3" name="Shape 1"/>
          <p:cNvSpPr/>
          <p:nvPr/>
        </p:nvSpPr>
        <p:spPr>
          <a:xfrm>
            <a:off x="761695" y="381305"/>
            <a:ext cx="47549" cy="961949"/>
          </a:xfrm>
          <a:prstGeom prst="rect">
            <a:avLst/>
          </a:prstGeom>
          <a:solidFill>
            <a:srgbClr val="E74C3C"/>
          </a:solidFill>
          <a:ln/>
        </p:spPr>
        <p:txBody>
          <a:bodyPr/>
          <a:lstStyle/>
          <a:p>
            <a:endParaRPr lang="ja-JP" altLang="en-US"/>
          </a:p>
        </p:txBody>
      </p:sp>
      <p:sp>
        <p:nvSpPr>
          <p:cNvPr id="4" name="Shape 2"/>
          <p:cNvSpPr/>
          <p:nvPr/>
        </p:nvSpPr>
        <p:spPr>
          <a:xfrm>
            <a:off x="761695" y="6267298"/>
            <a:ext cx="10668305" cy="9144"/>
          </a:xfrm>
          <a:prstGeom prst="rect">
            <a:avLst/>
          </a:prstGeom>
          <a:solidFill>
            <a:srgbClr val="FFFFFF">
              <a:alpha val="10000"/>
            </a:srgbClr>
          </a:solidFill>
          <a:ln/>
        </p:spPr>
        <p:txBody>
          <a:bodyPr/>
          <a:lstStyle/>
          <a:p>
            <a:endParaRPr lang="ja-JP" altLang="en-US"/>
          </a:p>
        </p:txBody>
      </p:sp>
      <p:sp>
        <p:nvSpPr>
          <p:cNvPr id="5" name="Text 3"/>
          <p:cNvSpPr txBox="1"/>
          <p:nvPr/>
        </p:nvSpPr>
        <p:spPr>
          <a:xfrm>
            <a:off x="952805" y="381305"/>
            <a:ext cx="1562710" cy="181051"/>
          </a:xfrm>
          <a:prstGeom prst="rect">
            <a:avLst/>
          </a:prstGeom>
          <a:noFill/>
          <a:ln/>
        </p:spPr>
        <p:txBody>
          <a:bodyPr wrap="square" lIns="0" tIns="0" rIns="0" bIns="0" rtlCol="0" anchor="ctr"/>
          <a:lstStyle/>
          <a:p>
            <a:pPr marL="0" indent="0" algn="l">
              <a:buNone/>
            </a:pPr>
            <a:r>
              <a:rPr lang="en-US" sz="1200" b="1" dirty="0">
                <a:solidFill>
                  <a:srgbClr val="3498DB"/>
                </a:solidFill>
                <a:latin typeface="Roboto" pitchFamily="34" charset="0"/>
                <a:ea typeface="Roboto" pitchFamily="34" charset="-122"/>
                <a:cs typeface="Roboto" pitchFamily="34" charset="-120"/>
              </a:rPr>
              <a:t>KEY CAPABILITIES</a:t>
            </a:r>
            <a:endParaRPr lang="en-US" sz="1200" dirty="0"/>
          </a:p>
        </p:txBody>
      </p:sp>
      <p:sp>
        <p:nvSpPr>
          <p:cNvPr id="6" name="Text 4"/>
          <p:cNvSpPr txBox="1"/>
          <p:nvPr/>
        </p:nvSpPr>
        <p:spPr>
          <a:xfrm>
            <a:off x="952805" y="1036015"/>
            <a:ext cx="1004926" cy="305410"/>
          </a:xfrm>
          <a:prstGeom prst="rect">
            <a:avLst/>
          </a:prstGeom>
          <a:noFill/>
          <a:ln/>
        </p:spPr>
        <p:txBody>
          <a:bodyPr wrap="square" lIns="0" tIns="0" rIns="0" bIns="0" rtlCol="0" anchor="ctr"/>
          <a:lstStyle/>
          <a:p>
            <a:pPr marL="0" indent="0" algn="l">
              <a:buNone/>
            </a:pPr>
            <a:r>
              <a:rPr lang="en-US" sz="1600" dirty="0">
                <a:solidFill>
                  <a:srgbClr val="E74C3C"/>
                </a:solidFill>
                <a:latin typeface="Noto Sans JP" pitchFamily="34" charset="0"/>
                <a:ea typeface="Noto Sans JP" pitchFamily="34" charset="-122"/>
                <a:cs typeface="Noto Sans JP" pitchFamily="34" charset="-120"/>
              </a:rPr>
              <a:t>機能一覧</a:t>
            </a:r>
            <a:endParaRPr lang="en-US" sz="1600" dirty="0"/>
          </a:p>
        </p:txBody>
      </p:sp>
      <p:sp>
        <p:nvSpPr>
          <p:cNvPr id="7" name="Text 5"/>
          <p:cNvSpPr txBox="1"/>
          <p:nvPr/>
        </p:nvSpPr>
        <p:spPr>
          <a:xfrm>
            <a:off x="952805" y="580644"/>
            <a:ext cx="3072384" cy="419710"/>
          </a:xfrm>
          <a:prstGeom prst="rect">
            <a:avLst/>
          </a:prstGeom>
          <a:noFill/>
          <a:ln/>
        </p:spPr>
        <p:txBody>
          <a:bodyPr wrap="square" lIns="0" tIns="0" rIns="0" bIns="0" rtlCol="0" anchor="ctr"/>
          <a:lstStyle/>
          <a:p>
            <a:pPr marL="0" indent="0" algn="l">
              <a:buNone/>
            </a:pPr>
            <a:r>
              <a:rPr lang="en-US" sz="2800" b="1" dirty="0">
                <a:solidFill>
                  <a:srgbClr val="FFFFFF"/>
                </a:solidFill>
                <a:latin typeface="Roboto" pitchFamily="34" charset="0"/>
                <a:ea typeface="Roboto" pitchFamily="34" charset="-122"/>
                <a:cs typeface="Roboto" pitchFamily="34" charset="-120"/>
              </a:rPr>
              <a:t>What You Can Do</a:t>
            </a:r>
            <a:endParaRPr lang="en-US" sz="2800" dirty="0"/>
          </a:p>
        </p:txBody>
      </p:sp>
      <p:sp>
        <p:nvSpPr>
          <p:cNvPr id="8" name="Shape 6"/>
          <p:cNvSpPr/>
          <p:nvPr/>
        </p:nvSpPr>
        <p:spPr>
          <a:xfrm>
            <a:off x="761695" y="1607515"/>
            <a:ext cx="428854" cy="428854"/>
          </a:xfrm>
          <a:prstGeom prst="ellipse">
            <a:avLst/>
          </a:prstGeom>
          <a:solidFill>
            <a:srgbClr val="E74C3C">
              <a:alpha val="15000"/>
            </a:srgbClr>
          </a:solidFill>
          <a:ln/>
        </p:spPr>
        <p:txBody>
          <a:bodyPr/>
          <a:lstStyle/>
          <a:p>
            <a:endParaRPr lang="ja-JP" altLang="en-US"/>
          </a:p>
        </p:txBody>
      </p:sp>
      <p:pic>
        <p:nvPicPr>
          <p:cNvPr id="9" name="Image 0" descr="preencoded.png"/>
          <p:cNvPicPr>
            <a:picLocks noChangeAspect="1"/>
          </p:cNvPicPr>
          <p:nvPr/>
        </p:nvPicPr>
        <p:blipFill>
          <a:blip r:embed="rId3"/>
          <a:srcRect t="-600" b="-600"/>
          <a:stretch/>
        </p:blipFill>
        <p:spPr>
          <a:xfrm>
            <a:off x="886054" y="1717243"/>
            <a:ext cx="181051" cy="209398"/>
          </a:xfrm>
          <a:prstGeom prst="rect">
            <a:avLst/>
          </a:prstGeom>
        </p:spPr>
      </p:pic>
      <p:sp>
        <p:nvSpPr>
          <p:cNvPr id="10" name="Shape 7"/>
          <p:cNvSpPr/>
          <p:nvPr/>
        </p:nvSpPr>
        <p:spPr>
          <a:xfrm>
            <a:off x="9670694" y="6476695"/>
            <a:ext cx="286207" cy="38405"/>
          </a:xfrm>
          <a:prstGeom prst="rect">
            <a:avLst/>
          </a:prstGeom>
          <a:solidFill>
            <a:srgbClr val="E74C3C"/>
          </a:solidFill>
          <a:ln/>
        </p:spPr>
        <p:txBody>
          <a:bodyPr/>
          <a:lstStyle/>
          <a:p>
            <a:endParaRPr lang="ja-JP" altLang="en-US"/>
          </a:p>
        </p:txBody>
      </p:sp>
      <p:sp>
        <p:nvSpPr>
          <p:cNvPr id="11" name="Shape 8"/>
          <p:cNvSpPr/>
          <p:nvPr/>
        </p:nvSpPr>
        <p:spPr>
          <a:xfrm>
            <a:off x="10032797" y="6476695"/>
            <a:ext cx="286207" cy="38405"/>
          </a:xfrm>
          <a:prstGeom prst="rect">
            <a:avLst/>
          </a:prstGeom>
          <a:solidFill>
            <a:srgbClr val="3498DB"/>
          </a:solidFill>
          <a:ln/>
        </p:spPr>
        <p:txBody>
          <a:bodyPr/>
          <a:lstStyle/>
          <a:p>
            <a:endParaRPr lang="ja-JP" altLang="en-US"/>
          </a:p>
        </p:txBody>
      </p:sp>
      <p:sp>
        <p:nvSpPr>
          <p:cNvPr id="12" name="Shape 9"/>
          <p:cNvSpPr/>
          <p:nvPr/>
        </p:nvSpPr>
        <p:spPr>
          <a:xfrm>
            <a:off x="761695" y="2465222"/>
            <a:ext cx="428854" cy="428854"/>
          </a:xfrm>
          <a:prstGeom prst="ellipse">
            <a:avLst/>
          </a:prstGeom>
          <a:solidFill>
            <a:srgbClr val="3498DB">
              <a:alpha val="15000"/>
            </a:srgbClr>
          </a:solidFill>
          <a:ln/>
        </p:spPr>
        <p:txBody>
          <a:bodyPr/>
          <a:lstStyle/>
          <a:p>
            <a:endParaRPr lang="ja-JP" altLang="en-US"/>
          </a:p>
        </p:txBody>
      </p:sp>
      <p:sp>
        <p:nvSpPr>
          <p:cNvPr id="13" name="Shape 10"/>
          <p:cNvSpPr/>
          <p:nvPr/>
        </p:nvSpPr>
        <p:spPr>
          <a:xfrm>
            <a:off x="761695" y="4179722"/>
            <a:ext cx="428854" cy="428854"/>
          </a:xfrm>
          <a:prstGeom prst="ellipse">
            <a:avLst/>
          </a:prstGeom>
          <a:solidFill>
            <a:srgbClr val="3498DB">
              <a:alpha val="15000"/>
            </a:srgbClr>
          </a:solidFill>
          <a:ln/>
        </p:spPr>
        <p:txBody>
          <a:bodyPr/>
          <a:lstStyle/>
          <a:p>
            <a:endParaRPr lang="ja-JP" altLang="en-US"/>
          </a:p>
        </p:txBody>
      </p:sp>
      <p:sp>
        <p:nvSpPr>
          <p:cNvPr id="14" name="Text 11"/>
          <p:cNvSpPr txBox="1"/>
          <p:nvPr/>
        </p:nvSpPr>
        <p:spPr>
          <a:xfrm>
            <a:off x="1333195" y="1645920"/>
            <a:ext cx="869594" cy="219456"/>
          </a:xfrm>
          <a:prstGeom prst="rect">
            <a:avLst/>
          </a:prstGeom>
          <a:noFill/>
          <a:ln/>
        </p:spPr>
        <p:txBody>
          <a:bodyPr wrap="square" lIns="0" tIns="0" rIns="0" bIns="0" rtlCol="0" anchor="ctr"/>
          <a:lstStyle/>
          <a:p>
            <a:pPr marL="0" indent="0" algn="l">
              <a:buNone/>
            </a:pPr>
            <a:r>
              <a:rPr lang="en-US" sz="1400" b="1" dirty="0">
                <a:solidFill>
                  <a:srgbClr val="FFFFFF"/>
                </a:solidFill>
                <a:latin typeface="Roboto" pitchFamily="34" charset="0"/>
                <a:ea typeface="Roboto" pitchFamily="34" charset="-122"/>
                <a:cs typeface="Roboto" pitchFamily="34" charset="-120"/>
              </a:rPr>
              <a:t>超低遅延</a:t>
            </a:r>
            <a:endParaRPr lang="en-US" sz="1400" dirty="0"/>
          </a:p>
        </p:txBody>
      </p:sp>
      <p:sp>
        <p:nvSpPr>
          <p:cNvPr id="15" name="Text 12"/>
          <p:cNvSpPr txBox="1"/>
          <p:nvPr/>
        </p:nvSpPr>
        <p:spPr>
          <a:xfrm>
            <a:off x="1333195" y="1902866"/>
            <a:ext cx="4555541" cy="362102"/>
          </a:xfrm>
          <a:prstGeom prst="rect">
            <a:avLst/>
          </a:prstGeom>
          <a:noFill/>
          <a:ln/>
        </p:spPr>
        <p:txBody>
          <a:bodyPr wrap="square" lIns="0" tIns="0" rIns="0" bIns="0" rtlCol="0" anchor="ctr"/>
          <a:lstStyle/>
          <a:p>
            <a:pPr marL="0" indent="0" algn="l">
              <a:buNone/>
            </a:pPr>
            <a:r>
              <a:rPr lang="en-US" sz="1100" dirty="0">
                <a:solidFill>
                  <a:srgbClr val="AAAAAA"/>
                </a:solidFill>
                <a:latin typeface="Roboto" pitchFamily="34" charset="0"/>
                <a:ea typeface="Roboto" pitchFamily="34" charset="-122"/>
                <a:cs typeface="Roboto" pitchFamily="34" charset="-120"/>
              </a:rPr>
              <a:t>業界最速レベルの0.5〜2秒遅延を実現。通常の20〜40秒と比べ圧倒的な即時性。</a:t>
            </a:r>
            <a:endParaRPr lang="en-US" sz="1100" dirty="0"/>
          </a:p>
        </p:txBody>
      </p:sp>
      <p:pic>
        <p:nvPicPr>
          <p:cNvPr id="16" name="Image 1" descr="preencoded.png"/>
          <p:cNvPicPr>
            <a:picLocks noChangeAspect="1"/>
          </p:cNvPicPr>
          <p:nvPr/>
        </p:nvPicPr>
        <p:blipFill>
          <a:blip r:embed="rId4"/>
          <a:srcRect l="-461" r="-461"/>
          <a:stretch/>
        </p:blipFill>
        <p:spPr>
          <a:xfrm>
            <a:off x="857707" y="2574950"/>
            <a:ext cx="237744" cy="209398"/>
          </a:xfrm>
          <a:prstGeom prst="rect">
            <a:avLst/>
          </a:prstGeom>
        </p:spPr>
      </p:pic>
      <p:sp>
        <p:nvSpPr>
          <p:cNvPr id="17" name="Shape 13"/>
          <p:cNvSpPr/>
          <p:nvPr/>
        </p:nvSpPr>
        <p:spPr>
          <a:xfrm>
            <a:off x="761695" y="3322015"/>
            <a:ext cx="428854" cy="428854"/>
          </a:xfrm>
          <a:prstGeom prst="ellipse">
            <a:avLst/>
          </a:prstGeom>
          <a:solidFill>
            <a:srgbClr val="E74C3C">
              <a:alpha val="15000"/>
            </a:srgbClr>
          </a:solidFill>
          <a:ln/>
        </p:spPr>
        <p:txBody>
          <a:bodyPr/>
          <a:lstStyle/>
          <a:p>
            <a:endParaRPr lang="ja-JP" altLang="en-US"/>
          </a:p>
        </p:txBody>
      </p:sp>
      <p:sp>
        <p:nvSpPr>
          <p:cNvPr id="18" name="Shape 14"/>
          <p:cNvSpPr/>
          <p:nvPr/>
        </p:nvSpPr>
        <p:spPr>
          <a:xfrm>
            <a:off x="6309360" y="1607515"/>
            <a:ext cx="428854" cy="428854"/>
          </a:xfrm>
          <a:prstGeom prst="ellipse">
            <a:avLst/>
          </a:prstGeom>
          <a:solidFill>
            <a:srgbClr val="E74C3C">
              <a:alpha val="15000"/>
            </a:srgbClr>
          </a:solidFill>
          <a:ln/>
        </p:spPr>
        <p:txBody>
          <a:bodyPr/>
          <a:lstStyle/>
          <a:p>
            <a:endParaRPr lang="ja-JP" altLang="en-US"/>
          </a:p>
        </p:txBody>
      </p:sp>
      <p:sp>
        <p:nvSpPr>
          <p:cNvPr id="19" name="Shape 15"/>
          <p:cNvSpPr/>
          <p:nvPr/>
        </p:nvSpPr>
        <p:spPr>
          <a:xfrm>
            <a:off x="6309360" y="3322015"/>
            <a:ext cx="428854" cy="428854"/>
          </a:xfrm>
          <a:prstGeom prst="ellipse">
            <a:avLst/>
          </a:prstGeom>
          <a:solidFill>
            <a:srgbClr val="E74C3C">
              <a:alpha val="15000"/>
            </a:srgbClr>
          </a:solidFill>
          <a:ln/>
        </p:spPr>
        <p:txBody>
          <a:bodyPr/>
          <a:lstStyle/>
          <a:p>
            <a:endParaRPr lang="ja-JP" altLang="en-US"/>
          </a:p>
        </p:txBody>
      </p:sp>
      <p:sp>
        <p:nvSpPr>
          <p:cNvPr id="20" name="Text 16"/>
          <p:cNvSpPr txBox="1"/>
          <p:nvPr/>
        </p:nvSpPr>
        <p:spPr>
          <a:xfrm>
            <a:off x="1333195" y="2502713"/>
            <a:ext cx="2126894" cy="219456"/>
          </a:xfrm>
          <a:prstGeom prst="rect">
            <a:avLst/>
          </a:prstGeom>
          <a:noFill/>
          <a:ln/>
        </p:spPr>
        <p:txBody>
          <a:bodyPr wrap="square" lIns="0" tIns="0" rIns="0" bIns="0" rtlCol="0" anchor="ctr"/>
          <a:lstStyle/>
          <a:p>
            <a:pPr marL="0" indent="0" algn="l">
              <a:buNone/>
            </a:pPr>
            <a:r>
              <a:rPr lang="en-US" sz="1400" b="1" dirty="0">
                <a:solidFill>
                  <a:srgbClr val="FFFFFF"/>
                </a:solidFill>
                <a:latin typeface="Roboto" pitchFamily="34" charset="0"/>
                <a:ea typeface="Roboto" pitchFamily="34" charset="-122"/>
                <a:cs typeface="Roboto" pitchFamily="34" charset="-120"/>
              </a:rPr>
              <a:t>FHD 1080p/30fps高画質</a:t>
            </a:r>
            <a:endParaRPr lang="en-US" sz="1400" dirty="0"/>
          </a:p>
        </p:txBody>
      </p:sp>
      <p:sp>
        <p:nvSpPr>
          <p:cNvPr id="21" name="Text 17"/>
          <p:cNvSpPr txBox="1"/>
          <p:nvPr/>
        </p:nvSpPr>
        <p:spPr>
          <a:xfrm>
            <a:off x="1333195" y="2760574"/>
            <a:ext cx="4536338" cy="362102"/>
          </a:xfrm>
          <a:prstGeom prst="rect">
            <a:avLst/>
          </a:prstGeom>
          <a:noFill/>
          <a:ln/>
        </p:spPr>
        <p:txBody>
          <a:bodyPr wrap="square" lIns="0" tIns="0" rIns="0" bIns="0" rtlCol="0" anchor="ctr"/>
          <a:lstStyle/>
          <a:p>
            <a:pPr marL="0" indent="0" algn="l">
              <a:buNone/>
            </a:pPr>
            <a:r>
              <a:rPr lang="en-US" sz="1100" dirty="0">
                <a:solidFill>
                  <a:srgbClr val="AAAAAA"/>
                </a:solidFill>
                <a:latin typeface="Roboto" pitchFamily="34" charset="0"/>
                <a:ea typeface="Roboto" pitchFamily="34" charset="-122"/>
                <a:cs typeface="Roboto" pitchFamily="34" charset="-120"/>
              </a:rPr>
              <a:t>鮮明な映像品質で細部までしっかり確認可能。レーシングに必要な視認性を確保。</a:t>
            </a:r>
            <a:endParaRPr lang="en-US" sz="1100" dirty="0"/>
          </a:p>
        </p:txBody>
      </p:sp>
      <p:pic>
        <p:nvPicPr>
          <p:cNvPr id="22" name="Image 2" descr="preencoded.png"/>
          <p:cNvPicPr>
            <a:picLocks noChangeAspect="1"/>
          </p:cNvPicPr>
          <p:nvPr/>
        </p:nvPicPr>
        <p:blipFill>
          <a:blip r:embed="rId5"/>
          <a:srcRect/>
          <a:stretch/>
        </p:blipFill>
        <p:spPr>
          <a:xfrm>
            <a:off x="871423" y="3431743"/>
            <a:ext cx="209398" cy="209398"/>
          </a:xfrm>
          <a:prstGeom prst="rect">
            <a:avLst/>
          </a:prstGeom>
        </p:spPr>
      </p:pic>
      <p:sp>
        <p:nvSpPr>
          <p:cNvPr id="23" name="Text 18"/>
          <p:cNvSpPr txBox="1"/>
          <p:nvPr/>
        </p:nvSpPr>
        <p:spPr>
          <a:xfrm>
            <a:off x="1333195" y="3360420"/>
            <a:ext cx="1955902" cy="219456"/>
          </a:xfrm>
          <a:prstGeom prst="rect">
            <a:avLst/>
          </a:prstGeom>
          <a:noFill/>
          <a:ln/>
        </p:spPr>
        <p:txBody>
          <a:bodyPr wrap="square" lIns="0" tIns="0" rIns="0" bIns="0" rtlCol="0" anchor="ctr"/>
          <a:lstStyle/>
          <a:p>
            <a:pPr marL="0" indent="0" algn="l">
              <a:buNone/>
            </a:pPr>
            <a:r>
              <a:rPr lang="en-US" sz="1400" b="1" dirty="0">
                <a:solidFill>
                  <a:srgbClr val="FFFFFF"/>
                </a:solidFill>
                <a:latin typeface="Roboto" pitchFamily="34" charset="0"/>
                <a:ea typeface="Roboto" pitchFamily="34" charset="-122"/>
                <a:cs typeface="Roboto" pitchFamily="34" charset="-120"/>
              </a:rPr>
              <a:t>低ビットレート最適化</a:t>
            </a:r>
            <a:endParaRPr lang="en-US" sz="1400" dirty="0"/>
          </a:p>
        </p:txBody>
      </p:sp>
      <p:sp>
        <p:nvSpPr>
          <p:cNvPr id="24" name="Text 19"/>
          <p:cNvSpPr txBox="1"/>
          <p:nvPr/>
        </p:nvSpPr>
        <p:spPr>
          <a:xfrm>
            <a:off x="1333195" y="3617366"/>
            <a:ext cx="4622292" cy="362102"/>
          </a:xfrm>
          <a:prstGeom prst="rect">
            <a:avLst/>
          </a:prstGeom>
          <a:noFill/>
          <a:ln/>
        </p:spPr>
        <p:txBody>
          <a:bodyPr wrap="square" lIns="0" tIns="0" rIns="0" bIns="0" rtlCol="0" anchor="ctr"/>
          <a:lstStyle/>
          <a:p>
            <a:pPr marL="0" indent="0" algn="l">
              <a:buNone/>
            </a:pPr>
            <a:r>
              <a:rPr lang="en-US" sz="1100" dirty="0">
                <a:solidFill>
                  <a:srgbClr val="AAAAAA"/>
                </a:solidFill>
                <a:latin typeface="Roboto" pitchFamily="34" charset="0"/>
                <a:ea typeface="Roboto" pitchFamily="34" charset="-122"/>
                <a:cs typeface="Roboto" pitchFamily="34" charset="-120"/>
              </a:rPr>
              <a:t>わずか1〜3Mbpsでも安定配信。通信環境が不安定なサーキットでも途切れにくい設計。</a:t>
            </a:r>
            <a:endParaRPr lang="en-US" sz="1100" dirty="0"/>
          </a:p>
        </p:txBody>
      </p:sp>
      <p:pic>
        <p:nvPicPr>
          <p:cNvPr id="25" name="Image 3" descr="preencoded.png"/>
          <p:cNvPicPr>
            <a:picLocks noChangeAspect="1"/>
          </p:cNvPicPr>
          <p:nvPr/>
        </p:nvPicPr>
        <p:blipFill>
          <a:blip r:embed="rId6"/>
          <a:srcRect l="-461" r="-461"/>
          <a:stretch/>
        </p:blipFill>
        <p:spPr>
          <a:xfrm>
            <a:off x="857707" y="4289450"/>
            <a:ext cx="237744" cy="209398"/>
          </a:xfrm>
          <a:prstGeom prst="rect">
            <a:avLst/>
          </a:prstGeom>
        </p:spPr>
      </p:pic>
      <p:sp>
        <p:nvSpPr>
          <p:cNvPr id="26" name="Shape 20"/>
          <p:cNvSpPr/>
          <p:nvPr/>
        </p:nvSpPr>
        <p:spPr>
          <a:xfrm>
            <a:off x="6309360" y="4179722"/>
            <a:ext cx="428854" cy="428854"/>
          </a:xfrm>
          <a:prstGeom prst="ellipse">
            <a:avLst/>
          </a:prstGeom>
          <a:solidFill>
            <a:srgbClr val="3498DB">
              <a:alpha val="15000"/>
            </a:srgbClr>
          </a:solidFill>
          <a:ln/>
        </p:spPr>
        <p:txBody>
          <a:bodyPr/>
          <a:lstStyle/>
          <a:p>
            <a:endParaRPr lang="ja-JP" altLang="en-US"/>
          </a:p>
        </p:txBody>
      </p:sp>
      <p:sp>
        <p:nvSpPr>
          <p:cNvPr id="27" name="Text 21"/>
          <p:cNvSpPr txBox="1"/>
          <p:nvPr/>
        </p:nvSpPr>
        <p:spPr>
          <a:xfrm>
            <a:off x="1333195" y="4217213"/>
            <a:ext cx="1698041" cy="219456"/>
          </a:xfrm>
          <a:prstGeom prst="rect">
            <a:avLst/>
          </a:prstGeom>
          <a:noFill/>
          <a:ln/>
        </p:spPr>
        <p:txBody>
          <a:bodyPr wrap="square" lIns="0" tIns="0" rIns="0" bIns="0" rtlCol="0" anchor="ctr"/>
          <a:lstStyle/>
          <a:p>
            <a:pPr marL="0" indent="0" algn="l">
              <a:buNone/>
            </a:pPr>
            <a:r>
              <a:rPr lang="en-US" sz="1400" b="1" dirty="0">
                <a:solidFill>
                  <a:srgbClr val="FFFFFF"/>
                </a:solidFill>
                <a:latin typeface="Roboto" pitchFamily="34" charset="0"/>
                <a:ea typeface="Roboto" pitchFamily="34" charset="-122"/>
                <a:cs typeface="Roboto" pitchFamily="34" charset="-120"/>
              </a:rPr>
              <a:t>LTEマルチパス通信</a:t>
            </a:r>
            <a:endParaRPr lang="en-US" sz="1400" dirty="0"/>
          </a:p>
        </p:txBody>
      </p:sp>
      <p:sp>
        <p:nvSpPr>
          <p:cNvPr id="28" name="Text 22"/>
          <p:cNvSpPr txBox="1"/>
          <p:nvPr/>
        </p:nvSpPr>
        <p:spPr>
          <a:xfrm>
            <a:off x="1333195" y="4475074"/>
            <a:ext cx="4613148" cy="362102"/>
          </a:xfrm>
          <a:prstGeom prst="rect">
            <a:avLst/>
          </a:prstGeom>
          <a:noFill/>
          <a:ln/>
        </p:spPr>
        <p:txBody>
          <a:bodyPr wrap="square" lIns="0" tIns="0" rIns="0" bIns="0" rtlCol="0" anchor="ctr"/>
          <a:lstStyle/>
          <a:p>
            <a:pPr marL="0" indent="0" algn="l">
              <a:buNone/>
            </a:pPr>
            <a:r>
              <a:rPr lang="en-US" sz="1100" dirty="0">
                <a:solidFill>
                  <a:srgbClr val="AAAAAA"/>
                </a:solidFill>
                <a:latin typeface="Roboto" pitchFamily="34" charset="0"/>
                <a:ea typeface="Roboto" pitchFamily="34" charset="-122"/>
                <a:cs typeface="Roboto" pitchFamily="34" charset="-120"/>
              </a:rPr>
              <a:t>複数回線の同時利用で冗長性確保。AISを含む信頼性の高い通信路を構築。</a:t>
            </a:r>
            <a:endParaRPr lang="en-US" sz="1100" dirty="0"/>
          </a:p>
        </p:txBody>
      </p:sp>
      <p:pic>
        <p:nvPicPr>
          <p:cNvPr id="29" name="Image 4" descr="preencoded.png"/>
          <p:cNvPicPr>
            <a:picLocks noChangeAspect="1"/>
          </p:cNvPicPr>
          <p:nvPr/>
        </p:nvPicPr>
        <p:blipFill>
          <a:blip r:embed="rId7"/>
          <a:srcRect/>
          <a:stretch/>
        </p:blipFill>
        <p:spPr>
          <a:xfrm>
            <a:off x="6419088" y="1717243"/>
            <a:ext cx="209398" cy="209398"/>
          </a:xfrm>
          <a:prstGeom prst="rect">
            <a:avLst/>
          </a:prstGeom>
        </p:spPr>
      </p:pic>
      <p:sp>
        <p:nvSpPr>
          <p:cNvPr id="30" name="Shape 23"/>
          <p:cNvSpPr/>
          <p:nvPr/>
        </p:nvSpPr>
        <p:spPr>
          <a:xfrm>
            <a:off x="6309360" y="2465222"/>
            <a:ext cx="428854" cy="428854"/>
          </a:xfrm>
          <a:prstGeom prst="ellipse">
            <a:avLst/>
          </a:prstGeom>
          <a:solidFill>
            <a:srgbClr val="3498DB">
              <a:alpha val="15000"/>
            </a:srgbClr>
          </a:solidFill>
          <a:ln/>
        </p:spPr>
        <p:txBody>
          <a:bodyPr/>
          <a:lstStyle/>
          <a:p>
            <a:endParaRPr lang="ja-JP" altLang="en-US"/>
          </a:p>
        </p:txBody>
      </p:sp>
      <p:sp>
        <p:nvSpPr>
          <p:cNvPr id="31" name="Text 24"/>
          <p:cNvSpPr txBox="1"/>
          <p:nvPr/>
        </p:nvSpPr>
        <p:spPr>
          <a:xfrm>
            <a:off x="6880860" y="1645920"/>
            <a:ext cx="1412748" cy="219456"/>
          </a:xfrm>
          <a:prstGeom prst="rect">
            <a:avLst/>
          </a:prstGeom>
          <a:noFill/>
          <a:ln/>
        </p:spPr>
        <p:txBody>
          <a:bodyPr wrap="square" lIns="0" tIns="0" rIns="0" bIns="0" rtlCol="0" anchor="ctr"/>
          <a:lstStyle/>
          <a:p>
            <a:pPr marL="0" indent="0" algn="l">
              <a:buNone/>
            </a:pPr>
            <a:r>
              <a:rPr lang="en-US" sz="1400" b="1" dirty="0">
                <a:solidFill>
                  <a:srgbClr val="FFFFFF"/>
                </a:solidFill>
                <a:latin typeface="Roboto" pitchFamily="34" charset="0"/>
                <a:ea typeface="Roboto" pitchFamily="34" charset="-122"/>
                <a:cs typeface="Roboto" pitchFamily="34" charset="-120"/>
              </a:rPr>
              <a:t>多拠点同時伝送</a:t>
            </a:r>
            <a:endParaRPr lang="en-US" sz="1400" dirty="0"/>
          </a:p>
        </p:txBody>
      </p:sp>
      <p:sp>
        <p:nvSpPr>
          <p:cNvPr id="32" name="Text 25"/>
          <p:cNvSpPr txBox="1"/>
          <p:nvPr/>
        </p:nvSpPr>
        <p:spPr>
          <a:xfrm>
            <a:off x="6880860" y="1902866"/>
            <a:ext cx="4536338" cy="362102"/>
          </a:xfrm>
          <a:prstGeom prst="rect">
            <a:avLst/>
          </a:prstGeom>
          <a:noFill/>
          <a:ln/>
        </p:spPr>
        <p:txBody>
          <a:bodyPr wrap="square" lIns="0" tIns="0" rIns="0" bIns="0" rtlCol="0" anchor="ctr"/>
          <a:lstStyle/>
          <a:p>
            <a:pPr marL="0" indent="0" algn="l">
              <a:buNone/>
            </a:pPr>
            <a:r>
              <a:rPr lang="en-US" sz="1100" dirty="0">
                <a:solidFill>
                  <a:srgbClr val="AAAAAA"/>
                </a:solidFill>
                <a:latin typeface="Roboto" pitchFamily="34" charset="0"/>
                <a:ea typeface="Roboto" pitchFamily="34" charset="-122"/>
                <a:cs typeface="Roboto" pitchFamily="34" charset="-120"/>
              </a:rPr>
              <a:t>海外→日本→韓国など複数拠点へ同時配信。国際レースの運営効率を飛躍的に向上。</a:t>
            </a:r>
            <a:endParaRPr lang="en-US" sz="1100" dirty="0"/>
          </a:p>
        </p:txBody>
      </p:sp>
      <p:pic>
        <p:nvPicPr>
          <p:cNvPr id="33" name="Image 5" descr="preencoded.png"/>
          <p:cNvPicPr>
            <a:picLocks noChangeAspect="1"/>
          </p:cNvPicPr>
          <p:nvPr/>
        </p:nvPicPr>
        <p:blipFill>
          <a:blip r:embed="rId8"/>
          <a:srcRect l="-461" r="-461"/>
          <a:stretch/>
        </p:blipFill>
        <p:spPr>
          <a:xfrm>
            <a:off x="6404458" y="2574950"/>
            <a:ext cx="237744" cy="209398"/>
          </a:xfrm>
          <a:prstGeom prst="rect">
            <a:avLst/>
          </a:prstGeom>
        </p:spPr>
      </p:pic>
      <p:sp>
        <p:nvSpPr>
          <p:cNvPr id="34" name="Text 26"/>
          <p:cNvSpPr txBox="1"/>
          <p:nvPr/>
        </p:nvSpPr>
        <p:spPr>
          <a:xfrm>
            <a:off x="6880860" y="2502713"/>
            <a:ext cx="1231697" cy="219456"/>
          </a:xfrm>
          <a:prstGeom prst="rect">
            <a:avLst/>
          </a:prstGeom>
          <a:noFill/>
          <a:ln/>
        </p:spPr>
        <p:txBody>
          <a:bodyPr wrap="square" lIns="0" tIns="0" rIns="0" bIns="0" rtlCol="0" anchor="ctr"/>
          <a:lstStyle/>
          <a:p>
            <a:pPr marL="0" indent="0" algn="l">
              <a:buNone/>
            </a:pPr>
            <a:r>
              <a:rPr lang="en-US" sz="1400" b="1" dirty="0">
                <a:solidFill>
                  <a:srgbClr val="FFFFFF"/>
                </a:solidFill>
                <a:latin typeface="Roboto" pitchFamily="34" charset="0"/>
                <a:ea typeface="Roboto" pitchFamily="34" charset="-122"/>
                <a:cs typeface="Roboto" pitchFamily="34" charset="-120"/>
              </a:rPr>
              <a:t>専用ビューワ</a:t>
            </a:r>
            <a:endParaRPr lang="en-US" sz="1400" dirty="0"/>
          </a:p>
        </p:txBody>
      </p:sp>
      <p:sp>
        <p:nvSpPr>
          <p:cNvPr id="35" name="Text 27"/>
          <p:cNvSpPr txBox="1"/>
          <p:nvPr/>
        </p:nvSpPr>
        <p:spPr>
          <a:xfrm>
            <a:off x="6880860" y="2760574"/>
            <a:ext cx="4527194" cy="362102"/>
          </a:xfrm>
          <a:prstGeom prst="rect">
            <a:avLst/>
          </a:prstGeom>
          <a:noFill/>
          <a:ln/>
        </p:spPr>
        <p:txBody>
          <a:bodyPr wrap="square" lIns="0" tIns="0" rIns="0" bIns="0" rtlCol="0" anchor="ctr"/>
          <a:lstStyle/>
          <a:p>
            <a:pPr marL="0" indent="0" algn="l">
              <a:buNone/>
            </a:pPr>
            <a:r>
              <a:rPr lang="en-US" sz="1100" dirty="0">
                <a:solidFill>
                  <a:srgbClr val="AAAAAA"/>
                </a:solidFill>
                <a:latin typeface="Roboto" pitchFamily="34" charset="0"/>
                <a:ea typeface="Roboto" pitchFamily="34" charset="-122"/>
                <a:cs typeface="Roboto" pitchFamily="34" charset="-120"/>
              </a:rPr>
              <a:t>リアルタイムモニタリングを可能にする専用ソフトウェア。操作性と視認性を重視した設計。</a:t>
            </a:r>
            <a:endParaRPr lang="en-US" sz="1100" dirty="0"/>
          </a:p>
        </p:txBody>
      </p:sp>
      <p:pic>
        <p:nvPicPr>
          <p:cNvPr id="36" name="Image 6" descr="preencoded.png"/>
          <p:cNvPicPr>
            <a:picLocks noChangeAspect="1"/>
          </p:cNvPicPr>
          <p:nvPr/>
        </p:nvPicPr>
        <p:blipFill>
          <a:blip r:embed="rId9"/>
          <a:srcRect l="-1004" r="-1004"/>
          <a:stretch/>
        </p:blipFill>
        <p:spPr>
          <a:xfrm>
            <a:off x="6390742" y="3431743"/>
            <a:ext cx="267005" cy="209398"/>
          </a:xfrm>
          <a:prstGeom prst="rect">
            <a:avLst/>
          </a:prstGeom>
        </p:spPr>
      </p:pic>
      <p:sp>
        <p:nvSpPr>
          <p:cNvPr id="37" name="Text 28"/>
          <p:cNvSpPr txBox="1"/>
          <p:nvPr/>
        </p:nvSpPr>
        <p:spPr>
          <a:xfrm>
            <a:off x="6880860" y="3360420"/>
            <a:ext cx="1412748" cy="219456"/>
          </a:xfrm>
          <a:prstGeom prst="rect">
            <a:avLst/>
          </a:prstGeom>
          <a:noFill/>
          <a:ln/>
        </p:spPr>
        <p:txBody>
          <a:bodyPr wrap="square" lIns="0" tIns="0" rIns="0" bIns="0" rtlCol="0" anchor="ctr"/>
          <a:lstStyle/>
          <a:p>
            <a:pPr marL="0" indent="0" algn="l">
              <a:buNone/>
            </a:pPr>
            <a:r>
              <a:rPr lang="en-US" sz="1400" b="1" dirty="0">
                <a:solidFill>
                  <a:srgbClr val="FFFFFF"/>
                </a:solidFill>
                <a:latin typeface="Roboto" pitchFamily="34" charset="0"/>
                <a:ea typeface="Roboto" pitchFamily="34" charset="-122"/>
                <a:cs typeface="Roboto" pitchFamily="34" charset="-120"/>
              </a:rPr>
              <a:t>クラウド最適化</a:t>
            </a:r>
            <a:endParaRPr lang="en-US" sz="1400" dirty="0"/>
          </a:p>
        </p:txBody>
      </p:sp>
      <p:sp>
        <p:nvSpPr>
          <p:cNvPr id="38" name="Text 29"/>
          <p:cNvSpPr txBox="1"/>
          <p:nvPr/>
        </p:nvSpPr>
        <p:spPr>
          <a:xfrm>
            <a:off x="6880860" y="3617366"/>
            <a:ext cx="4536338" cy="362102"/>
          </a:xfrm>
          <a:prstGeom prst="rect">
            <a:avLst/>
          </a:prstGeom>
          <a:noFill/>
          <a:ln/>
        </p:spPr>
        <p:txBody>
          <a:bodyPr wrap="square" lIns="0" tIns="0" rIns="0" bIns="0" rtlCol="0" anchor="ctr"/>
          <a:lstStyle/>
          <a:p>
            <a:pPr marL="0" indent="0" algn="l">
              <a:buNone/>
            </a:pPr>
            <a:r>
              <a:rPr lang="en-US" sz="1100" dirty="0">
                <a:solidFill>
                  <a:srgbClr val="AAAAAA"/>
                </a:solidFill>
                <a:latin typeface="Roboto" pitchFamily="34" charset="0"/>
                <a:ea typeface="Roboto" pitchFamily="34" charset="-122"/>
                <a:cs typeface="Roboto" pitchFamily="34" charset="-120"/>
              </a:rPr>
              <a:t>伝送最適化と冗長構成によるデータの確実な配信。クラウドによる安定したサービス提供。</a:t>
            </a:r>
            <a:endParaRPr lang="en-US" sz="1100" dirty="0"/>
          </a:p>
        </p:txBody>
      </p:sp>
      <p:pic>
        <p:nvPicPr>
          <p:cNvPr id="39" name="Image 7" descr="preencoded.png"/>
          <p:cNvPicPr>
            <a:picLocks noChangeAspect="1"/>
          </p:cNvPicPr>
          <p:nvPr/>
        </p:nvPicPr>
        <p:blipFill>
          <a:blip r:embed="rId10"/>
          <a:srcRect/>
          <a:stretch/>
        </p:blipFill>
        <p:spPr>
          <a:xfrm>
            <a:off x="6419088" y="4289450"/>
            <a:ext cx="209398" cy="209398"/>
          </a:xfrm>
          <a:prstGeom prst="rect">
            <a:avLst/>
          </a:prstGeom>
        </p:spPr>
      </p:pic>
      <p:sp>
        <p:nvSpPr>
          <p:cNvPr id="40" name="Text 30"/>
          <p:cNvSpPr txBox="1"/>
          <p:nvPr/>
        </p:nvSpPr>
        <p:spPr>
          <a:xfrm>
            <a:off x="6880860" y="4217213"/>
            <a:ext cx="688543" cy="219456"/>
          </a:xfrm>
          <a:prstGeom prst="rect">
            <a:avLst/>
          </a:prstGeom>
          <a:noFill/>
          <a:ln/>
        </p:spPr>
        <p:txBody>
          <a:bodyPr wrap="square" lIns="0" tIns="0" rIns="0" bIns="0" rtlCol="0" anchor="ctr"/>
          <a:lstStyle/>
          <a:p>
            <a:pPr marL="0" indent="0" algn="l">
              <a:buNone/>
            </a:pPr>
            <a:r>
              <a:rPr lang="en-US" sz="1400" b="1" dirty="0">
                <a:solidFill>
                  <a:srgbClr val="FFFFFF"/>
                </a:solidFill>
                <a:latin typeface="Roboto" pitchFamily="34" charset="0"/>
                <a:ea typeface="Roboto" pitchFamily="34" charset="-122"/>
                <a:cs typeface="Roboto" pitchFamily="34" charset="-120"/>
              </a:rPr>
              <a:t>拡張性</a:t>
            </a:r>
            <a:endParaRPr lang="en-US" sz="1400" dirty="0"/>
          </a:p>
        </p:txBody>
      </p:sp>
      <p:sp>
        <p:nvSpPr>
          <p:cNvPr id="41" name="Text 31"/>
          <p:cNvSpPr txBox="1"/>
          <p:nvPr/>
        </p:nvSpPr>
        <p:spPr>
          <a:xfrm>
            <a:off x="6880860" y="4475074"/>
            <a:ext cx="4536338" cy="362102"/>
          </a:xfrm>
          <a:prstGeom prst="rect">
            <a:avLst/>
          </a:prstGeom>
          <a:noFill/>
          <a:ln/>
        </p:spPr>
        <p:txBody>
          <a:bodyPr wrap="square" lIns="0" tIns="0" rIns="0" bIns="0" rtlCol="0" anchor="ctr"/>
          <a:lstStyle/>
          <a:p>
            <a:pPr marL="0" indent="0" algn="l">
              <a:buNone/>
            </a:pPr>
            <a:r>
              <a:rPr lang="en-US" sz="1100" dirty="0">
                <a:solidFill>
                  <a:srgbClr val="AAAAAA"/>
                </a:solidFill>
                <a:latin typeface="Roboto" pitchFamily="34" charset="0"/>
                <a:ea typeface="Roboto" pitchFamily="34" charset="-122"/>
                <a:cs typeface="Roboto" pitchFamily="34" charset="-120"/>
              </a:rPr>
              <a:t>録画・アーカイブ・コメント同期など機能拡張が可能。将来的なニーズにも柔軟に対応。</a:t>
            </a:r>
            <a:endParaRPr lang="en-US" sz="1100" dirty="0"/>
          </a:p>
        </p:txBody>
      </p:sp>
      <p:sp>
        <p:nvSpPr>
          <p:cNvPr id="42" name="Text 32"/>
          <p:cNvSpPr txBox="1"/>
          <p:nvPr/>
        </p:nvSpPr>
        <p:spPr>
          <a:xfrm>
            <a:off x="10394899" y="6420002"/>
            <a:ext cx="1138428" cy="152705"/>
          </a:xfrm>
          <a:prstGeom prst="rect">
            <a:avLst/>
          </a:prstGeom>
          <a:noFill/>
          <a:ln/>
        </p:spPr>
        <p:txBody>
          <a:bodyPr wrap="square" lIns="0" tIns="0" rIns="0" bIns="0" rtlCol="0" anchor="ctr"/>
          <a:lstStyle/>
          <a:p>
            <a:pPr marL="0" indent="0" algn="l">
              <a:buNone/>
            </a:pPr>
            <a:r>
              <a:rPr lang="en-US" sz="1000" dirty="0">
                <a:solidFill>
                  <a:srgbClr val="888888"/>
                </a:solidFill>
                <a:latin typeface="Roboto" pitchFamily="34" charset="0"/>
                <a:ea typeface="Roboto" pitchFamily="34" charset="-122"/>
                <a:cs typeface="Roboto" pitchFamily="34" charset="-120"/>
              </a:rPr>
              <a:t>iZCast | UNSOLID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C3E50"/>
          </a:solidFill>
          <a:ln/>
        </p:spPr>
        <p:txBody>
          <a:bodyPr/>
          <a:lstStyle/>
          <a:p>
            <a:endParaRPr lang="ja-JP" altLang="en-US"/>
          </a:p>
        </p:txBody>
      </p:sp>
      <p:sp>
        <p:nvSpPr>
          <p:cNvPr id="3" name="Shape 1"/>
          <p:cNvSpPr/>
          <p:nvPr/>
        </p:nvSpPr>
        <p:spPr>
          <a:xfrm>
            <a:off x="761695" y="286207"/>
            <a:ext cx="47549" cy="923544"/>
          </a:xfrm>
          <a:prstGeom prst="rect">
            <a:avLst/>
          </a:prstGeom>
          <a:solidFill>
            <a:srgbClr val="3498DB"/>
          </a:solidFill>
          <a:ln/>
        </p:spPr>
        <p:txBody>
          <a:bodyPr/>
          <a:lstStyle/>
          <a:p>
            <a:endParaRPr lang="ja-JP" altLang="en-US"/>
          </a:p>
        </p:txBody>
      </p:sp>
      <p:sp>
        <p:nvSpPr>
          <p:cNvPr id="4" name="Shape 2"/>
          <p:cNvSpPr/>
          <p:nvPr/>
        </p:nvSpPr>
        <p:spPr>
          <a:xfrm>
            <a:off x="761695" y="3872484"/>
            <a:ext cx="10668305" cy="1742846"/>
          </a:xfrm>
          <a:prstGeom prst="roundRect">
            <a:avLst>
              <a:gd name="adj" fmla="val 2294"/>
            </a:avLst>
          </a:prstGeom>
          <a:solidFill>
            <a:srgbClr val="141428">
              <a:alpha val="70000"/>
            </a:srgbClr>
          </a:solidFill>
          <a:ln/>
        </p:spPr>
        <p:txBody>
          <a:bodyPr/>
          <a:lstStyle/>
          <a:p>
            <a:endParaRPr lang="ja-JP" altLang="en-US"/>
          </a:p>
        </p:txBody>
      </p:sp>
      <p:sp>
        <p:nvSpPr>
          <p:cNvPr id="5" name="Shape 3"/>
          <p:cNvSpPr/>
          <p:nvPr/>
        </p:nvSpPr>
        <p:spPr>
          <a:xfrm>
            <a:off x="761695" y="6362395"/>
            <a:ext cx="10668305" cy="9144"/>
          </a:xfrm>
          <a:prstGeom prst="rect">
            <a:avLst/>
          </a:prstGeom>
          <a:solidFill>
            <a:srgbClr val="FFFFFF">
              <a:alpha val="10000"/>
            </a:srgbClr>
          </a:solidFill>
          <a:ln/>
        </p:spPr>
        <p:txBody>
          <a:bodyPr/>
          <a:lstStyle/>
          <a:p>
            <a:endParaRPr lang="ja-JP" altLang="en-US"/>
          </a:p>
        </p:txBody>
      </p:sp>
      <p:sp>
        <p:nvSpPr>
          <p:cNvPr id="6" name="Text 4"/>
          <p:cNvSpPr txBox="1"/>
          <p:nvPr/>
        </p:nvSpPr>
        <p:spPr>
          <a:xfrm>
            <a:off x="952805" y="286207"/>
            <a:ext cx="2039112" cy="181051"/>
          </a:xfrm>
          <a:prstGeom prst="rect">
            <a:avLst/>
          </a:prstGeom>
          <a:noFill/>
          <a:ln/>
        </p:spPr>
        <p:txBody>
          <a:bodyPr wrap="square" lIns="0" tIns="0" rIns="0" bIns="0" rtlCol="0" anchor="ctr"/>
          <a:lstStyle/>
          <a:p>
            <a:pPr marL="0" indent="0" algn="l">
              <a:buNone/>
            </a:pPr>
            <a:r>
              <a:rPr lang="en-US" sz="1200" b="1" dirty="0">
                <a:solidFill>
                  <a:srgbClr val="E74C3C"/>
                </a:solidFill>
                <a:latin typeface="Roboto" pitchFamily="34" charset="0"/>
                <a:ea typeface="Roboto" pitchFamily="34" charset="-122"/>
                <a:cs typeface="Roboto" pitchFamily="34" charset="-120"/>
              </a:rPr>
              <a:t>SYSTEM ARCHITECTURE</a:t>
            </a:r>
            <a:endParaRPr lang="en-US" sz="1200" dirty="0"/>
          </a:p>
        </p:txBody>
      </p:sp>
      <p:sp>
        <p:nvSpPr>
          <p:cNvPr id="7" name="Text 5"/>
          <p:cNvSpPr txBox="1"/>
          <p:nvPr/>
        </p:nvSpPr>
        <p:spPr>
          <a:xfrm>
            <a:off x="952805" y="900684"/>
            <a:ext cx="1624889" cy="305410"/>
          </a:xfrm>
          <a:prstGeom prst="rect">
            <a:avLst/>
          </a:prstGeom>
          <a:noFill/>
          <a:ln/>
        </p:spPr>
        <p:txBody>
          <a:bodyPr wrap="square" lIns="0" tIns="0" rIns="0" bIns="0" rtlCol="0" anchor="ctr"/>
          <a:lstStyle/>
          <a:p>
            <a:pPr marL="0" indent="0" algn="l">
              <a:buNone/>
            </a:pPr>
            <a:r>
              <a:rPr lang="en-US" sz="1600" dirty="0">
                <a:solidFill>
                  <a:srgbClr val="3498DB"/>
                </a:solidFill>
                <a:latin typeface="Noto Sans JP" pitchFamily="34" charset="0"/>
                <a:ea typeface="Noto Sans JP" pitchFamily="34" charset="-122"/>
                <a:cs typeface="Noto Sans JP" pitchFamily="34" charset="-120"/>
              </a:rPr>
              <a:t>システム構造図</a:t>
            </a:r>
            <a:endParaRPr lang="en-US" sz="1600" dirty="0"/>
          </a:p>
        </p:txBody>
      </p:sp>
      <p:sp>
        <p:nvSpPr>
          <p:cNvPr id="8" name="Text 6"/>
          <p:cNvSpPr txBox="1"/>
          <p:nvPr/>
        </p:nvSpPr>
        <p:spPr>
          <a:xfrm>
            <a:off x="905256" y="4053535"/>
            <a:ext cx="2827325" cy="191110"/>
          </a:xfrm>
          <a:prstGeom prst="rect">
            <a:avLst/>
          </a:prstGeom>
          <a:noFill/>
          <a:ln/>
        </p:spPr>
        <p:txBody>
          <a:bodyPr wrap="square" lIns="0" tIns="0" rIns="0" bIns="0" rtlCol="0" anchor="ctr"/>
          <a:lstStyle/>
          <a:p>
            <a:pPr marL="0" indent="0" algn="l">
              <a:buNone/>
            </a:pPr>
            <a:r>
              <a:rPr lang="en-US" sz="1200" b="1" dirty="0">
                <a:solidFill>
                  <a:srgbClr val="FFFFFF"/>
                </a:solidFill>
                <a:latin typeface="Roboto" pitchFamily="34" charset="0"/>
                <a:ea typeface="Roboto" pitchFamily="34" charset="-122"/>
                <a:cs typeface="Roboto" pitchFamily="34" charset="-120"/>
              </a:rPr>
              <a:t>遅延時間の内訳 / Latency Breakdown</a:t>
            </a:r>
            <a:endParaRPr lang="en-US" sz="1200" dirty="0"/>
          </a:p>
        </p:txBody>
      </p:sp>
      <p:sp>
        <p:nvSpPr>
          <p:cNvPr id="9" name="Text 7"/>
          <p:cNvSpPr txBox="1"/>
          <p:nvPr/>
        </p:nvSpPr>
        <p:spPr>
          <a:xfrm>
            <a:off x="952805" y="476402"/>
            <a:ext cx="3372307" cy="400507"/>
          </a:xfrm>
          <a:prstGeom prst="rect">
            <a:avLst/>
          </a:prstGeom>
          <a:noFill/>
          <a:ln/>
        </p:spPr>
        <p:txBody>
          <a:bodyPr wrap="square" lIns="0" tIns="0" rIns="0" bIns="0" rtlCol="0" anchor="ctr"/>
          <a:lstStyle/>
          <a:p>
            <a:pPr marL="0" indent="0" algn="l">
              <a:buNone/>
            </a:pPr>
            <a:r>
              <a:rPr lang="en-US" sz="2700" b="1" dirty="0">
                <a:solidFill>
                  <a:srgbClr val="FFFFFF"/>
                </a:solidFill>
                <a:latin typeface="Roboto" pitchFamily="34" charset="0"/>
                <a:ea typeface="Roboto" pitchFamily="34" charset="-122"/>
                <a:cs typeface="Roboto" pitchFamily="34" charset="-120"/>
              </a:rPr>
              <a:t>Glass-to-Glass Flow</a:t>
            </a:r>
            <a:endParaRPr lang="en-US" sz="2700" dirty="0"/>
          </a:p>
        </p:txBody>
      </p:sp>
      <p:pic>
        <p:nvPicPr>
          <p:cNvPr id="10" name="Image 0" descr="preencoded.png"/>
          <p:cNvPicPr>
            <a:picLocks noChangeAspect="1"/>
          </p:cNvPicPr>
          <p:nvPr/>
        </p:nvPicPr>
        <p:blipFill>
          <a:blip r:embed="rId3"/>
          <a:srcRect l="-1" r="-1"/>
          <a:stretch/>
        </p:blipFill>
        <p:spPr>
          <a:xfrm>
            <a:off x="761695" y="1396289"/>
            <a:ext cx="10668305" cy="2286000"/>
          </a:xfrm>
          <a:prstGeom prst="rect">
            <a:avLst/>
          </a:prstGeom>
        </p:spPr>
      </p:pic>
      <p:sp>
        <p:nvSpPr>
          <p:cNvPr id="11" name="Shape 8"/>
          <p:cNvSpPr/>
          <p:nvPr/>
        </p:nvSpPr>
        <p:spPr>
          <a:xfrm>
            <a:off x="905256" y="5101438"/>
            <a:ext cx="10382098" cy="9144"/>
          </a:xfrm>
          <a:prstGeom prst="rect">
            <a:avLst/>
          </a:prstGeom>
          <a:solidFill>
            <a:srgbClr val="FFFFFF">
              <a:alpha val="10000"/>
            </a:srgbClr>
          </a:solidFill>
          <a:ln/>
        </p:spPr>
        <p:txBody>
          <a:bodyPr/>
          <a:lstStyle/>
          <a:p>
            <a:endParaRPr lang="ja-JP" altLang="en-US"/>
          </a:p>
        </p:txBody>
      </p:sp>
      <p:sp>
        <p:nvSpPr>
          <p:cNvPr id="12" name="Shape 9"/>
          <p:cNvSpPr/>
          <p:nvPr/>
        </p:nvSpPr>
        <p:spPr>
          <a:xfrm>
            <a:off x="905256" y="4368089"/>
            <a:ext cx="1990649" cy="590702"/>
          </a:xfrm>
          <a:prstGeom prst="rect">
            <a:avLst/>
          </a:prstGeom>
          <a:solidFill>
            <a:srgbClr val="E74C3C">
              <a:alpha val="10000"/>
            </a:srgbClr>
          </a:solidFill>
          <a:ln/>
        </p:spPr>
        <p:txBody>
          <a:bodyPr/>
          <a:lstStyle/>
          <a:p>
            <a:endParaRPr lang="ja-JP" altLang="en-US"/>
          </a:p>
        </p:txBody>
      </p:sp>
      <p:sp>
        <p:nvSpPr>
          <p:cNvPr id="13" name="Shape 10"/>
          <p:cNvSpPr/>
          <p:nvPr/>
        </p:nvSpPr>
        <p:spPr>
          <a:xfrm>
            <a:off x="905256" y="4368089"/>
            <a:ext cx="28346" cy="590702"/>
          </a:xfrm>
          <a:prstGeom prst="rect">
            <a:avLst/>
          </a:prstGeom>
          <a:solidFill>
            <a:srgbClr val="E74C3C"/>
          </a:solidFill>
          <a:ln/>
        </p:spPr>
        <p:txBody>
          <a:bodyPr/>
          <a:lstStyle/>
          <a:p>
            <a:endParaRPr lang="ja-JP" altLang="en-US"/>
          </a:p>
        </p:txBody>
      </p:sp>
      <p:sp>
        <p:nvSpPr>
          <p:cNvPr id="14" name="Shape 11"/>
          <p:cNvSpPr/>
          <p:nvPr/>
        </p:nvSpPr>
        <p:spPr>
          <a:xfrm>
            <a:off x="3003804" y="4368089"/>
            <a:ext cx="1990649" cy="590702"/>
          </a:xfrm>
          <a:prstGeom prst="rect">
            <a:avLst/>
          </a:prstGeom>
          <a:solidFill>
            <a:srgbClr val="3498DB">
              <a:alpha val="10000"/>
            </a:srgbClr>
          </a:solidFill>
          <a:ln/>
        </p:spPr>
        <p:txBody>
          <a:bodyPr/>
          <a:lstStyle/>
          <a:p>
            <a:endParaRPr lang="ja-JP" altLang="en-US"/>
          </a:p>
        </p:txBody>
      </p:sp>
      <p:sp>
        <p:nvSpPr>
          <p:cNvPr id="15" name="Shape 12"/>
          <p:cNvSpPr/>
          <p:nvPr/>
        </p:nvSpPr>
        <p:spPr>
          <a:xfrm>
            <a:off x="3003804" y="4368089"/>
            <a:ext cx="28346" cy="590702"/>
          </a:xfrm>
          <a:prstGeom prst="rect">
            <a:avLst/>
          </a:prstGeom>
          <a:solidFill>
            <a:srgbClr val="3498DB"/>
          </a:solidFill>
          <a:ln/>
        </p:spPr>
        <p:txBody>
          <a:bodyPr/>
          <a:lstStyle/>
          <a:p>
            <a:endParaRPr lang="ja-JP" altLang="en-US"/>
          </a:p>
        </p:txBody>
      </p:sp>
      <p:sp>
        <p:nvSpPr>
          <p:cNvPr id="16" name="Shape 13"/>
          <p:cNvSpPr/>
          <p:nvPr/>
        </p:nvSpPr>
        <p:spPr>
          <a:xfrm>
            <a:off x="5103266" y="4368089"/>
            <a:ext cx="1990649" cy="590702"/>
          </a:xfrm>
          <a:prstGeom prst="rect">
            <a:avLst/>
          </a:prstGeom>
          <a:solidFill>
            <a:srgbClr val="E74C3C">
              <a:alpha val="10000"/>
            </a:srgbClr>
          </a:solidFill>
          <a:ln/>
        </p:spPr>
        <p:txBody>
          <a:bodyPr/>
          <a:lstStyle/>
          <a:p>
            <a:endParaRPr lang="ja-JP" altLang="en-US"/>
          </a:p>
        </p:txBody>
      </p:sp>
      <p:sp>
        <p:nvSpPr>
          <p:cNvPr id="17" name="Shape 14"/>
          <p:cNvSpPr/>
          <p:nvPr/>
        </p:nvSpPr>
        <p:spPr>
          <a:xfrm>
            <a:off x="5103266" y="4368089"/>
            <a:ext cx="28346" cy="590702"/>
          </a:xfrm>
          <a:prstGeom prst="rect">
            <a:avLst/>
          </a:prstGeom>
          <a:solidFill>
            <a:srgbClr val="E74C3C"/>
          </a:solidFill>
          <a:ln/>
        </p:spPr>
        <p:txBody>
          <a:bodyPr/>
          <a:lstStyle/>
          <a:p>
            <a:endParaRPr lang="ja-JP" altLang="en-US"/>
          </a:p>
        </p:txBody>
      </p:sp>
      <p:sp>
        <p:nvSpPr>
          <p:cNvPr id="18" name="Shape 15"/>
          <p:cNvSpPr/>
          <p:nvPr/>
        </p:nvSpPr>
        <p:spPr>
          <a:xfrm>
            <a:off x="7202729" y="4368089"/>
            <a:ext cx="1990649" cy="590702"/>
          </a:xfrm>
          <a:prstGeom prst="rect">
            <a:avLst/>
          </a:prstGeom>
          <a:solidFill>
            <a:srgbClr val="3498DB">
              <a:alpha val="10000"/>
            </a:srgbClr>
          </a:solidFill>
          <a:ln/>
        </p:spPr>
        <p:txBody>
          <a:bodyPr/>
          <a:lstStyle/>
          <a:p>
            <a:endParaRPr lang="ja-JP" altLang="en-US"/>
          </a:p>
        </p:txBody>
      </p:sp>
      <p:sp>
        <p:nvSpPr>
          <p:cNvPr id="19" name="Shape 16"/>
          <p:cNvSpPr/>
          <p:nvPr/>
        </p:nvSpPr>
        <p:spPr>
          <a:xfrm>
            <a:off x="7202729" y="4368089"/>
            <a:ext cx="28346" cy="590702"/>
          </a:xfrm>
          <a:prstGeom prst="rect">
            <a:avLst/>
          </a:prstGeom>
          <a:solidFill>
            <a:srgbClr val="3498DB"/>
          </a:solidFill>
          <a:ln/>
        </p:spPr>
        <p:txBody>
          <a:bodyPr/>
          <a:lstStyle/>
          <a:p>
            <a:endParaRPr lang="ja-JP" altLang="en-US"/>
          </a:p>
        </p:txBody>
      </p:sp>
      <p:sp>
        <p:nvSpPr>
          <p:cNvPr id="20" name="Shape 17"/>
          <p:cNvSpPr/>
          <p:nvPr/>
        </p:nvSpPr>
        <p:spPr>
          <a:xfrm>
            <a:off x="9302191" y="4368089"/>
            <a:ext cx="1990649" cy="590702"/>
          </a:xfrm>
          <a:prstGeom prst="rect">
            <a:avLst/>
          </a:prstGeom>
          <a:solidFill>
            <a:srgbClr val="E74C3C">
              <a:alpha val="10000"/>
            </a:srgbClr>
          </a:solidFill>
          <a:ln/>
        </p:spPr>
        <p:txBody>
          <a:bodyPr/>
          <a:lstStyle/>
          <a:p>
            <a:endParaRPr lang="ja-JP" altLang="en-US"/>
          </a:p>
        </p:txBody>
      </p:sp>
      <p:sp>
        <p:nvSpPr>
          <p:cNvPr id="21" name="Shape 18"/>
          <p:cNvSpPr/>
          <p:nvPr/>
        </p:nvSpPr>
        <p:spPr>
          <a:xfrm>
            <a:off x="9302191" y="4368089"/>
            <a:ext cx="28346" cy="590702"/>
          </a:xfrm>
          <a:prstGeom prst="rect">
            <a:avLst/>
          </a:prstGeom>
          <a:solidFill>
            <a:srgbClr val="E74C3C"/>
          </a:solidFill>
          <a:ln/>
        </p:spPr>
        <p:txBody>
          <a:bodyPr/>
          <a:lstStyle/>
          <a:p>
            <a:endParaRPr lang="ja-JP" altLang="en-US"/>
          </a:p>
        </p:txBody>
      </p:sp>
      <p:sp>
        <p:nvSpPr>
          <p:cNvPr id="22" name="Text 19"/>
          <p:cNvSpPr txBox="1"/>
          <p:nvPr/>
        </p:nvSpPr>
        <p:spPr>
          <a:xfrm>
            <a:off x="1047902" y="4473245"/>
            <a:ext cx="1264615" cy="143561"/>
          </a:xfrm>
          <a:prstGeom prst="rect">
            <a:avLst/>
          </a:prstGeom>
          <a:noFill/>
          <a:ln/>
        </p:spPr>
        <p:txBody>
          <a:bodyPr wrap="square" lIns="0" tIns="0" rIns="0" bIns="0" rtlCol="0" anchor="ctr"/>
          <a:lstStyle/>
          <a:p>
            <a:pPr marL="0" indent="0" algn="l">
              <a:buNone/>
            </a:pPr>
            <a:r>
              <a:rPr lang="en-US" sz="900" dirty="0">
                <a:solidFill>
                  <a:srgbClr val="E74C3C"/>
                </a:solidFill>
                <a:latin typeface="Roboto" pitchFamily="34" charset="0"/>
                <a:ea typeface="Roboto" pitchFamily="34" charset="-122"/>
                <a:cs typeface="Roboto" pitchFamily="34" charset="-120"/>
              </a:rPr>
              <a:t>キャプチャ / Capture</a:t>
            </a:r>
            <a:endParaRPr lang="en-US" sz="900" dirty="0"/>
          </a:p>
        </p:txBody>
      </p:sp>
      <p:sp>
        <p:nvSpPr>
          <p:cNvPr id="23" name="Text 20"/>
          <p:cNvSpPr txBox="1"/>
          <p:nvPr/>
        </p:nvSpPr>
        <p:spPr>
          <a:xfrm>
            <a:off x="1047902" y="4691786"/>
            <a:ext cx="781812" cy="181051"/>
          </a:xfrm>
          <a:prstGeom prst="rect">
            <a:avLst/>
          </a:prstGeom>
          <a:noFill/>
          <a:ln/>
        </p:spPr>
        <p:txBody>
          <a:bodyPr wrap="square" lIns="0" tIns="0" rIns="0" bIns="0" rtlCol="0" anchor="ctr"/>
          <a:lstStyle/>
          <a:p>
            <a:pPr marL="0" indent="0" algn="l">
              <a:buNone/>
            </a:pPr>
            <a:r>
              <a:rPr lang="en-US" sz="1200" b="1" dirty="0">
                <a:solidFill>
                  <a:srgbClr val="FFFFFF"/>
                </a:solidFill>
                <a:latin typeface="Roboto" pitchFamily="34" charset="0"/>
                <a:ea typeface="Roboto" pitchFamily="34" charset="-122"/>
                <a:cs typeface="Roboto" pitchFamily="34" charset="-120"/>
              </a:rPr>
              <a:t>0〜20 ms</a:t>
            </a:r>
            <a:endParaRPr lang="en-US" sz="1200" dirty="0"/>
          </a:p>
        </p:txBody>
      </p:sp>
      <p:sp>
        <p:nvSpPr>
          <p:cNvPr id="24" name="Text 21"/>
          <p:cNvSpPr txBox="1"/>
          <p:nvPr/>
        </p:nvSpPr>
        <p:spPr>
          <a:xfrm>
            <a:off x="3147365" y="4473245"/>
            <a:ext cx="865022" cy="143561"/>
          </a:xfrm>
          <a:prstGeom prst="rect">
            <a:avLst/>
          </a:prstGeom>
          <a:noFill/>
          <a:ln/>
        </p:spPr>
        <p:txBody>
          <a:bodyPr wrap="square" lIns="0" tIns="0" rIns="0" bIns="0" rtlCol="0" anchor="ctr"/>
          <a:lstStyle/>
          <a:p>
            <a:pPr marL="0" indent="0" algn="l">
              <a:buNone/>
            </a:pPr>
            <a:r>
              <a:rPr lang="en-US" sz="900" dirty="0">
                <a:solidFill>
                  <a:srgbClr val="3498DB"/>
                </a:solidFill>
                <a:latin typeface="Roboto" pitchFamily="34" charset="0"/>
                <a:ea typeface="Roboto" pitchFamily="34" charset="-122"/>
                <a:cs typeface="Roboto" pitchFamily="34" charset="-120"/>
              </a:rPr>
              <a:t>圧縮 / Encode</a:t>
            </a:r>
            <a:endParaRPr lang="en-US" sz="900" dirty="0"/>
          </a:p>
        </p:txBody>
      </p:sp>
      <p:sp>
        <p:nvSpPr>
          <p:cNvPr id="25" name="Text 22"/>
          <p:cNvSpPr txBox="1"/>
          <p:nvPr/>
        </p:nvSpPr>
        <p:spPr>
          <a:xfrm>
            <a:off x="3147365" y="4691786"/>
            <a:ext cx="866851" cy="181051"/>
          </a:xfrm>
          <a:prstGeom prst="rect">
            <a:avLst/>
          </a:prstGeom>
          <a:noFill/>
          <a:ln/>
        </p:spPr>
        <p:txBody>
          <a:bodyPr wrap="square" lIns="0" tIns="0" rIns="0" bIns="0" rtlCol="0" anchor="ctr"/>
          <a:lstStyle/>
          <a:p>
            <a:pPr marL="0" indent="0" algn="l">
              <a:buNone/>
            </a:pPr>
            <a:r>
              <a:rPr lang="en-US" sz="1200" b="1" dirty="0">
                <a:solidFill>
                  <a:srgbClr val="FFFFFF"/>
                </a:solidFill>
                <a:latin typeface="Roboto" pitchFamily="34" charset="0"/>
                <a:ea typeface="Roboto" pitchFamily="34" charset="-122"/>
                <a:cs typeface="Roboto" pitchFamily="34" charset="-120"/>
              </a:rPr>
              <a:t>50〜80 ms</a:t>
            </a:r>
            <a:endParaRPr lang="en-US" sz="1200" dirty="0"/>
          </a:p>
        </p:txBody>
      </p:sp>
      <p:sp>
        <p:nvSpPr>
          <p:cNvPr id="26" name="Text 23"/>
          <p:cNvSpPr txBox="1"/>
          <p:nvPr/>
        </p:nvSpPr>
        <p:spPr>
          <a:xfrm>
            <a:off x="5246827" y="4473245"/>
            <a:ext cx="998525" cy="143561"/>
          </a:xfrm>
          <a:prstGeom prst="rect">
            <a:avLst/>
          </a:prstGeom>
          <a:noFill/>
          <a:ln/>
        </p:spPr>
        <p:txBody>
          <a:bodyPr wrap="square" lIns="0" tIns="0" rIns="0" bIns="0" rtlCol="0" anchor="ctr"/>
          <a:lstStyle/>
          <a:p>
            <a:pPr marL="0" indent="0" algn="l">
              <a:buNone/>
            </a:pPr>
            <a:r>
              <a:rPr lang="en-US" sz="900" dirty="0">
                <a:solidFill>
                  <a:srgbClr val="E74C3C"/>
                </a:solidFill>
                <a:latin typeface="Roboto" pitchFamily="34" charset="0"/>
                <a:ea typeface="Roboto" pitchFamily="34" charset="-122"/>
                <a:cs typeface="Roboto" pitchFamily="34" charset="-120"/>
              </a:rPr>
              <a:t>送信 / Transport</a:t>
            </a:r>
            <a:endParaRPr lang="en-US" sz="900" dirty="0"/>
          </a:p>
        </p:txBody>
      </p:sp>
      <p:sp>
        <p:nvSpPr>
          <p:cNvPr id="27" name="Text 24"/>
          <p:cNvSpPr txBox="1"/>
          <p:nvPr/>
        </p:nvSpPr>
        <p:spPr>
          <a:xfrm>
            <a:off x="5246827" y="4691786"/>
            <a:ext cx="866851" cy="181051"/>
          </a:xfrm>
          <a:prstGeom prst="rect">
            <a:avLst/>
          </a:prstGeom>
          <a:noFill/>
          <a:ln/>
        </p:spPr>
        <p:txBody>
          <a:bodyPr wrap="square" lIns="0" tIns="0" rIns="0" bIns="0" rtlCol="0" anchor="ctr"/>
          <a:lstStyle/>
          <a:p>
            <a:pPr marL="0" indent="0" algn="l">
              <a:buNone/>
            </a:pPr>
            <a:r>
              <a:rPr lang="en-US" sz="1200" b="1" dirty="0">
                <a:solidFill>
                  <a:srgbClr val="FFFFFF"/>
                </a:solidFill>
                <a:latin typeface="Roboto" pitchFamily="34" charset="0"/>
                <a:ea typeface="Roboto" pitchFamily="34" charset="-122"/>
                <a:cs typeface="Roboto" pitchFamily="34" charset="-120"/>
              </a:rPr>
              <a:t>0〜100 ms</a:t>
            </a:r>
            <a:endParaRPr lang="en-US" sz="1200" dirty="0"/>
          </a:p>
        </p:txBody>
      </p:sp>
      <p:sp>
        <p:nvSpPr>
          <p:cNvPr id="28" name="Text 25"/>
          <p:cNvSpPr txBox="1"/>
          <p:nvPr/>
        </p:nvSpPr>
        <p:spPr>
          <a:xfrm>
            <a:off x="7346290" y="4473245"/>
            <a:ext cx="1274674" cy="143561"/>
          </a:xfrm>
          <a:prstGeom prst="rect">
            <a:avLst/>
          </a:prstGeom>
          <a:noFill/>
          <a:ln/>
        </p:spPr>
        <p:txBody>
          <a:bodyPr wrap="square" lIns="0" tIns="0" rIns="0" bIns="0" rtlCol="0" anchor="ctr"/>
          <a:lstStyle/>
          <a:p>
            <a:pPr marL="0" indent="0" algn="l">
              <a:buNone/>
            </a:pPr>
            <a:r>
              <a:rPr lang="en-US" sz="900" dirty="0">
                <a:solidFill>
                  <a:srgbClr val="3498DB"/>
                </a:solidFill>
                <a:latin typeface="Roboto" pitchFamily="34" charset="0"/>
                <a:ea typeface="Roboto" pitchFamily="34" charset="-122"/>
                <a:cs typeface="Roboto" pitchFamily="34" charset="-120"/>
              </a:rPr>
              <a:t>クラウド処理 / Cloud</a:t>
            </a:r>
            <a:endParaRPr lang="en-US" sz="900" dirty="0"/>
          </a:p>
        </p:txBody>
      </p:sp>
      <p:sp>
        <p:nvSpPr>
          <p:cNvPr id="29" name="Text 26"/>
          <p:cNvSpPr txBox="1"/>
          <p:nvPr/>
        </p:nvSpPr>
        <p:spPr>
          <a:xfrm>
            <a:off x="7346290" y="4691786"/>
            <a:ext cx="952805" cy="181051"/>
          </a:xfrm>
          <a:prstGeom prst="rect">
            <a:avLst/>
          </a:prstGeom>
          <a:noFill/>
          <a:ln/>
        </p:spPr>
        <p:txBody>
          <a:bodyPr wrap="square" lIns="0" tIns="0" rIns="0" bIns="0" rtlCol="0" anchor="ctr"/>
          <a:lstStyle/>
          <a:p>
            <a:pPr marL="0" indent="0" algn="l">
              <a:buNone/>
            </a:pPr>
            <a:r>
              <a:rPr lang="en-US" sz="1200" b="1" dirty="0">
                <a:solidFill>
                  <a:srgbClr val="FFFFFF"/>
                </a:solidFill>
                <a:latin typeface="Roboto" pitchFamily="34" charset="0"/>
                <a:ea typeface="Roboto" pitchFamily="34" charset="-122"/>
                <a:cs typeface="Roboto" pitchFamily="34" charset="-120"/>
              </a:rPr>
              <a:t>50〜200 ms</a:t>
            </a:r>
            <a:endParaRPr lang="en-US" sz="1200" dirty="0"/>
          </a:p>
        </p:txBody>
      </p:sp>
      <p:sp>
        <p:nvSpPr>
          <p:cNvPr id="30" name="Text 27"/>
          <p:cNvSpPr txBox="1"/>
          <p:nvPr/>
        </p:nvSpPr>
        <p:spPr>
          <a:xfrm>
            <a:off x="9444838" y="4473245"/>
            <a:ext cx="1121969" cy="143561"/>
          </a:xfrm>
          <a:prstGeom prst="rect">
            <a:avLst/>
          </a:prstGeom>
          <a:noFill/>
          <a:ln/>
        </p:spPr>
        <p:txBody>
          <a:bodyPr wrap="square" lIns="0" tIns="0" rIns="0" bIns="0" rtlCol="0" anchor="ctr"/>
          <a:lstStyle/>
          <a:p>
            <a:pPr marL="0" indent="0" algn="l">
              <a:buNone/>
            </a:pPr>
            <a:r>
              <a:rPr lang="en-US" sz="900" dirty="0">
                <a:solidFill>
                  <a:srgbClr val="E74C3C"/>
                </a:solidFill>
                <a:latin typeface="Roboto" pitchFamily="34" charset="0"/>
                <a:ea typeface="Roboto" pitchFamily="34" charset="-122"/>
                <a:cs typeface="Roboto" pitchFamily="34" charset="-120"/>
              </a:rPr>
              <a:t>デコード / Decode</a:t>
            </a:r>
            <a:endParaRPr lang="en-US" sz="900" dirty="0"/>
          </a:p>
        </p:txBody>
      </p:sp>
      <p:sp>
        <p:nvSpPr>
          <p:cNvPr id="31" name="Text 28"/>
          <p:cNvSpPr txBox="1"/>
          <p:nvPr/>
        </p:nvSpPr>
        <p:spPr>
          <a:xfrm>
            <a:off x="9444838" y="4691786"/>
            <a:ext cx="866851" cy="181051"/>
          </a:xfrm>
          <a:prstGeom prst="rect">
            <a:avLst/>
          </a:prstGeom>
          <a:noFill/>
          <a:ln/>
        </p:spPr>
        <p:txBody>
          <a:bodyPr wrap="square" lIns="0" tIns="0" rIns="0" bIns="0" rtlCol="0" anchor="ctr"/>
          <a:lstStyle/>
          <a:p>
            <a:pPr marL="0" indent="0" algn="l">
              <a:buNone/>
            </a:pPr>
            <a:r>
              <a:rPr lang="en-US" sz="1200" b="1" dirty="0">
                <a:solidFill>
                  <a:srgbClr val="FFFFFF"/>
                </a:solidFill>
                <a:latin typeface="Roboto" pitchFamily="34" charset="0"/>
                <a:ea typeface="Roboto" pitchFamily="34" charset="-122"/>
                <a:cs typeface="Roboto" pitchFamily="34" charset="-120"/>
              </a:rPr>
              <a:t>20〜50 ms</a:t>
            </a:r>
            <a:endParaRPr lang="en-US" sz="1200" dirty="0"/>
          </a:p>
        </p:txBody>
      </p:sp>
      <p:pic>
        <p:nvPicPr>
          <p:cNvPr id="32" name="Image 1" descr="preencoded.png"/>
          <p:cNvPicPr>
            <a:picLocks noChangeAspect="1"/>
          </p:cNvPicPr>
          <p:nvPr/>
        </p:nvPicPr>
        <p:blipFill>
          <a:blip r:embed="rId4"/>
          <a:srcRect t="-43" b="-43"/>
          <a:stretch/>
        </p:blipFill>
        <p:spPr>
          <a:xfrm>
            <a:off x="8980322" y="5273345"/>
            <a:ext cx="133502" cy="152705"/>
          </a:xfrm>
          <a:prstGeom prst="rect">
            <a:avLst/>
          </a:prstGeom>
        </p:spPr>
      </p:pic>
      <p:sp>
        <p:nvSpPr>
          <p:cNvPr id="33" name="Text 29"/>
          <p:cNvSpPr txBox="1"/>
          <p:nvPr/>
        </p:nvSpPr>
        <p:spPr>
          <a:xfrm>
            <a:off x="9189720" y="5263286"/>
            <a:ext cx="2233879" cy="200254"/>
          </a:xfrm>
          <a:prstGeom prst="rect">
            <a:avLst/>
          </a:prstGeom>
          <a:noFill/>
          <a:ln/>
        </p:spPr>
        <p:txBody>
          <a:bodyPr wrap="square" lIns="0" tIns="0" rIns="0" bIns="0" rtlCol="0" anchor="ctr"/>
          <a:lstStyle/>
          <a:p>
            <a:pPr marL="0" indent="0" algn="l">
              <a:buNone/>
            </a:pPr>
            <a:r>
              <a:rPr lang="en-US" sz="1300" b="1" dirty="0">
                <a:solidFill>
                  <a:srgbClr val="FFFFFF"/>
                </a:solidFill>
                <a:latin typeface="Roboto" pitchFamily="34" charset="0"/>
                <a:ea typeface="Roboto" pitchFamily="34" charset="-122"/>
                <a:cs typeface="Roboto" pitchFamily="34" charset="-120"/>
              </a:rPr>
              <a:t>Total: 0.5〜2秒 / 500ms-2s</a:t>
            </a:r>
            <a:endParaRPr lang="en-US" sz="1300" dirty="0"/>
          </a:p>
        </p:txBody>
      </p:sp>
      <p:pic>
        <p:nvPicPr>
          <p:cNvPr id="34" name="Image 2" descr="preencoded.png"/>
          <p:cNvPicPr>
            <a:picLocks noChangeAspect="1"/>
          </p:cNvPicPr>
          <p:nvPr/>
        </p:nvPicPr>
        <p:blipFill>
          <a:blip r:embed="rId5"/>
          <a:srcRect/>
          <a:stretch/>
        </p:blipFill>
        <p:spPr>
          <a:xfrm>
            <a:off x="761695" y="6521501"/>
            <a:ext cx="123444" cy="123444"/>
          </a:xfrm>
          <a:prstGeom prst="rect">
            <a:avLst/>
          </a:prstGeom>
        </p:spPr>
      </p:pic>
      <p:sp>
        <p:nvSpPr>
          <p:cNvPr id="35" name="Text 30"/>
          <p:cNvSpPr txBox="1"/>
          <p:nvPr/>
        </p:nvSpPr>
        <p:spPr>
          <a:xfrm>
            <a:off x="933602" y="6515100"/>
            <a:ext cx="4722876" cy="143561"/>
          </a:xfrm>
          <a:prstGeom prst="rect">
            <a:avLst/>
          </a:prstGeom>
          <a:noFill/>
          <a:ln/>
        </p:spPr>
        <p:txBody>
          <a:bodyPr wrap="square" lIns="0" tIns="0" rIns="0" bIns="0" rtlCol="0" anchor="ctr"/>
          <a:lstStyle/>
          <a:p>
            <a:pPr marL="0" indent="0" algn="l">
              <a:buNone/>
            </a:pPr>
            <a:r>
              <a:rPr lang="en-US" sz="900" dirty="0">
                <a:solidFill>
                  <a:srgbClr val="888888"/>
                </a:solidFill>
                <a:latin typeface="Roboto" pitchFamily="34" charset="0"/>
                <a:ea typeface="Roboto" pitchFamily="34" charset="-122"/>
                <a:cs typeface="Roboto" pitchFamily="34" charset="-120"/>
              </a:rPr>
              <a:t>環境によって遅延時間は変動します / Latency may vary based on network conditions</a:t>
            </a:r>
            <a:endParaRPr lang="en-US" sz="900" dirty="0"/>
          </a:p>
        </p:txBody>
      </p:sp>
      <p:sp>
        <p:nvSpPr>
          <p:cNvPr id="36" name="Text 31"/>
          <p:cNvSpPr txBox="1"/>
          <p:nvPr/>
        </p:nvSpPr>
        <p:spPr>
          <a:xfrm>
            <a:off x="10468051" y="6505956"/>
            <a:ext cx="1055218" cy="143561"/>
          </a:xfrm>
          <a:prstGeom prst="rect">
            <a:avLst/>
          </a:prstGeom>
          <a:noFill/>
          <a:ln/>
        </p:spPr>
        <p:txBody>
          <a:bodyPr wrap="square" lIns="0" tIns="0" rIns="0" bIns="0" rtlCol="0" anchor="ctr"/>
          <a:lstStyle/>
          <a:p>
            <a:pPr marL="0" indent="0" algn="l">
              <a:buNone/>
            </a:pPr>
            <a:r>
              <a:rPr lang="en-US" sz="900" dirty="0">
                <a:solidFill>
                  <a:srgbClr val="888888"/>
                </a:solidFill>
                <a:latin typeface="Roboto" pitchFamily="34" charset="0"/>
                <a:ea typeface="Roboto" pitchFamily="34" charset="-122"/>
                <a:cs typeface="Roboto" pitchFamily="34" charset="-120"/>
              </a:rPr>
              <a:t>iZCast | UNSOLID</a:t>
            </a:r>
            <a:endParaRPr lang="en-US" sz="900" dirty="0"/>
          </a:p>
        </p:txBody>
      </p:sp>
      <p:sp>
        <p:nvSpPr>
          <p:cNvPr id="37" name="Shape 32"/>
          <p:cNvSpPr/>
          <p:nvPr/>
        </p:nvSpPr>
        <p:spPr>
          <a:xfrm>
            <a:off x="9744761" y="6558077"/>
            <a:ext cx="286207" cy="38405"/>
          </a:xfrm>
          <a:prstGeom prst="rect">
            <a:avLst/>
          </a:prstGeom>
          <a:solidFill>
            <a:srgbClr val="E74C3C"/>
          </a:solidFill>
          <a:ln/>
        </p:spPr>
        <p:txBody>
          <a:bodyPr/>
          <a:lstStyle/>
          <a:p>
            <a:endParaRPr lang="ja-JP" altLang="en-US"/>
          </a:p>
        </p:txBody>
      </p:sp>
      <p:sp>
        <p:nvSpPr>
          <p:cNvPr id="38" name="Shape 33"/>
          <p:cNvSpPr/>
          <p:nvPr/>
        </p:nvSpPr>
        <p:spPr>
          <a:xfrm>
            <a:off x="10106863" y="6558077"/>
            <a:ext cx="286207" cy="38405"/>
          </a:xfrm>
          <a:prstGeom prst="rect">
            <a:avLst/>
          </a:prstGeom>
          <a:solidFill>
            <a:srgbClr val="3498DB"/>
          </a:solidFill>
          <a:ln/>
        </p:spPr>
        <p:txBody>
          <a:bodyPr/>
          <a:lstStyle/>
          <a:p>
            <a:endParaRPr lang="ja-JP"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991502"/>
          </a:xfrm>
          <a:prstGeom prst="rect">
            <a:avLst/>
          </a:prstGeom>
          <a:solidFill>
            <a:srgbClr val="2C3E50"/>
          </a:solidFill>
          <a:ln/>
        </p:spPr>
        <p:txBody>
          <a:bodyPr/>
          <a:lstStyle/>
          <a:p>
            <a:endParaRPr lang="ja-JP" altLang="en-US"/>
          </a:p>
        </p:txBody>
      </p:sp>
      <p:sp>
        <p:nvSpPr>
          <p:cNvPr id="3" name="Shape 1"/>
          <p:cNvSpPr/>
          <p:nvPr/>
        </p:nvSpPr>
        <p:spPr>
          <a:xfrm>
            <a:off x="761695" y="381305"/>
            <a:ext cx="47549" cy="942746"/>
          </a:xfrm>
          <a:prstGeom prst="rect">
            <a:avLst/>
          </a:prstGeom>
          <a:solidFill>
            <a:srgbClr val="E74C3C"/>
          </a:solidFill>
          <a:ln/>
        </p:spPr>
        <p:txBody>
          <a:bodyPr/>
          <a:lstStyle/>
          <a:p>
            <a:endParaRPr lang="ja-JP" altLang="en-US"/>
          </a:p>
        </p:txBody>
      </p:sp>
      <p:sp>
        <p:nvSpPr>
          <p:cNvPr id="4" name="Shape 2"/>
          <p:cNvSpPr/>
          <p:nvPr/>
        </p:nvSpPr>
        <p:spPr>
          <a:xfrm>
            <a:off x="761695" y="6429146"/>
            <a:ext cx="10668305" cy="9144"/>
          </a:xfrm>
          <a:prstGeom prst="rect">
            <a:avLst/>
          </a:prstGeom>
          <a:solidFill>
            <a:srgbClr val="FFFFFF">
              <a:alpha val="10000"/>
            </a:srgbClr>
          </a:solidFill>
          <a:ln/>
        </p:spPr>
        <p:txBody>
          <a:bodyPr/>
          <a:lstStyle/>
          <a:p>
            <a:endParaRPr lang="ja-JP" altLang="en-US"/>
          </a:p>
        </p:txBody>
      </p:sp>
      <p:sp>
        <p:nvSpPr>
          <p:cNvPr id="5" name="Text 3"/>
          <p:cNvSpPr txBox="1"/>
          <p:nvPr/>
        </p:nvSpPr>
        <p:spPr>
          <a:xfrm>
            <a:off x="952805" y="381305"/>
            <a:ext cx="1343254" cy="181051"/>
          </a:xfrm>
          <a:prstGeom prst="rect">
            <a:avLst/>
          </a:prstGeom>
          <a:noFill/>
          <a:ln/>
        </p:spPr>
        <p:txBody>
          <a:bodyPr wrap="square" lIns="0" tIns="0" rIns="0" bIns="0" rtlCol="0" anchor="ctr"/>
          <a:lstStyle/>
          <a:p>
            <a:pPr marL="0" indent="0" algn="l">
              <a:buNone/>
            </a:pPr>
            <a:r>
              <a:rPr lang="en-US" sz="1200" b="1" dirty="0">
                <a:solidFill>
                  <a:srgbClr val="3498DB"/>
                </a:solidFill>
                <a:latin typeface="Roboto" pitchFamily="34" charset="0"/>
                <a:ea typeface="Roboto" pitchFamily="34" charset="-122"/>
                <a:cs typeface="Roboto" pitchFamily="34" charset="-120"/>
              </a:rPr>
              <a:t>TRACK RECORD</a:t>
            </a:r>
            <a:endParaRPr lang="en-US" sz="1200" dirty="0"/>
          </a:p>
        </p:txBody>
      </p:sp>
      <p:sp>
        <p:nvSpPr>
          <p:cNvPr id="6" name="Text 4"/>
          <p:cNvSpPr txBox="1"/>
          <p:nvPr/>
        </p:nvSpPr>
        <p:spPr>
          <a:xfrm>
            <a:off x="952805" y="1016813"/>
            <a:ext cx="1004926" cy="305410"/>
          </a:xfrm>
          <a:prstGeom prst="rect">
            <a:avLst/>
          </a:prstGeom>
          <a:noFill/>
          <a:ln/>
        </p:spPr>
        <p:txBody>
          <a:bodyPr wrap="square" lIns="0" tIns="0" rIns="0" bIns="0" rtlCol="0" anchor="ctr"/>
          <a:lstStyle/>
          <a:p>
            <a:pPr marL="0" indent="0" algn="l">
              <a:buNone/>
            </a:pPr>
            <a:r>
              <a:rPr lang="en-US" sz="1600" dirty="0">
                <a:solidFill>
                  <a:srgbClr val="E74C3C"/>
                </a:solidFill>
                <a:latin typeface="Noto Sans JP" pitchFamily="34" charset="0"/>
                <a:ea typeface="Noto Sans JP" pitchFamily="34" charset="-122"/>
                <a:cs typeface="Noto Sans JP" pitchFamily="34" charset="-120"/>
              </a:rPr>
              <a:t>実績紹介</a:t>
            </a:r>
            <a:endParaRPr lang="en-US" sz="1600" dirty="0"/>
          </a:p>
        </p:txBody>
      </p:sp>
      <p:sp>
        <p:nvSpPr>
          <p:cNvPr id="7" name="Text 5"/>
          <p:cNvSpPr txBox="1"/>
          <p:nvPr/>
        </p:nvSpPr>
        <p:spPr>
          <a:xfrm>
            <a:off x="952805" y="571500"/>
            <a:ext cx="2405786" cy="419710"/>
          </a:xfrm>
          <a:prstGeom prst="rect">
            <a:avLst/>
          </a:prstGeom>
          <a:noFill/>
          <a:ln/>
        </p:spPr>
        <p:txBody>
          <a:bodyPr wrap="square" lIns="0" tIns="0" rIns="0" bIns="0" rtlCol="0" anchor="ctr"/>
          <a:lstStyle/>
          <a:p>
            <a:pPr marL="0" indent="0" algn="l">
              <a:buNone/>
            </a:pPr>
            <a:r>
              <a:rPr lang="en-US" sz="2800" b="1" dirty="0">
                <a:solidFill>
                  <a:srgbClr val="FFFFFF"/>
                </a:solidFill>
                <a:latin typeface="Roboto" pitchFamily="34" charset="0"/>
                <a:ea typeface="Roboto" pitchFamily="34" charset="-122"/>
                <a:cs typeface="Roboto" pitchFamily="34" charset="-120"/>
              </a:rPr>
              <a:t>Case Studies</a:t>
            </a:r>
            <a:endParaRPr lang="en-US" sz="2800" dirty="0"/>
          </a:p>
        </p:txBody>
      </p:sp>
      <p:sp>
        <p:nvSpPr>
          <p:cNvPr id="8" name="Shape 6"/>
          <p:cNvSpPr/>
          <p:nvPr/>
        </p:nvSpPr>
        <p:spPr>
          <a:xfrm>
            <a:off x="761695" y="5379415"/>
            <a:ext cx="5191049" cy="886054"/>
          </a:xfrm>
          <a:prstGeom prst="roundRect">
            <a:avLst>
              <a:gd name="adj" fmla="val 8877"/>
            </a:avLst>
          </a:prstGeom>
          <a:solidFill>
            <a:srgbClr val="E74C3C">
              <a:alpha val="10000"/>
            </a:srgbClr>
          </a:solidFill>
          <a:ln w="12700">
            <a:solidFill>
              <a:srgbClr val="E74C3C">
                <a:alpha val="30000"/>
              </a:srgbClr>
            </a:solidFill>
            <a:prstDash val="solid"/>
          </a:ln>
        </p:spPr>
        <p:txBody>
          <a:bodyPr/>
          <a:lstStyle/>
          <a:p>
            <a:endParaRPr lang="ja-JP" altLang="en-US"/>
          </a:p>
        </p:txBody>
      </p:sp>
      <p:sp>
        <p:nvSpPr>
          <p:cNvPr id="9" name="Shape 7"/>
          <p:cNvSpPr/>
          <p:nvPr/>
        </p:nvSpPr>
        <p:spPr>
          <a:xfrm>
            <a:off x="6238951" y="5379415"/>
            <a:ext cx="5191049" cy="886054"/>
          </a:xfrm>
          <a:prstGeom prst="roundRect">
            <a:avLst>
              <a:gd name="adj" fmla="val 8877"/>
            </a:avLst>
          </a:prstGeom>
          <a:solidFill>
            <a:srgbClr val="3498DB">
              <a:alpha val="10000"/>
            </a:srgbClr>
          </a:solidFill>
          <a:ln w="12700">
            <a:solidFill>
              <a:srgbClr val="3498DB">
                <a:alpha val="30000"/>
              </a:srgbClr>
            </a:solidFill>
            <a:prstDash val="solid"/>
          </a:ln>
        </p:spPr>
        <p:txBody>
          <a:bodyPr/>
          <a:lstStyle/>
          <a:p>
            <a:endParaRPr lang="ja-JP" altLang="en-US"/>
          </a:p>
        </p:txBody>
      </p:sp>
      <p:sp>
        <p:nvSpPr>
          <p:cNvPr id="10" name="Shape 8"/>
          <p:cNvSpPr/>
          <p:nvPr/>
        </p:nvSpPr>
        <p:spPr>
          <a:xfrm>
            <a:off x="761695" y="2159813"/>
            <a:ext cx="5191049" cy="1352398"/>
          </a:xfrm>
          <a:prstGeom prst="roundRect">
            <a:avLst>
              <a:gd name="adj" fmla="val 3809"/>
            </a:avLst>
          </a:prstGeom>
          <a:noFill/>
          <a:ln w="12700">
            <a:solidFill>
              <a:srgbClr val="FFFFFF">
                <a:alpha val="10000"/>
              </a:srgbClr>
            </a:solidFill>
            <a:prstDash val="solid"/>
          </a:ln>
        </p:spPr>
        <p:txBody>
          <a:bodyPr/>
          <a:lstStyle/>
          <a:p>
            <a:endParaRPr lang="ja-JP" altLang="en-US"/>
          </a:p>
        </p:txBody>
      </p:sp>
      <p:sp>
        <p:nvSpPr>
          <p:cNvPr id="11" name="Shape 9"/>
          <p:cNvSpPr/>
          <p:nvPr/>
        </p:nvSpPr>
        <p:spPr>
          <a:xfrm>
            <a:off x="761695" y="1588313"/>
            <a:ext cx="476402" cy="476402"/>
          </a:xfrm>
          <a:prstGeom prst="ellipse">
            <a:avLst/>
          </a:prstGeom>
          <a:solidFill>
            <a:srgbClr val="E74C3C">
              <a:alpha val="15000"/>
            </a:srgbClr>
          </a:solidFill>
          <a:ln/>
        </p:spPr>
        <p:txBody>
          <a:bodyPr/>
          <a:lstStyle/>
          <a:p>
            <a:endParaRPr lang="ja-JP" altLang="en-US"/>
          </a:p>
        </p:txBody>
      </p:sp>
      <p:pic>
        <p:nvPicPr>
          <p:cNvPr id="12" name="Image 0" descr="preencoded.png"/>
          <p:cNvPicPr>
            <a:picLocks noChangeAspect="1"/>
          </p:cNvPicPr>
          <p:nvPr/>
        </p:nvPicPr>
        <p:blipFill>
          <a:blip r:embed="rId3"/>
          <a:srcRect l="-57" r="-57"/>
          <a:stretch/>
        </p:blipFill>
        <p:spPr>
          <a:xfrm>
            <a:off x="899770" y="1712671"/>
            <a:ext cx="200254" cy="228600"/>
          </a:xfrm>
          <a:prstGeom prst="rect">
            <a:avLst/>
          </a:prstGeom>
        </p:spPr>
      </p:pic>
      <p:sp>
        <p:nvSpPr>
          <p:cNvPr id="13" name="Shape 10"/>
          <p:cNvSpPr/>
          <p:nvPr/>
        </p:nvSpPr>
        <p:spPr>
          <a:xfrm>
            <a:off x="6238951" y="2159813"/>
            <a:ext cx="5191049" cy="1352398"/>
          </a:xfrm>
          <a:prstGeom prst="roundRect">
            <a:avLst>
              <a:gd name="adj" fmla="val 3809"/>
            </a:avLst>
          </a:prstGeom>
          <a:noFill/>
          <a:ln w="12700">
            <a:solidFill>
              <a:srgbClr val="FFFFFF">
                <a:alpha val="10000"/>
              </a:srgbClr>
            </a:solidFill>
            <a:prstDash val="solid"/>
          </a:ln>
        </p:spPr>
        <p:txBody>
          <a:bodyPr/>
          <a:lstStyle/>
          <a:p>
            <a:endParaRPr lang="ja-JP" altLang="en-US"/>
          </a:p>
        </p:txBody>
      </p:sp>
      <p:sp>
        <p:nvSpPr>
          <p:cNvPr id="14" name="Shape 11"/>
          <p:cNvSpPr/>
          <p:nvPr/>
        </p:nvSpPr>
        <p:spPr>
          <a:xfrm>
            <a:off x="9670694" y="6610198"/>
            <a:ext cx="286207" cy="38405"/>
          </a:xfrm>
          <a:prstGeom prst="rect">
            <a:avLst/>
          </a:prstGeom>
          <a:solidFill>
            <a:srgbClr val="E74C3C"/>
          </a:solidFill>
          <a:ln/>
        </p:spPr>
        <p:txBody>
          <a:bodyPr/>
          <a:lstStyle/>
          <a:p>
            <a:endParaRPr lang="ja-JP" altLang="en-US"/>
          </a:p>
        </p:txBody>
      </p:sp>
      <p:sp>
        <p:nvSpPr>
          <p:cNvPr id="15" name="Shape 12"/>
          <p:cNvSpPr/>
          <p:nvPr/>
        </p:nvSpPr>
        <p:spPr>
          <a:xfrm>
            <a:off x="10032797" y="6610198"/>
            <a:ext cx="286207" cy="38405"/>
          </a:xfrm>
          <a:prstGeom prst="rect">
            <a:avLst/>
          </a:prstGeom>
          <a:solidFill>
            <a:srgbClr val="3498DB"/>
          </a:solidFill>
          <a:ln/>
        </p:spPr>
        <p:txBody>
          <a:bodyPr/>
          <a:lstStyle/>
          <a:p>
            <a:endParaRPr lang="ja-JP" altLang="en-US"/>
          </a:p>
        </p:txBody>
      </p:sp>
      <p:sp>
        <p:nvSpPr>
          <p:cNvPr id="16" name="Shape 13"/>
          <p:cNvSpPr/>
          <p:nvPr/>
        </p:nvSpPr>
        <p:spPr>
          <a:xfrm>
            <a:off x="771754" y="3207715"/>
            <a:ext cx="5171846" cy="295351"/>
          </a:xfrm>
          <a:prstGeom prst="rect">
            <a:avLst/>
          </a:prstGeom>
          <a:solidFill>
            <a:srgbClr val="000000">
              <a:alpha val="80000"/>
            </a:srgbClr>
          </a:solidFill>
          <a:ln/>
        </p:spPr>
        <p:txBody>
          <a:bodyPr/>
          <a:lstStyle/>
          <a:p>
            <a:endParaRPr lang="ja-JP" altLang="en-US"/>
          </a:p>
        </p:txBody>
      </p:sp>
      <p:sp>
        <p:nvSpPr>
          <p:cNvPr id="17" name="Shape 14"/>
          <p:cNvSpPr/>
          <p:nvPr/>
        </p:nvSpPr>
        <p:spPr>
          <a:xfrm>
            <a:off x="6238951" y="1588313"/>
            <a:ext cx="476402" cy="476402"/>
          </a:xfrm>
          <a:prstGeom prst="ellipse">
            <a:avLst/>
          </a:prstGeom>
          <a:solidFill>
            <a:srgbClr val="3498DB">
              <a:alpha val="15000"/>
            </a:srgbClr>
          </a:solidFill>
          <a:ln/>
        </p:spPr>
        <p:txBody>
          <a:bodyPr/>
          <a:lstStyle/>
          <a:p>
            <a:endParaRPr lang="ja-JP" altLang="en-US"/>
          </a:p>
        </p:txBody>
      </p:sp>
      <p:sp>
        <p:nvSpPr>
          <p:cNvPr id="18" name="Shape 15"/>
          <p:cNvSpPr/>
          <p:nvPr/>
        </p:nvSpPr>
        <p:spPr>
          <a:xfrm>
            <a:off x="6248095" y="3207715"/>
            <a:ext cx="5171846" cy="295351"/>
          </a:xfrm>
          <a:prstGeom prst="rect">
            <a:avLst/>
          </a:prstGeom>
          <a:solidFill>
            <a:srgbClr val="000000">
              <a:alpha val="80000"/>
            </a:srgbClr>
          </a:solidFill>
          <a:ln/>
        </p:spPr>
        <p:txBody>
          <a:bodyPr/>
          <a:lstStyle/>
          <a:p>
            <a:endParaRPr lang="ja-JP" altLang="en-US"/>
          </a:p>
        </p:txBody>
      </p:sp>
      <p:sp>
        <p:nvSpPr>
          <p:cNvPr id="19" name="Text 16"/>
          <p:cNvSpPr txBox="1"/>
          <p:nvPr/>
        </p:nvSpPr>
        <p:spPr>
          <a:xfrm>
            <a:off x="1429207" y="1588313"/>
            <a:ext cx="2257654"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GT World Challenge Asia</a:t>
            </a:r>
            <a:endParaRPr lang="en-US" sz="1500" dirty="0"/>
          </a:p>
        </p:txBody>
      </p:sp>
      <p:sp>
        <p:nvSpPr>
          <p:cNvPr id="20" name="Text 17"/>
          <p:cNvSpPr txBox="1"/>
          <p:nvPr/>
        </p:nvSpPr>
        <p:spPr>
          <a:xfrm>
            <a:off x="1429207" y="1874520"/>
            <a:ext cx="1907438" cy="171907"/>
          </a:xfrm>
          <a:prstGeom prst="rect">
            <a:avLst/>
          </a:prstGeom>
          <a:noFill/>
          <a:ln/>
        </p:spPr>
        <p:txBody>
          <a:bodyPr wrap="square" lIns="0" tIns="0" rIns="0" bIns="0" rtlCol="0" anchor="ctr"/>
          <a:lstStyle/>
          <a:p>
            <a:pPr marL="0" indent="0" algn="l">
              <a:buNone/>
            </a:pPr>
            <a:r>
              <a:rPr lang="en-US" sz="1100" dirty="0">
                <a:solidFill>
                  <a:srgbClr val="AAAAAA"/>
                </a:solidFill>
                <a:latin typeface="Roboto" pitchFamily="34" charset="0"/>
                <a:ea typeface="Roboto" pitchFamily="34" charset="-122"/>
                <a:cs typeface="Roboto" pitchFamily="34" charset="-120"/>
              </a:rPr>
              <a:t>Buriram / Fuji / Sepang 2023</a:t>
            </a:r>
            <a:endParaRPr lang="en-US" sz="1100" dirty="0"/>
          </a:p>
        </p:txBody>
      </p:sp>
      <p:sp>
        <p:nvSpPr>
          <p:cNvPr id="21" name="Text 18"/>
          <p:cNvSpPr txBox="1"/>
          <p:nvPr/>
        </p:nvSpPr>
        <p:spPr>
          <a:xfrm>
            <a:off x="886054" y="3284525"/>
            <a:ext cx="1997964" cy="143561"/>
          </a:xfrm>
          <a:prstGeom prst="rect">
            <a:avLst/>
          </a:prstGeom>
          <a:noFill/>
          <a:ln/>
        </p:spPr>
        <p:txBody>
          <a:bodyPr wrap="square" lIns="0" tIns="0" rIns="0" bIns="0" rtlCol="0" anchor="ctr"/>
          <a:lstStyle/>
          <a:p>
            <a:pPr marL="0" indent="0" algn="l">
              <a:buNone/>
            </a:pPr>
            <a:r>
              <a:rPr lang="en-US" sz="900" dirty="0">
                <a:solidFill>
                  <a:srgbClr val="FFFFFF"/>
                </a:solidFill>
                <a:latin typeface="Roboto" pitchFamily="34" charset="0"/>
                <a:ea typeface="Roboto" pitchFamily="34" charset="-122"/>
                <a:cs typeface="Roboto" pitchFamily="34" charset="-120"/>
              </a:rPr>
              <a:t>Sepang International Circuit - 2023</a:t>
            </a:r>
            <a:endParaRPr lang="en-US" sz="900" dirty="0"/>
          </a:p>
        </p:txBody>
      </p:sp>
      <p:sp>
        <p:nvSpPr>
          <p:cNvPr id="22" name="Text 19"/>
          <p:cNvSpPr txBox="1"/>
          <p:nvPr/>
        </p:nvSpPr>
        <p:spPr>
          <a:xfrm>
            <a:off x="6905549" y="1588313"/>
            <a:ext cx="1038758"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SUPER GT</a:t>
            </a:r>
            <a:endParaRPr lang="en-US" sz="1500" dirty="0"/>
          </a:p>
        </p:txBody>
      </p:sp>
      <p:sp>
        <p:nvSpPr>
          <p:cNvPr id="23" name="Text 20"/>
          <p:cNvSpPr txBox="1"/>
          <p:nvPr/>
        </p:nvSpPr>
        <p:spPr>
          <a:xfrm>
            <a:off x="886054" y="5541264"/>
            <a:ext cx="1181405" cy="181051"/>
          </a:xfrm>
          <a:prstGeom prst="rect">
            <a:avLst/>
          </a:prstGeom>
          <a:noFill/>
          <a:ln/>
        </p:spPr>
        <p:txBody>
          <a:bodyPr wrap="square" lIns="0" tIns="0" rIns="0" bIns="0" rtlCol="0" anchor="ctr"/>
          <a:lstStyle/>
          <a:p>
            <a:pPr marL="0" indent="0" algn="l">
              <a:buNone/>
            </a:pPr>
            <a:r>
              <a:rPr lang="en-US" sz="1200" b="1" dirty="0">
                <a:solidFill>
                  <a:srgbClr val="E74C3C"/>
                </a:solidFill>
                <a:latin typeface="Roboto" pitchFamily="34" charset="0"/>
                <a:ea typeface="Roboto" pitchFamily="34" charset="-122"/>
                <a:cs typeface="Roboto" pitchFamily="34" charset="-120"/>
              </a:rPr>
              <a:t>国際レース実績</a:t>
            </a:r>
            <a:endParaRPr lang="en-US" sz="1200" dirty="0"/>
          </a:p>
        </p:txBody>
      </p:sp>
      <p:sp>
        <p:nvSpPr>
          <p:cNvPr id="24" name="Text 21"/>
          <p:cNvSpPr txBox="1"/>
          <p:nvPr/>
        </p:nvSpPr>
        <p:spPr>
          <a:xfrm>
            <a:off x="886054" y="5769864"/>
            <a:ext cx="4929530" cy="342900"/>
          </a:xfrm>
          <a:prstGeom prst="rect">
            <a:avLst/>
          </a:prstGeom>
          <a:noFill/>
          <a:ln/>
        </p:spPr>
        <p:txBody>
          <a:bodyPr wrap="square" lIns="0" tIns="0" rIns="0" bIns="0" rtlCol="0" anchor="ctr"/>
          <a:lstStyle/>
          <a:p>
            <a:pPr marL="0" indent="0" algn="l">
              <a:buNone/>
            </a:pPr>
            <a:r>
              <a:rPr lang="en-US" sz="1000" dirty="0">
                <a:solidFill>
                  <a:srgbClr val="AAAAAA"/>
                </a:solidFill>
                <a:latin typeface="Roboto" pitchFamily="34" charset="0"/>
                <a:ea typeface="Roboto" pitchFamily="34" charset="-122"/>
                <a:cs typeface="Roboto" pitchFamily="34" charset="-120"/>
              </a:rPr>
              <a:t>アジア最大級のGTレースで実績を持ち、異なる国・サーキットで安定した運用が可能</a:t>
            </a:r>
            <a:endParaRPr lang="en-US" sz="1000" dirty="0"/>
          </a:p>
        </p:txBody>
      </p:sp>
      <p:pic>
        <p:nvPicPr>
          <p:cNvPr id="25" name="Image 1" descr="preencoded.png"/>
          <p:cNvPicPr>
            <a:picLocks noChangeAspect="1"/>
          </p:cNvPicPr>
          <p:nvPr/>
        </p:nvPicPr>
        <p:blipFill>
          <a:blip r:embed="rId4"/>
          <a:srcRect t="41426" b="41426"/>
          <a:stretch/>
        </p:blipFill>
        <p:spPr>
          <a:xfrm>
            <a:off x="771754" y="2169871"/>
            <a:ext cx="5171846" cy="1333195"/>
          </a:xfrm>
          <a:prstGeom prst="rect">
            <a:avLst/>
          </a:prstGeom>
        </p:spPr>
      </p:pic>
      <p:sp>
        <p:nvSpPr>
          <p:cNvPr id="26" name="Shape 22"/>
          <p:cNvSpPr/>
          <p:nvPr/>
        </p:nvSpPr>
        <p:spPr>
          <a:xfrm>
            <a:off x="761695" y="3627425"/>
            <a:ext cx="2562149" cy="685800"/>
          </a:xfrm>
          <a:prstGeom prst="roundRect">
            <a:avLst>
              <a:gd name="adj" fmla="val 14815"/>
            </a:avLst>
          </a:prstGeom>
          <a:solidFill>
            <a:srgbClr val="111111"/>
          </a:solidFill>
          <a:ln w="12700">
            <a:solidFill>
              <a:srgbClr val="FFFFFF">
                <a:alpha val="10000"/>
              </a:srgbClr>
            </a:solidFill>
            <a:prstDash val="solid"/>
          </a:ln>
        </p:spPr>
        <p:txBody>
          <a:bodyPr/>
          <a:lstStyle/>
          <a:p>
            <a:endParaRPr lang="ja-JP" altLang="en-US"/>
          </a:p>
        </p:txBody>
      </p:sp>
      <p:pic>
        <p:nvPicPr>
          <p:cNvPr id="27" name="Image 2" descr="preencoded.png"/>
          <p:cNvPicPr>
            <a:picLocks noChangeAspect="1"/>
          </p:cNvPicPr>
          <p:nvPr/>
        </p:nvPicPr>
        <p:blipFill>
          <a:blip r:embed="rId5"/>
          <a:srcRect t="-44" b="-44"/>
          <a:stretch/>
        </p:blipFill>
        <p:spPr>
          <a:xfrm>
            <a:off x="1912010" y="3750869"/>
            <a:ext cx="256946" cy="228600"/>
          </a:xfrm>
          <a:prstGeom prst="rect">
            <a:avLst/>
          </a:prstGeom>
        </p:spPr>
      </p:pic>
      <p:sp>
        <p:nvSpPr>
          <p:cNvPr id="28" name="Text 23"/>
          <p:cNvSpPr txBox="1"/>
          <p:nvPr/>
        </p:nvSpPr>
        <p:spPr>
          <a:xfrm>
            <a:off x="6905549" y="1874520"/>
            <a:ext cx="1698041" cy="171907"/>
          </a:xfrm>
          <a:prstGeom prst="rect">
            <a:avLst/>
          </a:prstGeom>
          <a:noFill/>
          <a:ln/>
        </p:spPr>
        <p:txBody>
          <a:bodyPr wrap="square" lIns="0" tIns="0" rIns="0" bIns="0" rtlCol="0" anchor="ctr"/>
          <a:lstStyle/>
          <a:p>
            <a:pPr marL="0" indent="0" algn="l">
              <a:buNone/>
            </a:pPr>
            <a:r>
              <a:rPr lang="en-US" sz="1100" dirty="0">
                <a:solidFill>
                  <a:srgbClr val="AAAAAA"/>
                </a:solidFill>
                <a:latin typeface="Roboto" pitchFamily="34" charset="0"/>
                <a:ea typeface="Roboto" pitchFamily="34" charset="-122"/>
                <a:cs typeface="Roboto" pitchFamily="34" charset="-120"/>
              </a:rPr>
              <a:t>2019〜2023 テスト/運用</a:t>
            </a:r>
            <a:endParaRPr lang="en-US" sz="1100" dirty="0"/>
          </a:p>
        </p:txBody>
      </p:sp>
      <p:sp>
        <p:nvSpPr>
          <p:cNvPr id="29" name="Text 24"/>
          <p:cNvSpPr txBox="1"/>
          <p:nvPr/>
        </p:nvSpPr>
        <p:spPr>
          <a:xfrm>
            <a:off x="6362395" y="5541264"/>
            <a:ext cx="1038758" cy="181051"/>
          </a:xfrm>
          <a:prstGeom prst="rect">
            <a:avLst/>
          </a:prstGeom>
          <a:noFill/>
          <a:ln/>
        </p:spPr>
        <p:txBody>
          <a:bodyPr wrap="square" lIns="0" tIns="0" rIns="0" bIns="0" rtlCol="0" anchor="ctr"/>
          <a:lstStyle/>
          <a:p>
            <a:pPr marL="0" indent="0" algn="l">
              <a:buNone/>
            </a:pPr>
            <a:r>
              <a:rPr lang="en-US" sz="1200" b="1" dirty="0">
                <a:solidFill>
                  <a:srgbClr val="3498DB"/>
                </a:solidFill>
                <a:latin typeface="Roboto" pitchFamily="34" charset="0"/>
                <a:ea typeface="Roboto" pitchFamily="34" charset="-122"/>
                <a:cs typeface="Roboto" pitchFamily="34" charset="-120"/>
              </a:rPr>
              <a:t>長期運用実績</a:t>
            </a:r>
            <a:endParaRPr lang="en-US" sz="1200" dirty="0"/>
          </a:p>
        </p:txBody>
      </p:sp>
      <p:sp>
        <p:nvSpPr>
          <p:cNvPr id="30" name="Shape 25"/>
          <p:cNvSpPr/>
          <p:nvPr/>
        </p:nvSpPr>
        <p:spPr>
          <a:xfrm>
            <a:off x="3396082" y="3627425"/>
            <a:ext cx="2562149" cy="685800"/>
          </a:xfrm>
          <a:prstGeom prst="roundRect">
            <a:avLst>
              <a:gd name="adj" fmla="val 14815"/>
            </a:avLst>
          </a:prstGeom>
          <a:solidFill>
            <a:srgbClr val="111111"/>
          </a:solidFill>
          <a:ln w="12700">
            <a:solidFill>
              <a:srgbClr val="FFFFFF">
                <a:alpha val="10000"/>
              </a:srgbClr>
            </a:solidFill>
            <a:prstDash val="solid"/>
          </a:ln>
        </p:spPr>
        <p:txBody>
          <a:bodyPr/>
          <a:lstStyle/>
          <a:p>
            <a:endParaRPr lang="ja-JP" altLang="en-US"/>
          </a:p>
        </p:txBody>
      </p:sp>
      <p:sp>
        <p:nvSpPr>
          <p:cNvPr id="31" name="Shape 26"/>
          <p:cNvSpPr/>
          <p:nvPr/>
        </p:nvSpPr>
        <p:spPr>
          <a:xfrm>
            <a:off x="761695" y="4389120"/>
            <a:ext cx="2562149" cy="685800"/>
          </a:xfrm>
          <a:prstGeom prst="roundRect">
            <a:avLst>
              <a:gd name="adj" fmla="val 14815"/>
            </a:avLst>
          </a:prstGeom>
          <a:solidFill>
            <a:srgbClr val="111111"/>
          </a:solidFill>
          <a:ln w="12700">
            <a:solidFill>
              <a:srgbClr val="FFFFFF">
                <a:alpha val="10000"/>
              </a:srgbClr>
            </a:solidFill>
            <a:prstDash val="solid"/>
          </a:ln>
        </p:spPr>
        <p:txBody>
          <a:bodyPr/>
          <a:lstStyle/>
          <a:p>
            <a:endParaRPr lang="ja-JP" altLang="en-US"/>
          </a:p>
        </p:txBody>
      </p:sp>
      <p:sp>
        <p:nvSpPr>
          <p:cNvPr id="32" name="Shape 27"/>
          <p:cNvSpPr/>
          <p:nvPr/>
        </p:nvSpPr>
        <p:spPr>
          <a:xfrm>
            <a:off x="771754" y="4102913"/>
            <a:ext cx="2542946" cy="200254"/>
          </a:xfrm>
          <a:prstGeom prst="rect">
            <a:avLst/>
          </a:prstGeom>
          <a:solidFill>
            <a:srgbClr val="000000">
              <a:alpha val="70000"/>
            </a:srgbClr>
          </a:solidFill>
          <a:ln/>
        </p:spPr>
        <p:txBody>
          <a:bodyPr/>
          <a:lstStyle/>
          <a:p>
            <a:endParaRPr lang="ja-JP" altLang="en-US"/>
          </a:p>
        </p:txBody>
      </p:sp>
      <p:sp>
        <p:nvSpPr>
          <p:cNvPr id="33" name="Shape 28"/>
          <p:cNvSpPr/>
          <p:nvPr/>
        </p:nvSpPr>
        <p:spPr>
          <a:xfrm>
            <a:off x="771754" y="4865522"/>
            <a:ext cx="2542946" cy="200254"/>
          </a:xfrm>
          <a:prstGeom prst="rect">
            <a:avLst/>
          </a:prstGeom>
          <a:solidFill>
            <a:srgbClr val="000000">
              <a:alpha val="70000"/>
            </a:srgbClr>
          </a:solidFill>
          <a:ln/>
        </p:spPr>
        <p:txBody>
          <a:bodyPr/>
          <a:lstStyle/>
          <a:p>
            <a:endParaRPr lang="ja-JP" altLang="en-US"/>
          </a:p>
        </p:txBody>
      </p:sp>
      <p:sp>
        <p:nvSpPr>
          <p:cNvPr id="34" name="Text 29"/>
          <p:cNvSpPr txBox="1"/>
          <p:nvPr/>
        </p:nvSpPr>
        <p:spPr>
          <a:xfrm>
            <a:off x="1660550" y="4141318"/>
            <a:ext cx="841248" cy="124358"/>
          </a:xfrm>
          <a:prstGeom prst="rect">
            <a:avLst/>
          </a:prstGeom>
          <a:noFill/>
          <a:ln/>
        </p:spPr>
        <p:txBody>
          <a:bodyPr wrap="square" lIns="0" tIns="0" rIns="0" bIns="0" rtlCol="0" anchor="ctr"/>
          <a:lstStyle/>
          <a:p>
            <a:pPr marL="0" indent="0" algn="ctr">
              <a:buNone/>
            </a:pPr>
            <a:r>
              <a:rPr lang="en-US" sz="800" dirty="0">
                <a:solidFill>
                  <a:srgbClr val="FFFFFF"/>
                </a:solidFill>
                <a:latin typeface="Roboto" pitchFamily="34" charset="0"/>
                <a:ea typeface="Roboto" pitchFamily="34" charset="-122"/>
                <a:cs typeface="Roboto" pitchFamily="34" charset="-120"/>
              </a:rPr>
              <a:t>Race 1 | Buriram</a:t>
            </a:r>
            <a:endParaRPr lang="en-US" sz="800" dirty="0"/>
          </a:p>
        </p:txBody>
      </p:sp>
      <p:pic>
        <p:nvPicPr>
          <p:cNvPr id="35" name="Image 3" descr="preencoded.png"/>
          <p:cNvPicPr>
            <a:picLocks noChangeAspect="1"/>
          </p:cNvPicPr>
          <p:nvPr/>
        </p:nvPicPr>
        <p:blipFill>
          <a:blip r:embed="rId5"/>
          <a:srcRect t="-44" b="-44"/>
          <a:stretch/>
        </p:blipFill>
        <p:spPr>
          <a:xfrm>
            <a:off x="4545482" y="3750869"/>
            <a:ext cx="256946" cy="228600"/>
          </a:xfrm>
          <a:prstGeom prst="rect">
            <a:avLst/>
          </a:prstGeom>
        </p:spPr>
      </p:pic>
      <p:sp>
        <p:nvSpPr>
          <p:cNvPr id="36" name="Shape 30"/>
          <p:cNvSpPr/>
          <p:nvPr/>
        </p:nvSpPr>
        <p:spPr>
          <a:xfrm>
            <a:off x="3405226" y="4102913"/>
            <a:ext cx="2542946" cy="200254"/>
          </a:xfrm>
          <a:prstGeom prst="rect">
            <a:avLst/>
          </a:prstGeom>
          <a:solidFill>
            <a:srgbClr val="000000">
              <a:alpha val="70000"/>
            </a:srgbClr>
          </a:solidFill>
          <a:ln/>
        </p:spPr>
        <p:txBody>
          <a:bodyPr/>
          <a:lstStyle/>
          <a:p>
            <a:endParaRPr lang="ja-JP" altLang="en-US"/>
          </a:p>
        </p:txBody>
      </p:sp>
      <p:sp>
        <p:nvSpPr>
          <p:cNvPr id="37" name="Text 31"/>
          <p:cNvSpPr txBox="1"/>
          <p:nvPr/>
        </p:nvSpPr>
        <p:spPr>
          <a:xfrm>
            <a:off x="4394606" y="4141318"/>
            <a:ext cx="640994" cy="124358"/>
          </a:xfrm>
          <a:prstGeom prst="rect">
            <a:avLst/>
          </a:prstGeom>
          <a:noFill/>
          <a:ln/>
        </p:spPr>
        <p:txBody>
          <a:bodyPr wrap="square" lIns="0" tIns="0" rIns="0" bIns="0" rtlCol="0" anchor="ctr"/>
          <a:lstStyle/>
          <a:p>
            <a:pPr marL="0" indent="0" algn="ctr">
              <a:buNone/>
            </a:pPr>
            <a:r>
              <a:rPr lang="en-US" sz="800" dirty="0">
                <a:solidFill>
                  <a:srgbClr val="FFFFFF"/>
                </a:solidFill>
                <a:latin typeface="Roboto" pitchFamily="34" charset="0"/>
                <a:ea typeface="Roboto" pitchFamily="34" charset="-122"/>
                <a:cs typeface="Roboto" pitchFamily="34" charset="-120"/>
              </a:rPr>
              <a:t>Race 2 | Fuji</a:t>
            </a:r>
            <a:endParaRPr lang="en-US" sz="800" dirty="0"/>
          </a:p>
        </p:txBody>
      </p:sp>
      <p:pic>
        <p:nvPicPr>
          <p:cNvPr id="38" name="Image 4" descr="preencoded.png"/>
          <p:cNvPicPr>
            <a:picLocks noChangeAspect="1"/>
          </p:cNvPicPr>
          <p:nvPr/>
        </p:nvPicPr>
        <p:blipFill>
          <a:blip r:embed="rId5"/>
          <a:srcRect t="-44" b="-44"/>
          <a:stretch/>
        </p:blipFill>
        <p:spPr>
          <a:xfrm>
            <a:off x="1912010" y="4512564"/>
            <a:ext cx="256946" cy="228600"/>
          </a:xfrm>
          <a:prstGeom prst="rect">
            <a:avLst/>
          </a:prstGeom>
        </p:spPr>
      </p:pic>
      <p:sp>
        <p:nvSpPr>
          <p:cNvPr id="39" name="Shape 32"/>
          <p:cNvSpPr/>
          <p:nvPr/>
        </p:nvSpPr>
        <p:spPr>
          <a:xfrm>
            <a:off x="3396082" y="4389120"/>
            <a:ext cx="2562149" cy="685800"/>
          </a:xfrm>
          <a:prstGeom prst="roundRect">
            <a:avLst>
              <a:gd name="adj" fmla="val 14815"/>
            </a:avLst>
          </a:prstGeom>
          <a:solidFill>
            <a:srgbClr val="111111"/>
          </a:solidFill>
          <a:ln w="12700">
            <a:solidFill>
              <a:srgbClr val="FFFFFF">
                <a:alpha val="10000"/>
              </a:srgbClr>
            </a:solidFill>
            <a:prstDash val="solid"/>
          </a:ln>
        </p:spPr>
        <p:txBody>
          <a:bodyPr/>
          <a:lstStyle/>
          <a:p>
            <a:endParaRPr lang="ja-JP" altLang="en-US"/>
          </a:p>
        </p:txBody>
      </p:sp>
      <p:sp>
        <p:nvSpPr>
          <p:cNvPr id="40" name="Text 33"/>
          <p:cNvSpPr txBox="1"/>
          <p:nvPr/>
        </p:nvSpPr>
        <p:spPr>
          <a:xfrm>
            <a:off x="1670609" y="4903013"/>
            <a:ext cx="822046" cy="124358"/>
          </a:xfrm>
          <a:prstGeom prst="rect">
            <a:avLst/>
          </a:prstGeom>
          <a:noFill/>
          <a:ln/>
        </p:spPr>
        <p:txBody>
          <a:bodyPr wrap="square" lIns="0" tIns="0" rIns="0" bIns="0" rtlCol="0" anchor="ctr"/>
          <a:lstStyle/>
          <a:p>
            <a:pPr marL="0" indent="0" algn="ctr">
              <a:buNone/>
            </a:pPr>
            <a:r>
              <a:rPr lang="en-US" sz="800" dirty="0">
                <a:solidFill>
                  <a:srgbClr val="FFFFFF"/>
                </a:solidFill>
                <a:latin typeface="Roboto" pitchFamily="34" charset="0"/>
                <a:ea typeface="Roboto" pitchFamily="34" charset="-122"/>
                <a:cs typeface="Roboto" pitchFamily="34" charset="-120"/>
              </a:rPr>
              <a:t>Fuji Onboard #1</a:t>
            </a:r>
            <a:endParaRPr lang="en-US" sz="800" dirty="0"/>
          </a:p>
        </p:txBody>
      </p:sp>
      <p:pic>
        <p:nvPicPr>
          <p:cNvPr id="41" name="Image 5" descr="preencoded.png"/>
          <p:cNvPicPr>
            <a:picLocks noChangeAspect="1"/>
          </p:cNvPicPr>
          <p:nvPr/>
        </p:nvPicPr>
        <p:blipFill>
          <a:blip r:embed="rId5"/>
          <a:srcRect t="-44" b="-44"/>
          <a:stretch/>
        </p:blipFill>
        <p:spPr>
          <a:xfrm>
            <a:off x="4545482" y="4512564"/>
            <a:ext cx="256946" cy="228600"/>
          </a:xfrm>
          <a:prstGeom prst="rect">
            <a:avLst/>
          </a:prstGeom>
        </p:spPr>
      </p:pic>
      <p:sp>
        <p:nvSpPr>
          <p:cNvPr id="42" name="Text 34"/>
          <p:cNvSpPr txBox="1"/>
          <p:nvPr/>
        </p:nvSpPr>
        <p:spPr>
          <a:xfrm>
            <a:off x="6362395" y="3284525"/>
            <a:ext cx="2370125" cy="143561"/>
          </a:xfrm>
          <a:prstGeom prst="rect">
            <a:avLst/>
          </a:prstGeom>
          <a:noFill/>
          <a:ln/>
        </p:spPr>
        <p:txBody>
          <a:bodyPr wrap="square" lIns="0" tIns="0" rIns="0" bIns="0" rtlCol="0" anchor="ctr"/>
          <a:lstStyle/>
          <a:p>
            <a:pPr marL="0" indent="0" algn="l">
              <a:buNone/>
            </a:pPr>
            <a:r>
              <a:rPr lang="en-US" sz="900" dirty="0">
                <a:solidFill>
                  <a:srgbClr val="FFFFFF"/>
                </a:solidFill>
                <a:latin typeface="Roboto" pitchFamily="34" charset="0"/>
                <a:ea typeface="Roboto" pitchFamily="34" charset="-122"/>
                <a:cs typeface="Roboto" pitchFamily="34" charset="-120"/>
              </a:rPr>
              <a:t>SUPER GT Championship - Fuji Speedway</a:t>
            </a:r>
            <a:endParaRPr lang="en-US" sz="900" dirty="0"/>
          </a:p>
        </p:txBody>
      </p:sp>
      <p:sp>
        <p:nvSpPr>
          <p:cNvPr id="43" name="Shape 35"/>
          <p:cNvSpPr/>
          <p:nvPr/>
        </p:nvSpPr>
        <p:spPr>
          <a:xfrm>
            <a:off x="6238951" y="3627425"/>
            <a:ext cx="5191049" cy="666598"/>
          </a:xfrm>
          <a:prstGeom prst="roundRect">
            <a:avLst>
              <a:gd name="adj" fmla="val 15677"/>
            </a:avLst>
          </a:prstGeom>
          <a:solidFill>
            <a:srgbClr val="111111"/>
          </a:solidFill>
          <a:ln w="12700">
            <a:solidFill>
              <a:srgbClr val="FFFFFF">
                <a:alpha val="10000"/>
              </a:srgbClr>
            </a:solidFill>
            <a:prstDash val="solid"/>
          </a:ln>
        </p:spPr>
        <p:txBody>
          <a:bodyPr/>
          <a:lstStyle/>
          <a:p>
            <a:endParaRPr lang="ja-JP" altLang="en-US"/>
          </a:p>
        </p:txBody>
      </p:sp>
      <p:sp>
        <p:nvSpPr>
          <p:cNvPr id="44" name="Shape 36"/>
          <p:cNvSpPr/>
          <p:nvPr/>
        </p:nvSpPr>
        <p:spPr>
          <a:xfrm>
            <a:off x="3405226" y="4865522"/>
            <a:ext cx="2542946" cy="200254"/>
          </a:xfrm>
          <a:prstGeom prst="rect">
            <a:avLst/>
          </a:prstGeom>
          <a:solidFill>
            <a:srgbClr val="000000">
              <a:alpha val="70000"/>
            </a:srgbClr>
          </a:solidFill>
          <a:ln/>
        </p:spPr>
        <p:txBody>
          <a:bodyPr/>
          <a:lstStyle/>
          <a:p>
            <a:endParaRPr lang="ja-JP" altLang="en-US"/>
          </a:p>
        </p:txBody>
      </p:sp>
      <p:sp>
        <p:nvSpPr>
          <p:cNvPr id="45" name="Text 37"/>
          <p:cNvSpPr txBox="1"/>
          <p:nvPr/>
        </p:nvSpPr>
        <p:spPr>
          <a:xfrm>
            <a:off x="4182466" y="4903013"/>
            <a:ext cx="1069848" cy="124358"/>
          </a:xfrm>
          <a:prstGeom prst="rect">
            <a:avLst/>
          </a:prstGeom>
          <a:noFill/>
          <a:ln/>
        </p:spPr>
        <p:txBody>
          <a:bodyPr wrap="square" lIns="0" tIns="0" rIns="0" bIns="0" rtlCol="0" anchor="ctr"/>
          <a:lstStyle/>
          <a:p>
            <a:pPr marL="0" indent="0" algn="ctr">
              <a:buNone/>
            </a:pPr>
            <a:r>
              <a:rPr lang="en-US" sz="800" dirty="0">
                <a:solidFill>
                  <a:srgbClr val="FFFFFF"/>
                </a:solidFill>
                <a:latin typeface="Roboto" pitchFamily="34" charset="0"/>
                <a:ea typeface="Roboto" pitchFamily="34" charset="-122"/>
                <a:cs typeface="Roboto" pitchFamily="34" charset="-120"/>
              </a:rPr>
              <a:t>Sepang Onboard #88</a:t>
            </a:r>
            <a:endParaRPr lang="en-US" sz="800" dirty="0"/>
          </a:p>
        </p:txBody>
      </p:sp>
      <p:pic>
        <p:nvPicPr>
          <p:cNvPr id="46" name="Image 6" descr="preencoded.png"/>
          <p:cNvPicPr>
            <a:picLocks noChangeAspect="1"/>
          </p:cNvPicPr>
          <p:nvPr/>
        </p:nvPicPr>
        <p:blipFill>
          <a:blip r:embed="rId6"/>
          <a:srcRect l="-80" r="-80"/>
          <a:stretch/>
        </p:blipFill>
        <p:spPr>
          <a:xfrm>
            <a:off x="6334049" y="1712671"/>
            <a:ext cx="286207" cy="228600"/>
          </a:xfrm>
          <a:prstGeom prst="rect">
            <a:avLst/>
          </a:prstGeom>
        </p:spPr>
      </p:pic>
      <p:pic>
        <p:nvPicPr>
          <p:cNvPr id="47" name="Image 7" descr="preencoded.png"/>
          <p:cNvPicPr>
            <a:picLocks noChangeAspect="1"/>
          </p:cNvPicPr>
          <p:nvPr/>
        </p:nvPicPr>
        <p:blipFill>
          <a:blip r:embed="rId7"/>
          <a:srcRect t="30676" b="30676"/>
          <a:stretch/>
        </p:blipFill>
        <p:spPr>
          <a:xfrm>
            <a:off x="6248095" y="2169871"/>
            <a:ext cx="5171846" cy="1333195"/>
          </a:xfrm>
          <a:prstGeom prst="rect">
            <a:avLst/>
          </a:prstGeom>
        </p:spPr>
      </p:pic>
      <p:pic>
        <p:nvPicPr>
          <p:cNvPr id="48" name="Image 8" descr="preencoded.png"/>
          <p:cNvPicPr>
            <a:picLocks noChangeAspect="1"/>
          </p:cNvPicPr>
          <p:nvPr/>
        </p:nvPicPr>
        <p:blipFill>
          <a:blip r:embed="rId5"/>
          <a:srcRect t="-44" b="-44"/>
          <a:stretch/>
        </p:blipFill>
        <p:spPr>
          <a:xfrm>
            <a:off x="8706002" y="3750869"/>
            <a:ext cx="256946" cy="228600"/>
          </a:xfrm>
          <a:prstGeom prst="rect">
            <a:avLst/>
          </a:prstGeom>
        </p:spPr>
      </p:pic>
      <p:sp>
        <p:nvSpPr>
          <p:cNvPr id="49" name="Text 38"/>
          <p:cNvSpPr txBox="1"/>
          <p:nvPr/>
        </p:nvSpPr>
        <p:spPr>
          <a:xfrm>
            <a:off x="6362395" y="5769864"/>
            <a:ext cx="4929530" cy="152705"/>
          </a:xfrm>
          <a:prstGeom prst="rect">
            <a:avLst/>
          </a:prstGeom>
          <a:noFill/>
          <a:ln/>
        </p:spPr>
        <p:txBody>
          <a:bodyPr wrap="square" lIns="0" tIns="0" rIns="0" bIns="0" rtlCol="0" anchor="ctr"/>
          <a:lstStyle/>
          <a:p>
            <a:pPr marL="0" indent="0" algn="l">
              <a:buNone/>
            </a:pPr>
            <a:r>
              <a:rPr lang="en-US" sz="1000" dirty="0">
                <a:solidFill>
                  <a:srgbClr val="AAAAAA"/>
                </a:solidFill>
                <a:latin typeface="Roboto" pitchFamily="34" charset="0"/>
                <a:ea typeface="Roboto" pitchFamily="34" charset="-122"/>
                <a:cs typeface="Roboto" pitchFamily="34" charset="-120"/>
              </a:rPr>
              <a:t>2019年から継続的に改良を重ね、実際のレース環境で安定性と信頼性を実証済み</a:t>
            </a:r>
            <a:endParaRPr lang="en-US" sz="1000" dirty="0"/>
          </a:p>
        </p:txBody>
      </p:sp>
      <p:sp>
        <p:nvSpPr>
          <p:cNvPr id="50" name="Text 39"/>
          <p:cNvSpPr txBox="1"/>
          <p:nvPr/>
        </p:nvSpPr>
        <p:spPr>
          <a:xfrm>
            <a:off x="10394899" y="6553505"/>
            <a:ext cx="1138428" cy="152705"/>
          </a:xfrm>
          <a:prstGeom prst="rect">
            <a:avLst/>
          </a:prstGeom>
          <a:noFill/>
          <a:ln/>
        </p:spPr>
        <p:txBody>
          <a:bodyPr wrap="square" lIns="0" tIns="0" rIns="0" bIns="0" rtlCol="0" anchor="ctr"/>
          <a:lstStyle/>
          <a:p>
            <a:pPr marL="0" indent="0" algn="l">
              <a:buNone/>
            </a:pPr>
            <a:r>
              <a:rPr lang="en-US" sz="1000" dirty="0">
                <a:solidFill>
                  <a:srgbClr val="888888"/>
                </a:solidFill>
                <a:latin typeface="Roboto" pitchFamily="34" charset="0"/>
                <a:ea typeface="Roboto" pitchFamily="34" charset="-122"/>
                <a:cs typeface="Roboto" pitchFamily="34" charset="-120"/>
              </a:rPr>
              <a:t>iZCast | UNSOLID</a:t>
            </a:r>
            <a:endParaRPr lang="en-US" sz="1000" dirty="0"/>
          </a:p>
        </p:txBody>
      </p:sp>
      <p:sp>
        <p:nvSpPr>
          <p:cNvPr id="51" name="Shape 40"/>
          <p:cNvSpPr/>
          <p:nvPr/>
        </p:nvSpPr>
        <p:spPr>
          <a:xfrm>
            <a:off x="6248095" y="4084625"/>
            <a:ext cx="5171846" cy="200254"/>
          </a:xfrm>
          <a:prstGeom prst="rect">
            <a:avLst/>
          </a:prstGeom>
          <a:solidFill>
            <a:srgbClr val="000000">
              <a:alpha val="70000"/>
            </a:srgbClr>
          </a:solidFill>
          <a:ln/>
        </p:spPr>
        <p:txBody>
          <a:bodyPr/>
          <a:lstStyle/>
          <a:p>
            <a:endParaRPr lang="ja-JP" altLang="en-US"/>
          </a:p>
        </p:txBody>
      </p:sp>
      <p:sp>
        <p:nvSpPr>
          <p:cNvPr id="52" name="Text 41"/>
          <p:cNvSpPr txBox="1"/>
          <p:nvPr/>
        </p:nvSpPr>
        <p:spPr>
          <a:xfrm>
            <a:off x="8433511" y="4122115"/>
            <a:ext cx="888797" cy="124358"/>
          </a:xfrm>
          <a:prstGeom prst="rect">
            <a:avLst/>
          </a:prstGeom>
          <a:noFill/>
          <a:ln/>
        </p:spPr>
        <p:txBody>
          <a:bodyPr wrap="square" lIns="0" tIns="0" rIns="0" bIns="0" rtlCol="0" anchor="ctr"/>
          <a:lstStyle/>
          <a:p>
            <a:pPr marL="0" indent="0" algn="ctr">
              <a:buNone/>
            </a:pPr>
            <a:r>
              <a:rPr lang="en-US" sz="800" dirty="0">
                <a:solidFill>
                  <a:srgbClr val="FFFFFF"/>
                </a:solidFill>
                <a:latin typeface="Roboto" pitchFamily="34" charset="0"/>
                <a:ea typeface="Roboto" pitchFamily="34" charset="-122"/>
                <a:cs typeface="Roboto" pitchFamily="34" charset="-120"/>
              </a:rPr>
              <a:t>Round 3 | Suzuka</a:t>
            </a:r>
            <a:endParaRPr lang="en-US" sz="800" dirty="0"/>
          </a:p>
        </p:txBody>
      </p:sp>
      <p:sp>
        <p:nvSpPr>
          <p:cNvPr id="53" name="角丸四角形 52">
            <a:extLst>
              <a:ext uri="{FF2B5EF4-FFF2-40B4-BE49-F238E27FC236}">
                <a16:creationId xmlns:a16="http://schemas.microsoft.com/office/drawing/2014/main" id="{C2193BF7-2052-14D2-B398-AFD2A945BAF8}"/>
              </a:ext>
            </a:extLst>
          </p:cNvPr>
          <p:cNvSpPr/>
          <p:nvPr/>
        </p:nvSpPr>
        <p:spPr>
          <a:xfrm>
            <a:off x="2953461" y="3146908"/>
            <a:ext cx="5873699" cy="5623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下記の</a:t>
            </a:r>
            <a:r>
              <a:rPr kumimoji="1" lang="en-US" altLang="ja-JP" dirty="0"/>
              <a:t>YouTube</a:t>
            </a:r>
            <a:r>
              <a:rPr kumimoji="1" lang="ja-JP" altLang="en-US"/>
              <a:t>の箇所に</a:t>
            </a:r>
            <a:r>
              <a:rPr kumimoji="1" lang="en-US" altLang="ja-JP" dirty="0"/>
              <a:t>LINK</a:t>
            </a:r>
            <a:r>
              <a:rPr kumimoji="1" lang="ja-JP" altLang="en-US"/>
              <a:t>を貼るといいかなと</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C3E50"/>
          </a:solidFill>
          <a:ln/>
        </p:spPr>
        <p:txBody>
          <a:bodyPr/>
          <a:lstStyle/>
          <a:p>
            <a:endParaRPr lang="ja-JP" altLang="en-US"/>
          </a:p>
        </p:txBody>
      </p:sp>
      <p:sp>
        <p:nvSpPr>
          <p:cNvPr id="3" name="Shape 1"/>
          <p:cNvSpPr/>
          <p:nvPr/>
        </p:nvSpPr>
        <p:spPr>
          <a:xfrm>
            <a:off x="761695" y="286207"/>
            <a:ext cx="47549" cy="942746"/>
          </a:xfrm>
          <a:prstGeom prst="rect">
            <a:avLst/>
          </a:prstGeom>
          <a:solidFill>
            <a:srgbClr val="3498DB"/>
          </a:solidFill>
          <a:ln/>
        </p:spPr>
        <p:txBody>
          <a:bodyPr/>
          <a:lstStyle/>
          <a:p>
            <a:endParaRPr lang="ja-JP" altLang="en-US"/>
          </a:p>
        </p:txBody>
      </p:sp>
      <p:sp>
        <p:nvSpPr>
          <p:cNvPr id="4" name="Text 2"/>
          <p:cNvSpPr txBox="1"/>
          <p:nvPr/>
        </p:nvSpPr>
        <p:spPr>
          <a:xfrm>
            <a:off x="952805" y="286207"/>
            <a:ext cx="2391156" cy="181051"/>
          </a:xfrm>
          <a:prstGeom prst="rect">
            <a:avLst/>
          </a:prstGeom>
          <a:noFill/>
          <a:ln/>
        </p:spPr>
        <p:txBody>
          <a:bodyPr wrap="square" lIns="0" tIns="0" rIns="0" bIns="0" rtlCol="0" anchor="ctr"/>
          <a:lstStyle/>
          <a:p>
            <a:pPr marL="0" indent="0" algn="l">
              <a:buNone/>
            </a:pPr>
            <a:r>
              <a:rPr lang="en-US" sz="1200" b="1" dirty="0">
                <a:solidFill>
                  <a:srgbClr val="E74C3C"/>
                </a:solidFill>
                <a:latin typeface="Roboto" pitchFamily="34" charset="0"/>
                <a:ea typeface="Roboto" pitchFamily="34" charset="-122"/>
                <a:cs typeface="Roboto" pitchFamily="34" charset="-120"/>
              </a:rPr>
              <a:t>HARDWARE SPECIFICATIONS</a:t>
            </a:r>
            <a:endParaRPr lang="en-US" sz="1200" dirty="0"/>
          </a:p>
        </p:txBody>
      </p:sp>
      <p:sp>
        <p:nvSpPr>
          <p:cNvPr id="5" name="Text 3"/>
          <p:cNvSpPr txBox="1"/>
          <p:nvPr/>
        </p:nvSpPr>
        <p:spPr>
          <a:xfrm>
            <a:off x="952805" y="921715"/>
            <a:ext cx="1004926" cy="305410"/>
          </a:xfrm>
          <a:prstGeom prst="rect">
            <a:avLst/>
          </a:prstGeom>
          <a:noFill/>
          <a:ln/>
        </p:spPr>
        <p:txBody>
          <a:bodyPr wrap="square" lIns="0" tIns="0" rIns="0" bIns="0" rtlCol="0" anchor="ctr"/>
          <a:lstStyle/>
          <a:p>
            <a:pPr marL="0" indent="0" algn="l">
              <a:buNone/>
            </a:pPr>
            <a:r>
              <a:rPr lang="en-US" sz="1600" dirty="0">
                <a:solidFill>
                  <a:srgbClr val="3498DB"/>
                </a:solidFill>
                <a:latin typeface="Noto Sans JP" pitchFamily="34" charset="0"/>
                <a:ea typeface="Noto Sans JP" pitchFamily="34" charset="-122"/>
                <a:cs typeface="Noto Sans JP" pitchFamily="34" charset="-120"/>
              </a:rPr>
              <a:t>機材仕様</a:t>
            </a:r>
            <a:endParaRPr lang="en-US" sz="1600" dirty="0"/>
          </a:p>
        </p:txBody>
      </p:sp>
      <p:sp>
        <p:nvSpPr>
          <p:cNvPr id="6" name="Text 4"/>
          <p:cNvSpPr txBox="1"/>
          <p:nvPr/>
        </p:nvSpPr>
        <p:spPr>
          <a:xfrm>
            <a:off x="952805" y="476402"/>
            <a:ext cx="4329684" cy="419710"/>
          </a:xfrm>
          <a:prstGeom prst="rect">
            <a:avLst/>
          </a:prstGeom>
          <a:noFill/>
          <a:ln/>
        </p:spPr>
        <p:txBody>
          <a:bodyPr wrap="square" lIns="0" tIns="0" rIns="0" bIns="0" rtlCol="0" anchor="ctr"/>
          <a:lstStyle/>
          <a:p>
            <a:pPr marL="0" indent="0" algn="l">
              <a:buNone/>
            </a:pPr>
            <a:r>
              <a:rPr lang="en-US" sz="2800" b="1" dirty="0">
                <a:solidFill>
                  <a:srgbClr val="FFFFFF"/>
                </a:solidFill>
                <a:latin typeface="Roboto" pitchFamily="34" charset="0"/>
                <a:ea typeface="Roboto" pitchFamily="34" charset="-122"/>
                <a:cs typeface="Roboto" pitchFamily="34" charset="-120"/>
              </a:rPr>
              <a:t>Onboard Camera System</a:t>
            </a:r>
            <a:endParaRPr lang="en-US" sz="2800" dirty="0"/>
          </a:p>
        </p:txBody>
      </p:sp>
      <p:sp>
        <p:nvSpPr>
          <p:cNvPr id="7" name="Shape 5"/>
          <p:cNvSpPr/>
          <p:nvPr/>
        </p:nvSpPr>
        <p:spPr>
          <a:xfrm>
            <a:off x="761695" y="1369771"/>
            <a:ext cx="3467405" cy="1352398"/>
          </a:xfrm>
          <a:prstGeom prst="roundRect">
            <a:avLst>
              <a:gd name="adj" fmla="val 3809"/>
            </a:avLst>
          </a:prstGeom>
          <a:solidFill>
            <a:srgbClr val="141414">
              <a:alpha val="70000"/>
            </a:srgbClr>
          </a:solidFill>
          <a:ln/>
        </p:spPr>
        <p:txBody>
          <a:bodyPr/>
          <a:lstStyle/>
          <a:p>
            <a:endParaRPr lang="ja-JP" altLang="en-US"/>
          </a:p>
        </p:txBody>
      </p:sp>
      <p:sp>
        <p:nvSpPr>
          <p:cNvPr id="8" name="Shape 6"/>
          <p:cNvSpPr/>
          <p:nvPr/>
        </p:nvSpPr>
        <p:spPr>
          <a:xfrm>
            <a:off x="761695" y="1369771"/>
            <a:ext cx="3467405" cy="28346"/>
          </a:xfrm>
          <a:prstGeom prst="rect">
            <a:avLst/>
          </a:prstGeom>
          <a:solidFill>
            <a:srgbClr val="E74C3C"/>
          </a:solidFill>
          <a:ln/>
        </p:spPr>
        <p:txBody>
          <a:bodyPr/>
          <a:lstStyle/>
          <a:p>
            <a:endParaRPr lang="ja-JP" altLang="en-US"/>
          </a:p>
        </p:txBody>
      </p:sp>
      <p:sp>
        <p:nvSpPr>
          <p:cNvPr id="9" name="Shape 7"/>
          <p:cNvSpPr/>
          <p:nvPr/>
        </p:nvSpPr>
        <p:spPr>
          <a:xfrm>
            <a:off x="4365346" y="1369771"/>
            <a:ext cx="3467405" cy="1352398"/>
          </a:xfrm>
          <a:prstGeom prst="roundRect">
            <a:avLst>
              <a:gd name="adj" fmla="val 3809"/>
            </a:avLst>
          </a:prstGeom>
          <a:solidFill>
            <a:srgbClr val="141414">
              <a:alpha val="70000"/>
            </a:srgbClr>
          </a:solidFill>
          <a:ln/>
        </p:spPr>
        <p:txBody>
          <a:bodyPr/>
          <a:lstStyle/>
          <a:p>
            <a:endParaRPr lang="ja-JP" altLang="en-US"/>
          </a:p>
        </p:txBody>
      </p:sp>
      <p:sp>
        <p:nvSpPr>
          <p:cNvPr id="10" name="Shape 8"/>
          <p:cNvSpPr/>
          <p:nvPr/>
        </p:nvSpPr>
        <p:spPr>
          <a:xfrm>
            <a:off x="4365346" y="1369771"/>
            <a:ext cx="3467405" cy="28346"/>
          </a:xfrm>
          <a:prstGeom prst="rect">
            <a:avLst/>
          </a:prstGeom>
          <a:solidFill>
            <a:srgbClr val="3498DB"/>
          </a:solidFill>
          <a:ln/>
        </p:spPr>
        <p:txBody>
          <a:bodyPr/>
          <a:lstStyle/>
          <a:p>
            <a:endParaRPr lang="ja-JP" altLang="en-US"/>
          </a:p>
        </p:txBody>
      </p:sp>
      <p:sp>
        <p:nvSpPr>
          <p:cNvPr id="11" name="Shape 9"/>
          <p:cNvSpPr/>
          <p:nvPr/>
        </p:nvSpPr>
        <p:spPr>
          <a:xfrm>
            <a:off x="952805" y="1255471"/>
            <a:ext cx="342900" cy="342900"/>
          </a:xfrm>
          <a:prstGeom prst="ellipse">
            <a:avLst/>
          </a:prstGeom>
          <a:solidFill>
            <a:srgbClr val="E74C3C"/>
          </a:solidFill>
          <a:ln/>
        </p:spPr>
        <p:txBody>
          <a:bodyPr/>
          <a:lstStyle/>
          <a:p>
            <a:endParaRPr lang="ja-JP" altLang="en-US"/>
          </a:p>
        </p:txBody>
      </p:sp>
      <p:pic>
        <p:nvPicPr>
          <p:cNvPr id="12" name="Image 0" descr="preencoded.png"/>
          <p:cNvPicPr>
            <a:picLocks noChangeAspect="1"/>
          </p:cNvPicPr>
          <p:nvPr/>
        </p:nvPicPr>
        <p:blipFill>
          <a:blip r:embed="rId3"/>
          <a:srcRect l="-33" r="-33"/>
          <a:stretch/>
        </p:blipFill>
        <p:spPr>
          <a:xfrm>
            <a:off x="1037844" y="1350569"/>
            <a:ext cx="171907" cy="152705"/>
          </a:xfrm>
          <a:prstGeom prst="rect">
            <a:avLst/>
          </a:prstGeom>
        </p:spPr>
      </p:pic>
      <p:sp>
        <p:nvSpPr>
          <p:cNvPr id="13" name="Shape 10"/>
          <p:cNvSpPr/>
          <p:nvPr/>
        </p:nvSpPr>
        <p:spPr>
          <a:xfrm>
            <a:off x="761695" y="2864815"/>
            <a:ext cx="3467405" cy="1352398"/>
          </a:xfrm>
          <a:prstGeom prst="roundRect">
            <a:avLst>
              <a:gd name="adj" fmla="val 3809"/>
            </a:avLst>
          </a:prstGeom>
          <a:solidFill>
            <a:srgbClr val="141414">
              <a:alpha val="70000"/>
            </a:srgbClr>
          </a:solidFill>
          <a:ln/>
        </p:spPr>
        <p:txBody>
          <a:bodyPr/>
          <a:lstStyle/>
          <a:p>
            <a:endParaRPr lang="ja-JP" altLang="en-US"/>
          </a:p>
        </p:txBody>
      </p:sp>
      <p:sp>
        <p:nvSpPr>
          <p:cNvPr id="14" name="Shape 11"/>
          <p:cNvSpPr/>
          <p:nvPr/>
        </p:nvSpPr>
        <p:spPr>
          <a:xfrm>
            <a:off x="761695" y="2864815"/>
            <a:ext cx="3467405" cy="28346"/>
          </a:xfrm>
          <a:prstGeom prst="rect">
            <a:avLst/>
          </a:prstGeom>
          <a:solidFill>
            <a:srgbClr val="3498DB"/>
          </a:solidFill>
          <a:ln/>
        </p:spPr>
        <p:txBody>
          <a:bodyPr/>
          <a:lstStyle/>
          <a:p>
            <a:endParaRPr lang="ja-JP" altLang="en-US"/>
          </a:p>
        </p:txBody>
      </p:sp>
      <p:sp>
        <p:nvSpPr>
          <p:cNvPr id="15" name="Shape 12"/>
          <p:cNvSpPr/>
          <p:nvPr/>
        </p:nvSpPr>
        <p:spPr>
          <a:xfrm>
            <a:off x="7968996" y="2864815"/>
            <a:ext cx="3467405" cy="1352398"/>
          </a:xfrm>
          <a:prstGeom prst="roundRect">
            <a:avLst>
              <a:gd name="adj" fmla="val 3809"/>
            </a:avLst>
          </a:prstGeom>
          <a:solidFill>
            <a:srgbClr val="141414">
              <a:alpha val="70000"/>
            </a:srgbClr>
          </a:solidFill>
          <a:ln/>
        </p:spPr>
        <p:txBody>
          <a:bodyPr/>
          <a:lstStyle/>
          <a:p>
            <a:endParaRPr lang="ja-JP" altLang="en-US"/>
          </a:p>
        </p:txBody>
      </p:sp>
      <p:sp>
        <p:nvSpPr>
          <p:cNvPr id="16" name="Shape 13"/>
          <p:cNvSpPr/>
          <p:nvPr/>
        </p:nvSpPr>
        <p:spPr>
          <a:xfrm>
            <a:off x="7968996" y="2864815"/>
            <a:ext cx="3467405" cy="28346"/>
          </a:xfrm>
          <a:prstGeom prst="rect">
            <a:avLst/>
          </a:prstGeom>
          <a:solidFill>
            <a:srgbClr val="3498DB"/>
          </a:solidFill>
          <a:ln/>
        </p:spPr>
        <p:txBody>
          <a:bodyPr/>
          <a:lstStyle/>
          <a:p>
            <a:endParaRPr lang="ja-JP" altLang="en-US"/>
          </a:p>
        </p:txBody>
      </p:sp>
      <p:sp>
        <p:nvSpPr>
          <p:cNvPr id="17" name="Shape 14"/>
          <p:cNvSpPr/>
          <p:nvPr/>
        </p:nvSpPr>
        <p:spPr>
          <a:xfrm>
            <a:off x="4556455" y="1255471"/>
            <a:ext cx="342900" cy="342900"/>
          </a:xfrm>
          <a:prstGeom prst="ellipse">
            <a:avLst/>
          </a:prstGeom>
          <a:solidFill>
            <a:srgbClr val="3498DB"/>
          </a:solidFill>
          <a:ln/>
        </p:spPr>
        <p:txBody>
          <a:bodyPr/>
          <a:lstStyle/>
          <a:p>
            <a:endParaRPr lang="ja-JP" altLang="en-US"/>
          </a:p>
        </p:txBody>
      </p:sp>
      <p:sp>
        <p:nvSpPr>
          <p:cNvPr id="18" name="Shape 15"/>
          <p:cNvSpPr/>
          <p:nvPr/>
        </p:nvSpPr>
        <p:spPr>
          <a:xfrm>
            <a:off x="952805" y="2750515"/>
            <a:ext cx="342900" cy="342900"/>
          </a:xfrm>
          <a:prstGeom prst="ellipse">
            <a:avLst/>
          </a:prstGeom>
          <a:solidFill>
            <a:srgbClr val="3498DB"/>
          </a:solidFill>
          <a:ln/>
        </p:spPr>
        <p:txBody>
          <a:bodyPr/>
          <a:lstStyle/>
          <a:p>
            <a:endParaRPr lang="ja-JP" altLang="en-US"/>
          </a:p>
        </p:txBody>
      </p:sp>
      <p:sp>
        <p:nvSpPr>
          <p:cNvPr id="19" name="Shape 16"/>
          <p:cNvSpPr/>
          <p:nvPr/>
        </p:nvSpPr>
        <p:spPr>
          <a:xfrm>
            <a:off x="8160106" y="2750515"/>
            <a:ext cx="342900" cy="342900"/>
          </a:xfrm>
          <a:prstGeom prst="ellipse">
            <a:avLst/>
          </a:prstGeom>
          <a:solidFill>
            <a:srgbClr val="3498DB"/>
          </a:solidFill>
          <a:ln/>
        </p:spPr>
        <p:txBody>
          <a:bodyPr/>
          <a:lstStyle/>
          <a:p>
            <a:endParaRPr lang="ja-JP" altLang="en-US"/>
          </a:p>
        </p:txBody>
      </p:sp>
      <p:sp>
        <p:nvSpPr>
          <p:cNvPr id="20" name="Text 17"/>
          <p:cNvSpPr txBox="1"/>
          <p:nvPr/>
        </p:nvSpPr>
        <p:spPr>
          <a:xfrm>
            <a:off x="933602" y="1702613"/>
            <a:ext cx="1467612" cy="181051"/>
          </a:xfrm>
          <a:prstGeom prst="rect">
            <a:avLst/>
          </a:prstGeom>
          <a:noFill/>
          <a:ln/>
        </p:spPr>
        <p:txBody>
          <a:bodyPr wrap="square" lIns="0" tIns="0" rIns="0" bIns="0" rtlCol="0" anchor="ctr"/>
          <a:lstStyle/>
          <a:p>
            <a:pPr marL="0" indent="0" algn="l">
              <a:buNone/>
            </a:pPr>
            <a:r>
              <a:rPr lang="en-US" sz="1200" b="1" dirty="0">
                <a:solidFill>
                  <a:srgbClr val="E74C3C"/>
                </a:solidFill>
                <a:latin typeface="Roboto" pitchFamily="34" charset="0"/>
                <a:ea typeface="Roboto" pitchFamily="34" charset="-122"/>
                <a:cs typeface="Roboto" pitchFamily="34" charset="-120"/>
              </a:rPr>
              <a:t>画質 / Video Quality</a:t>
            </a:r>
            <a:endParaRPr lang="en-US" sz="1200" dirty="0"/>
          </a:p>
        </p:txBody>
      </p:sp>
      <p:sp>
        <p:nvSpPr>
          <p:cNvPr id="21" name="Text 18"/>
          <p:cNvSpPr txBox="1"/>
          <p:nvPr/>
        </p:nvSpPr>
        <p:spPr>
          <a:xfrm>
            <a:off x="933602" y="1988820"/>
            <a:ext cx="1215238" cy="238658"/>
          </a:xfrm>
          <a:prstGeom prst="rect">
            <a:avLst/>
          </a:prstGeom>
          <a:noFill/>
          <a:ln/>
        </p:spPr>
        <p:txBody>
          <a:bodyPr wrap="square" lIns="0" tIns="0" rIns="0" bIns="0" rtlCol="0" anchor="ctr"/>
          <a:lstStyle/>
          <a:p>
            <a:pPr marL="0" indent="0" algn="l">
              <a:buNone/>
            </a:pPr>
            <a:r>
              <a:rPr lang="en-US" sz="1600" b="1" dirty="0">
                <a:solidFill>
                  <a:srgbClr val="FFFFFF"/>
                </a:solidFill>
                <a:latin typeface="Roboto" pitchFamily="34" charset="0"/>
                <a:ea typeface="Roboto" pitchFamily="34" charset="-122"/>
                <a:cs typeface="Roboto" pitchFamily="34" charset="-120"/>
              </a:rPr>
              <a:t>FHD 1080p</a:t>
            </a:r>
            <a:endParaRPr lang="en-US" sz="1600" dirty="0"/>
          </a:p>
        </p:txBody>
      </p:sp>
      <p:sp>
        <p:nvSpPr>
          <p:cNvPr id="22" name="Text 19"/>
          <p:cNvSpPr txBox="1"/>
          <p:nvPr/>
        </p:nvSpPr>
        <p:spPr>
          <a:xfrm>
            <a:off x="933602" y="2255825"/>
            <a:ext cx="543154" cy="181051"/>
          </a:xfrm>
          <a:prstGeom prst="rect">
            <a:avLst/>
          </a:prstGeom>
          <a:noFill/>
          <a:ln/>
        </p:spPr>
        <p:txBody>
          <a:bodyPr wrap="square" lIns="0" tIns="0" rIns="0" bIns="0" rtlCol="0" anchor="ctr"/>
          <a:lstStyle/>
          <a:p>
            <a:pPr marL="0" indent="0" algn="l">
              <a:buNone/>
            </a:pPr>
            <a:r>
              <a:rPr lang="en-US" sz="1200" dirty="0">
                <a:solidFill>
                  <a:srgbClr val="CCCCCC"/>
                </a:solidFill>
                <a:latin typeface="Roboto" pitchFamily="34" charset="0"/>
                <a:ea typeface="Roboto" pitchFamily="34" charset="-122"/>
                <a:cs typeface="Roboto" pitchFamily="34" charset="-120"/>
              </a:rPr>
              <a:t>30 fps</a:t>
            </a:r>
            <a:endParaRPr lang="en-US" sz="1200" dirty="0"/>
          </a:p>
        </p:txBody>
      </p:sp>
      <p:pic>
        <p:nvPicPr>
          <p:cNvPr id="23" name="Image 1" descr="preencoded.png"/>
          <p:cNvPicPr>
            <a:picLocks noChangeAspect="1"/>
          </p:cNvPicPr>
          <p:nvPr/>
        </p:nvPicPr>
        <p:blipFill>
          <a:blip r:embed="rId4"/>
          <a:srcRect t="-180" b="-180"/>
          <a:stretch/>
        </p:blipFill>
        <p:spPr>
          <a:xfrm>
            <a:off x="4632350" y="1350569"/>
            <a:ext cx="190195" cy="152705"/>
          </a:xfrm>
          <a:prstGeom prst="rect">
            <a:avLst/>
          </a:prstGeom>
        </p:spPr>
      </p:pic>
      <p:sp>
        <p:nvSpPr>
          <p:cNvPr id="24" name="Shape 20"/>
          <p:cNvSpPr/>
          <p:nvPr/>
        </p:nvSpPr>
        <p:spPr>
          <a:xfrm>
            <a:off x="7968996" y="1369771"/>
            <a:ext cx="3467405" cy="1352398"/>
          </a:xfrm>
          <a:prstGeom prst="roundRect">
            <a:avLst>
              <a:gd name="adj" fmla="val 3809"/>
            </a:avLst>
          </a:prstGeom>
          <a:solidFill>
            <a:srgbClr val="141414">
              <a:alpha val="70000"/>
            </a:srgbClr>
          </a:solidFill>
          <a:ln/>
        </p:spPr>
        <p:txBody>
          <a:bodyPr/>
          <a:lstStyle/>
          <a:p>
            <a:endParaRPr lang="ja-JP" altLang="en-US"/>
          </a:p>
        </p:txBody>
      </p:sp>
      <p:sp>
        <p:nvSpPr>
          <p:cNvPr id="25" name="Shape 21"/>
          <p:cNvSpPr/>
          <p:nvPr/>
        </p:nvSpPr>
        <p:spPr>
          <a:xfrm>
            <a:off x="7968996" y="1369771"/>
            <a:ext cx="3467405" cy="28346"/>
          </a:xfrm>
          <a:prstGeom prst="rect">
            <a:avLst/>
          </a:prstGeom>
          <a:solidFill>
            <a:srgbClr val="E74C3C"/>
          </a:solidFill>
          <a:ln/>
        </p:spPr>
        <p:txBody>
          <a:bodyPr/>
          <a:lstStyle/>
          <a:p>
            <a:endParaRPr lang="ja-JP" altLang="en-US"/>
          </a:p>
        </p:txBody>
      </p:sp>
      <p:sp>
        <p:nvSpPr>
          <p:cNvPr id="26" name="Shape 22"/>
          <p:cNvSpPr/>
          <p:nvPr/>
        </p:nvSpPr>
        <p:spPr>
          <a:xfrm>
            <a:off x="4365346" y="2864815"/>
            <a:ext cx="3467405" cy="1352398"/>
          </a:xfrm>
          <a:prstGeom prst="roundRect">
            <a:avLst>
              <a:gd name="adj" fmla="val 3809"/>
            </a:avLst>
          </a:prstGeom>
          <a:solidFill>
            <a:srgbClr val="141414">
              <a:alpha val="70000"/>
            </a:srgbClr>
          </a:solidFill>
          <a:ln/>
        </p:spPr>
        <p:txBody>
          <a:bodyPr/>
          <a:lstStyle/>
          <a:p>
            <a:endParaRPr lang="ja-JP" altLang="en-US"/>
          </a:p>
        </p:txBody>
      </p:sp>
      <p:sp>
        <p:nvSpPr>
          <p:cNvPr id="27" name="Shape 23"/>
          <p:cNvSpPr/>
          <p:nvPr/>
        </p:nvSpPr>
        <p:spPr>
          <a:xfrm>
            <a:off x="4365346" y="2864815"/>
            <a:ext cx="3467405" cy="28346"/>
          </a:xfrm>
          <a:prstGeom prst="rect">
            <a:avLst/>
          </a:prstGeom>
          <a:solidFill>
            <a:srgbClr val="E74C3C"/>
          </a:solidFill>
          <a:ln/>
        </p:spPr>
        <p:txBody>
          <a:bodyPr/>
          <a:lstStyle/>
          <a:p>
            <a:endParaRPr lang="ja-JP" altLang="en-US"/>
          </a:p>
        </p:txBody>
      </p:sp>
      <p:sp>
        <p:nvSpPr>
          <p:cNvPr id="28" name="Shape 24"/>
          <p:cNvSpPr/>
          <p:nvPr/>
        </p:nvSpPr>
        <p:spPr>
          <a:xfrm>
            <a:off x="8160106" y="1255471"/>
            <a:ext cx="342900" cy="342900"/>
          </a:xfrm>
          <a:prstGeom prst="ellipse">
            <a:avLst/>
          </a:prstGeom>
          <a:solidFill>
            <a:srgbClr val="E74C3C"/>
          </a:solidFill>
          <a:ln/>
        </p:spPr>
        <p:txBody>
          <a:bodyPr/>
          <a:lstStyle/>
          <a:p>
            <a:endParaRPr lang="ja-JP" altLang="en-US"/>
          </a:p>
        </p:txBody>
      </p:sp>
      <p:sp>
        <p:nvSpPr>
          <p:cNvPr id="29" name="Shape 25"/>
          <p:cNvSpPr/>
          <p:nvPr/>
        </p:nvSpPr>
        <p:spPr>
          <a:xfrm>
            <a:off x="4556455" y="2750515"/>
            <a:ext cx="342900" cy="342900"/>
          </a:xfrm>
          <a:prstGeom prst="ellipse">
            <a:avLst/>
          </a:prstGeom>
          <a:solidFill>
            <a:srgbClr val="E74C3C"/>
          </a:solidFill>
          <a:ln/>
        </p:spPr>
        <p:txBody>
          <a:bodyPr/>
          <a:lstStyle/>
          <a:p>
            <a:endParaRPr lang="ja-JP" altLang="en-US"/>
          </a:p>
        </p:txBody>
      </p:sp>
      <p:sp>
        <p:nvSpPr>
          <p:cNvPr id="30" name="Text 26"/>
          <p:cNvSpPr txBox="1"/>
          <p:nvPr/>
        </p:nvSpPr>
        <p:spPr>
          <a:xfrm>
            <a:off x="4537253" y="1702613"/>
            <a:ext cx="1619402" cy="181051"/>
          </a:xfrm>
          <a:prstGeom prst="rect">
            <a:avLst/>
          </a:prstGeom>
          <a:noFill/>
          <a:ln/>
        </p:spPr>
        <p:txBody>
          <a:bodyPr wrap="square" lIns="0" tIns="0" rIns="0" bIns="0" rtlCol="0" anchor="ctr"/>
          <a:lstStyle/>
          <a:p>
            <a:pPr marL="0" indent="0" algn="l">
              <a:buNone/>
            </a:pPr>
            <a:r>
              <a:rPr lang="en-US" sz="1200" b="1" dirty="0">
                <a:solidFill>
                  <a:srgbClr val="3498DB"/>
                </a:solidFill>
                <a:latin typeface="Roboto" pitchFamily="34" charset="0"/>
                <a:ea typeface="Roboto" pitchFamily="34" charset="-122"/>
                <a:cs typeface="Roboto" pitchFamily="34" charset="-120"/>
              </a:rPr>
              <a:t>ビットレート / Bitrate</a:t>
            </a:r>
            <a:endParaRPr lang="en-US" sz="1200" dirty="0"/>
          </a:p>
        </p:txBody>
      </p:sp>
      <p:sp>
        <p:nvSpPr>
          <p:cNvPr id="31" name="Text 27"/>
          <p:cNvSpPr txBox="1"/>
          <p:nvPr/>
        </p:nvSpPr>
        <p:spPr>
          <a:xfrm>
            <a:off x="4537253" y="2045513"/>
            <a:ext cx="1196035" cy="238658"/>
          </a:xfrm>
          <a:prstGeom prst="rect">
            <a:avLst/>
          </a:prstGeom>
          <a:noFill/>
          <a:ln/>
        </p:spPr>
        <p:txBody>
          <a:bodyPr wrap="square" lIns="0" tIns="0" rIns="0" bIns="0" rtlCol="0" anchor="ctr"/>
          <a:lstStyle/>
          <a:p>
            <a:pPr marL="0" indent="0" algn="l">
              <a:buNone/>
            </a:pPr>
            <a:r>
              <a:rPr lang="en-US" sz="1600" b="1" dirty="0">
                <a:solidFill>
                  <a:srgbClr val="FFFFFF"/>
                </a:solidFill>
                <a:latin typeface="Roboto" pitchFamily="34" charset="0"/>
                <a:ea typeface="Roboto" pitchFamily="34" charset="-122"/>
                <a:cs typeface="Roboto" pitchFamily="34" charset="-120"/>
              </a:rPr>
              <a:t>1〜3 Mbps</a:t>
            </a:r>
            <a:endParaRPr lang="en-US" sz="1600" dirty="0"/>
          </a:p>
        </p:txBody>
      </p:sp>
      <p:sp>
        <p:nvSpPr>
          <p:cNvPr id="32" name="Text 28"/>
          <p:cNvSpPr txBox="1"/>
          <p:nvPr/>
        </p:nvSpPr>
        <p:spPr>
          <a:xfrm>
            <a:off x="4537253" y="2360066"/>
            <a:ext cx="1591056" cy="181051"/>
          </a:xfrm>
          <a:prstGeom prst="rect">
            <a:avLst/>
          </a:prstGeom>
          <a:noFill/>
          <a:ln/>
        </p:spPr>
        <p:txBody>
          <a:bodyPr wrap="square" lIns="0" tIns="0" rIns="0" bIns="0" rtlCol="0" anchor="ctr"/>
          <a:lstStyle/>
          <a:p>
            <a:pPr marL="0" indent="0" algn="l">
              <a:buNone/>
            </a:pPr>
            <a:r>
              <a:rPr lang="en-US" sz="1200" dirty="0">
                <a:solidFill>
                  <a:srgbClr val="CCCCCC"/>
                </a:solidFill>
                <a:latin typeface="Roboto" pitchFamily="34" charset="0"/>
                <a:ea typeface="Roboto" pitchFamily="34" charset="-122"/>
                <a:cs typeface="Roboto" pitchFamily="34" charset="-120"/>
              </a:rPr>
              <a:t>推奨 / Recommended</a:t>
            </a:r>
            <a:endParaRPr lang="en-US" sz="1200" dirty="0"/>
          </a:p>
        </p:txBody>
      </p:sp>
      <p:pic>
        <p:nvPicPr>
          <p:cNvPr id="33" name="Image 2" descr="preencoded.png"/>
          <p:cNvPicPr>
            <a:picLocks noChangeAspect="1"/>
          </p:cNvPicPr>
          <p:nvPr/>
        </p:nvPicPr>
        <p:blipFill>
          <a:blip r:embed="rId5"/>
          <a:srcRect t="-43" b="-43"/>
          <a:stretch/>
        </p:blipFill>
        <p:spPr>
          <a:xfrm>
            <a:off x="8264347" y="1350569"/>
            <a:ext cx="133502" cy="152705"/>
          </a:xfrm>
          <a:prstGeom prst="rect">
            <a:avLst/>
          </a:prstGeom>
        </p:spPr>
      </p:pic>
      <p:sp>
        <p:nvSpPr>
          <p:cNvPr id="34" name="Text 29"/>
          <p:cNvSpPr txBox="1"/>
          <p:nvPr/>
        </p:nvSpPr>
        <p:spPr>
          <a:xfrm>
            <a:off x="8140903" y="1702613"/>
            <a:ext cx="1095451" cy="181051"/>
          </a:xfrm>
          <a:prstGeom prst="rect">
            <a:avLst/>
          </a:prstGeom>
          <a:noFill/>
          <a:ln/>
        </p:spPr>
        <p:txBody>
          <a:bodyPr wrap="square" lIns="0" tIns="0" rIns="0" bIns="0" rtlCol="0" anchor="ctr"/>
          <a:lstStyle/>
          <a:p>
            <a:pPr marL="0" indent="0" algn="l">
              <a:buNone/>
            </a:pPr>
            <a:r>
              <a:rPr lang="en-US" sz="1200" b="1" dirty="0">
                <a:solidFill>
                  <a:srgbClr val="E74C3C"/>
                </a:solidFill>
                <a:latin typeface="Roboto" pitchFamily="34" charset="0"/>
                <a:ea typeface="Roboto" pitchFamily="34" charset="-122"/>
                <a:cs typeface="Roboto" pitchFamily="34" charset="-120"/>
              </a:rPr>
              <a:t>遅延 / Latency</a:t>
            </a:r>
            <a:endParaRPr lang="en-US" sz="1200" dirty="0"/>
          </a:p>
        </p:txBody>
      </p:sp>
      <p:sp>
        <p:nvSpPr>
          <p:cNvPr id="35" name="Text 30"/>
          <p:cNvSpPr txBox="1"/>
          <p:nvPr/>
        </p:nvSpPr>
        <p:spPr>
          <a:xfrm>
            <a:off x="8140903" y="2045513"/>
            <a:ext cx="1053389" cy="238658"/>
          </a:xfrm>
          <a:prstGeom prst="rect">
            <a:avLst/>
          </a:prstGeom>
          <a:noFill/>
          <a:ln/>
        </p:spPr>
        <p:txBody>
          <a:bodyPr wrap="square" lIns="0" tIns="0" rIns="0" bIns="0" rtlCol="0" anchor="ctr"/>
          <a:lstStyle/>
          <a:p>
            <a:pPr marL="0" indent="0" algn="l">
              <a:buNone/>
            </a:pPr>
            <a:r>
              <a:rPr lang="en-US" sz="1600" b="1" dirty="0">
                <a:solidFill>
                  <a:srgbClr val="FFFFFF"/>
                </a:solidFill>
                <a:latin typeface="Roboto" pitchFamily="34" charset="0"/>
                <a:ea typeface="Roboto" pitchFamily="34" charset="-122"/>
                <a:cs typeface="Roboto" pitchFamily="34" charset="-120"/>
              </a:rPr>
              <a:t>0.5〜2 秒</a:t>
            </a:r>
            <a:endParaRPr lang="en-US" sz="1600" dirty="0"/>
          </a:p>
        </p:txBody>
      </p:sp>
      <p:sp>
        <p:nvSpPr>
          <p:cNvPr id="36" name="Text 31"/>
          <p:cNvSpPr txBox="1"/>
          <p:nvPr/>
        </p:nvSpPr>
        <p:spPr>
          <a:xfrm>
            <a:off x="8140903" y="2322576"/>
            <a:ext cx="1334110" cy="181051"/>
          </a:xfrm>
          <a:prstGeom prst="rect">
            <a:avLst/>
          </a:prstGeom>
          <a:noFill/>
          <a:ln/>
        </p:spPr>
        <p:txBody>
          <a:bodyPr wrap="square" lIns="0" tIns="0" rIns="0" bIns="0" rtlCol="0" anchor="ctr"/>
          <a:lstStyle/>
          <a:p>
            <a:pPr marL="0" indent="0" algn="l">
              <a:buNone/>
            </a:pPr>
            <a:r>
              <a:rPr lang="en-US" sz="1200" dirty="0">
                <a:solidFill>
                  <a:srgbClr val="CCCCCC"/>
                </a:solidFill>
                <a:latin typeface="Roboto" pitchFamily="34" charset="0"/>
                <a:ea typeface="Roboto" pitchFamily="34" charset="-122"/>
                <a:cs typeface="Roboto" pitchFamily="34" charset="-120"/>
              </a:rPr>
              <a:t>Ultra Low-Latency</a:t>
            </a:r>
            <a:endParaRPr lang="en-US" sz="1200" dirty="0"/>
          </a:p>
        </p:txBody>
      </p:sp>
      <p:pic>
        <p:nvPicPr>
          <p:cNvPr id="37" name="Image 3" descr="preencoded.png"/>
          <p:cNvPicPr>
            <a:picLocks noChangeAspect="1"/>
          </p:cNvPicPr>
          <p:nvPr/>
        </p:nvPicPr>
        <p:blipFill>
          <a:blip r:embed="rId6"/>
          <a:srcRect/>
          <a:stretch/>
        </p:blipFill>
        <p:spPr>
          <a:xfrm>
            <a:off x="1047902" y="2845613"/>
            <a:ext cx="152705" cy="152705"/>
          </a:xfrm>
          <a:prstGeom prst="rect">
            <a:avLst/>
          </a:prstGeom>
        </p:spPr>
      </p:pic>
      <p:sp>
        <p:nvSpPr>
          <p:cNvPr id="38" name="Text 32"/>
          <p:cNvSpPr txBox="1"/>
          <p:nvPr/>
        </p:nvSpPr>
        <p:spPr>
          <a:xfrm>
            <a:off x="933602" y="3198571"/>
            <a:ext cx="1562710" cy="181051"/>
          </a:xfrm>
          <a:prstGeom prst="rect">
            <a:avLst/>
          </a:prstGeom>
          <a:noFill/>
          <a:ln/>
        </p:spPr>
        <p:txBody>
          <a:bodyPr wrap="square" lIns="0" tIns="0" rIns="0" bIns="0" rtlCol="0" anchor="ctr"/>
          <a:lstStyle/>
          <a:p>
            <a:pPr marL="0" indent="0" algn="l">
              <a:buNone/>
            </a:pPr>
            <a:r>
              <a:rPr lang="en-US" sz="1200" b="1" dirty="0">
                <a:solidFill>
                  <a:srgbClr val="3498DB"/>
                </a:solidFill>
                <a:latin typeface="Roboto" pitchFamily="34" charset="0"/>
                <a:ea typeface="Roboto" pitchFamily="34" charset="-122"/>
                <a:cs typeface="Roboto" pitchFamily="34" charset="-120"/>
              </a:rPr>
              <a:t>総重量 / Total Weight</a:t>
            </a:r>
            <a:endParaRPr lang="en-US" sz="1200" dirty="0"/>
          </a:p>
        </p:txBody>
      </p:sp>
      <p:sp>
        <p:nvSpPr>
          <p:cNvPr id="39" name="Text 33"/>
          <p:cNvSpPr txBox="1"/>
          <p:nvPr/>
        </p:nvSpPr>
        <p:spPr>
          <a:xfrm>
            <a:off x="933602" y="3541471"/>
            <a:ext cx="1004926" cy="238658"/>
          </a:xfrm>
          <a:prstGeom prst="rect">
            <a:avLst/>
          </a:prstGeom>
          <a:noFill/>
          <a:ln/>
        </p:spPr>
        <p:txBody>
          <a:bodyPr wrap="square" lIns="0" tIns="0" rIns="0" bIns="0" rtlCol="0" anchor="ctr"/>
          <a:lstStyle/>
          <a:p>
            <a:pPr marL="0" indent="0" algn="l">
              <a:buNone/>
            </a:pPr>
            <a:r>
              <a:rPr lang="en-US" sz="1600" b="1" dirty="0">
                <a:solidFill>
                  <a:srgbClr val="FFFFFF"/>
                </a:solidFill>
                <a:latin typeface="Roboto" pitchFamily="34" charset="0"/>
                <a:ea typeface="Roboto" pitchFamily="34" charset="-122"/>
                <a:cs typeface="Roboto" pitchFamily="34" charset="-120"/>
              </a:rPr>
              <a:t>約 2.5 kg</a:t>
            </a:r>
            <a:endParaRPr lang="en-US" sz="1600" dirty="0"/>
          </a:p>
        </p:txBody>
      </p:sp>
      <p:sp>
        <p:nvSpPr>
          <p:cNvPr id="40" name="Text 34"/>
          <p:cNvSpPr txBox="1"/>
          <p:nvPr/>
        </p:nvSpPr>
        <p:spPr>
          <a:xfrm>
            <a:off x="933602" y="3856025"/>
            <a:ext cx="1972361" cy="181051"/>
          </a:xfrm>
          <a:prstGeom prst="rect">
            <a:avLst/>
          </a:prstGeom>
          <a:noFill/>
          <a:ln/>
        </p:spPr>
        <p:txBody>
          <a:bodyPr wrap="square" lIns="0" tIns="0" rIns="0" bIns="0" rtlCol="0" anchor="ctr"/>
          <a:lstStyle/>
          <a:p>
            <a:pPr marL="0" indent="0" algn="l">
              <a:buNone/>
            </a:pPr>
            <a:r>
              <a:rPr lang="en-US" sz="1200" dirty="0">
                <a:solidFill>
                  <a:srgbClr val="CCCCCC"/>
                </a:solidFill>
                <a:latin typeface="Roboto" pitchFamily="34" charset="0"/>
                <a:ea typeface="Roboto" pitchFamily="34" charset="-122"/>
                <a:cs typeface="Roboto" pitchFamily="34" charset="-120"/>
              </a:rPr>
              <a:t>送信機+バッテリー+カメラ</a:t>
            </a:r>
            <a:endParaRPr lang="en-US" sz="1200" dirty="0"/>
          </a:p>
        </p:txBody>
      </p:sp>
      <p:pic>
        <p:nvPicPr>
          <p:cNvPr id="41" name="Image 4" descr="preencoded.png"/>
          <p:cNvPicPr>
            <a:picLocks noChangeAspect="1"/>
          </p:cNvPicPr>
          <p:nvPr/>
        </p:nvPicPr>
        <p:blipFill>
          <a:blip r:embed="rId7"/>
          <a:srcRect t="-100" b="-100"/>
          <a:stretch/>
        </p:blipFill>
        <p:spPr>
          <a:xfrm>
            <a:off x="4670755" y="2845613"/>
            <a:ext cx="114300" cy="152705"/>
          </a:xfrm>
          <a:prstGeom prst="rect">
            <a:avLst/>
          </a:prstGeom>
        </p:spPr>
      </p:pic>
      <p:pic>
        <p:nvPicPr>
          <p:cNvPr id="42" name="Image 5" descr="preencoded.png"/>
          <p:cNvPicPr>
            <a:picLocks noChangeAspect="1"/>
          </p:cNvPicPr>
          <p:nvPr/>
        </p:nvPicPr>
        <p:blipFill>
          <a:blip r:embed="rId8"/>
          <a:srcRect/>
          <a:stretch/>
        </p:blipFill>
        <p:spPr>
          <a:xfrm>
            <a:off x="8255203" y="2845613"/>
            <a:ext cx="152705" cy="152705"/>
          </a:xfrm>
          <a:prstGeom prst="rect">
            <a:avLst/>
          </a:prstGeom>
        </p:spPr>
      </p:pic>
      <p:sp>
        <p:nvSpPr>
          <p:cNvPr id="43" name="Shape 35"/>
          <p:cNvSpPr/>
          <p:nvPr/>
        </p:nvSpPr>
        <p:spPr>
          <a:xfrm>
            <a:off x="761695" y="4408322"/>
            <a:ext cx="10668305" cy="1790395"/>
          </a:xfrm>
          <a:prstGeom prst="roundRect">
            <a:avLst>
              <a:gd name="adj" fmla="val 2173"/>
            </a:avLst>
          </a:prstGeom>
          <a:solidFill>
            <a:srgbClr val="141414">
              <a:alpha val="70000"/>
            </a:srgbClr>
          </a:solidFill>
          <a:ln/>
        </p:spPr>
        <p:txBody>
          <a:bodyPr/>
          <a:lstStyle/>
          <a:p>
            <a:endParaRPr lang="ja-JP" altLang="en-US"/>
          </a:p>
        </p:txBody>
      </p:sp>
      <p:sp>
        <p:nvSpPr>
          <p:cNvPr id="44" name="Text 36"/>
          <p:cNvSpPr txBox="1"/>
          <p:nvPr/>
        </p:nvSpPr>
        <p:spPr>
          <a:xfrm>
            <a:off x="1000354" y="4617720"/>
            <a:ext cx="3343961" cy="181051"/>
          </a:xfrm>
          <a:prstGeom prst="rect">
            <a:avLst/>
          </a:prstGeom>
          <a:noFill/>
          <a:ln/>
        </p:spPr>
        <p:txBody>
          <a:bodyPr wrap="square" lIns="0" tIns="0" rIns="0" bIns="0" rtlCol="0" anchor="ctr"/>
          <a:lstStyle/>
          <a:p>
            <a:pPr marL="0" indent="0" algn="l">
              <a:buNone/>
            </a:pPr>
            <a:r>
              <a:rPr lang="en-US" sz="1200" b="1" dirty="0">
                <a:solidFill>
                  <a:srgbClr val="FFFFFF"/>
                </a:solidFill>
                <a:latin typeface="Roboto" pitchFamily="34" charset="0"/>
                <a:ea typeface="Roboto" pitchFamily="34" charset="-122"/>
                <a:cs typeface="Roboto" pitchFamily="34" charset="-120"/>
              </a:rPr>
              <a:t>システムコンポーネント / System Components</a:t>
            </a:r>
            <a:endParaRPr lang="en-US" sz="1200" dirty="0"/>
          </a:p>
        </p:txBody>
      </p:sp>
      <p:sp>
        <p:nvSpPr>
          <p:cNvPr id="45" name="Text 37"/>
          <p:cNvSpPr txBox="1"/>
          <p:nvPr/>
        </p:nvSpPr>
        <p:spPr>
          <a:xfrm>
            <a:off x="4537253" y="3198571"/>
            <a:ext cx="1295705" cy="181051"/>
          </a:xfrm>
          <a:prstGeom prst="rect">
            <a:avLst/>
          </a:prstGeom>
          <a:noFill/>
          <a:ln/>
        </p:spPr>
        <p:txBody>
          <a:bodyPr wrap="square" lIns="0" tIns="0" rIns="0" bIns="0" rtlCol="0" anchor="ctr"/>
          <a:lstStyle/>
          <a:p>
            <a:pPr marL="0" indent="0" algn="l">
              <a:buNone/>
            </a:pPr>
            <a:r>
              <a:rPr lang="en-US" sz="1200" b="1" dirty="0">
                <a:solidFill>
                  <a:srgbClr val="E74C3C"/>
                </a:solidFill>
                <a:latin typeface="Roboto" pitchFamily="34" charset="0"/>
                <a:ea typeface="Roboto" pitchFamily="34" charset="-122"/>
                <a:cs typeface="Roboto" pitchFamily="34" charset="-120"/>
              </a:rPr>
              <a:t>消費電力 / Power</a:t>
            </a:r>
            <a:endParaRPr lang="en-US" sz="1200" dirty="0"/>
          </a:p>
        </p:txBody>
      </p:sp>
      <p:sp>
        <p:nvSpPr>
          <p:cNvPr id="46" name="Text 38"/>
          <p:cNvSpPr txBox="1"/>
          <p:nvPr/>
        </p:nvSpPr>
        <p:spPr>
          <a:xfrm>
            <a:off x="4537253" y="3541471"/>
            <a:ext cx="1215238" cy="238658"/>
          </a:xfrm>
          <a:prstGeom prst="rect">
            <a:avLst/>
          </a:prstGeom>
          <a:noFill/>
          <a:ln/>
        </p:spPr>
        <p:txBody>
          <a:bodyPr wrap="square" lIns="0" tIns="0" rIns="0" bIns="0" rtlCol="0" anchor="ctr"/>
          <a:lstStyle/>
          <a:p>
            <a:pPr marL="0" indent="0" algn="l">
              <a:buNone/>
            </a:pPr>
            <a:r>
              <a:rPr lang="en-US" sz="1600" b="1" dirty="0">
                <a:solidFill>
                  <a:srgbClr val="FFFFFF"/>
                </a:solidFill>
                <a:latin typeface="Roboto" pitchFamily="34" charset="0"/>
                <a:ea typeface="Roboto" pitchFamily="34" charset="-122"/>
                <a:cs typeface="Roboto" pitchFamily="34" charset="-120"/>
              </a:rPr>
              <a:t>低消費電力</a:t>
            </a:r>
            <a:endParaRPr lang="en-US" sz="1600" dirty="0"/>
          </a:p>
        </p:txBody>
      </p:sp>
      <p:sp>
        <p:nvSpPr>
          <p:cNvPr id="47" name="Text 39"/>
          <p:cNvSpPr txBox="1"/>
          <p:nvPr/>
        </p:nvSpPr>
        <p:spPr>
          <a:xfrm>
            <a:off x="4537253" y="3817620"/>
            <a:ext cx="1819656" cy="181051"/>
          </a:xfrm>
          <a:prstGeom prst="rect">
            <a:avLst/>
          </a:prstGeom>
          <a:noFill/>
          <a:ln/>
        </p:spPr>
        <p:txBody>
          <a:bodyPr wrap="square" lIns="0" tIns="0" rIns="0" bIns="0" rtlCol="0" anchor="ctr"/>
          <a:lstStyle/>
          <a:p>
            <a:pPr marL="0" indent="0" algn="l">
              <a:buNone/>
            </a:pPr>
            <a:r>
              <a:rPr lang="en-US" sz="1200" dirty="0">
                <a:solidFill>
                  <a:srgbClr val="CCCCCC"/>
                </a:solidFill>
                <a:latin typeface="Roboto" pitchFamily="34" charset="0"/>
                <a:ea typeface="Roboto" pitchFamily="34" charset="-122"/>
                <a:cs typeface="Roboto" pitchFamily="34" charset="-120"/>
              </a:rPr>
              <a:t>Low Power Consumption</a:t>
            </a:r>
            <a:endParaRPr lang="en-US" sz="1200" dirty="0"/>
          </a:p>
        </p:txBody>
      </p:sp>
      <p:sp>
        <p:nvSpPr>
          <p:cNvPr id="48" name="Text 40"/>
          <p:cNvSpPr txBox="1"/>
          <p:nvPr/>
        </p:nvSpPr>
        <p:spPr>
          <a:xfrm>
            <a:off x="8140903" y="3198571"/>
            <a:ext cx="1515161" cy="181051"/>
          </a:xfrm>
          <a:prstGeom prst="rect">
            <a:avLst/>
          </a:prstGeom>
          <a:noFill/>
          <a:ln/>
        </p:spPr>
        <p:txBody>
          <a:bodyPr wrap="square" lIns="0" tIns="0" rIns="0" bIns="0" rtlCol="0" anchor="ctr"/>
          <a:lstStyle/>
          <a:p>
            <a:pPr marL="0" indent="0" algn="l">
              <a:buNone/>
            </a:pPr>
            <a:r>
              <a:rPr lang="en-US" sz="1200" b="1" dirty="0">
                <a:solidFill>
                  <a:srgbClr val="3498DB"/>
                </a:solidFill>
                <a:latin typeface="Roboto" pitchFamily="34" charset="0"/>
                <a:ea typeface="Roboto" pitchFamily="34" charset="-122"/>
                <a:cs typeface="Roboto" pitchFamily="34" charset="-120"/>
              </a:rPr>
              <a:t>筐体設計 / Durability</a:t>
            </a:r>
            <a:endParaRPr lang="en-US" sz="1200" dirty="0"/>
          </a:p>
        </p:txBody>
      </p:sp>
      <p:sp>
        <p:nvSpPr>
          <p:cNvPr id="49" name="Text 41"/>
          <p:cNvSpPr txBox="1"/>
          <p:nvPr/>
        </p:nvSpPr>
        <p:spPr>
          <a:xfrm>
            <a:off x="8140903" y="3541471"/>
            <a:ext cx="1424635" cy="238658"/>
          </a:xfrm>
          <a:prstGeom prst="rect">
            <a:avLst/>
          </a:prstGeom>
          <a:noFill/>
          <a:ln/>
        </p:spPr>
        <p:txBody>
          <a:bodyPr wrap="square" lIns="0" tIns="0" rIns="0" bIns="0" rtlCol="0" anchor="ctr"/>
          <a:lstStyle/>
          <a:p>
            <a:pPr marL="0" indent="0" algn="l">
              <a:buNone/>
            </a:pPr>
            <a:r>
              <a:rPr lang="en-US" sz="1600" b="1" dirty="0">
                <a:solidFill>
                  <a:srgbClr val="FFFFFF"/>
                </a:solidFill>
                <a:latin typeface="Roboto" pitchFamily="34" charset="0"/>
                <a:ea typeface="Roboto" pitchFamily="34" charset="-122"/>
                <a:cs typeface="Roboto" pitchFamily="34" charset="-120"/>
              </a:rPr>
              <a:t>振動対応設計</a:t>
            </a:r>
            <a:endParaRPr lang="en-US" sz="1600" dirty="0"/>
          </a:p>
        </p:txBody>
      </p:sp>
      <p:sp>
        <p:nvSpPr>
          <p:cNvPr id="50" name="Text 42"/>
          <p:cNvSpPr txBox="1"/>
          <p:nvPr/>
        </p:nvSpPr>
        <p:spPr>
          <a:xfrm>
            <a:off x="8140903" y="3817620"/>
            <a:ext cx="1905610" cy="181051"/>
          </a:xfrm>
          <a:prstGeom prst="rect">
            <a:avLst/>
          </a:prstGeom>
          <a:noFill/>
          <a:ln/>
        </p:spPr>
        <p:txBody>
          <a:bodyPr wrap="square" lIns="0" tIns="0" rIns="0" bIns="0" rtlCol="0" anchor="ctr"/>
          <a:lstStyle/>
          <a:p>
            <a:pPr marL="0" indent="0" algn="l">
              <a:buNone/>
            </a:pPr>
            <a:r>
              <a:rPr lang="en-US" sz="1200" dirty="0">
                <a:solidFill>
                  <a:srgbClr val="CCCCCC"/>
                </a:solidFill>
                <a:latin typeface="Roboto" pitchFamily="34" charset="0"/>
                <a:ea typeface="Roboto" pitchFamily="34" charset="-122"/>
                <a:cs typeface="Roboto" pitchFamily="34" charset="-120"/>
              </a:rPr>
              <a:t>Racing Vibration Resistant</a:t>
            </a:r>
            <a:endParaRPr lang="en-US" sz="1200" dirty="0"/>
          </a:p>
        </p:txBody>
      </p:sp>
      <p:sp>
        <p:nvSpPr>
          <p:cNvPr id="51" name="Shape 43"/>
          <p:cNvSpPr/>
          <p:nvPr/>
        </p:nvSpPr>
        <p:spPr>
          <a:xfrm>
            <a:off x="1546250" y="4951476"/>
            <a:ext cx="609905" cy="609905"/>
          </a:xfrm>
          <a:prstGeom prst="ellipse">
            <a:avLst/>
          </a:prstGeom>
          <a:solidFill>
            <a:srgbClr val="3498DB">
              <a:alpha val="20000"/>
            </a:srgbClr>
          </a:solidFill>
          <a:ln w="25400">
            <a:solidFill>
              <a:srgbClr val="3498DB"/>
            </a:solidFill>
            <a:prstDash val="solid"/>
          </a:ln>
        </p:spPr>
        <p:txBody>
          <a:bodyPr/>
          <a:lstStyle/>
          <a:p>
            <a:endParaRPr lang="ja-JP" altLang="en-US"/>
          </a:p>
        </p:txBody>
      </p:sp>
      <p:pic>
        <p:nvPicPr>
          <p:cNvPr id="52" name="Image 6" descr="preencoded.png"/>
          <p:cNvPicPr>
            <a:picLocks noChangeAspect="1"/>
          </p:cNvPicPr>
          <p:nvPr/>
        </p:nvPicPr>
        <p:blipFill>
          <a:blip r:embed="rId9"/>
          <a:srcRect/>
          <a:stretch/>
        </p:blipFill>
        <p:spPr>
          <a:xfrm>
            <a:off x="1717243" y="5122469"/>
            <a:ext cx="267005" cy="267005"/>
          </a:xfrm>
          <a:prstGeom prst="rect">
            <a:avLst/>
          </a:prstGeom>
        </p:spPr>
      </p:pic>
      <p:sp>
        <p:nvSpPr>
          <p:cNvPr id="53" name="Shape 44"/>
          <p:cNvSpPr/>
          <p:nvPr/>
        </p:nvSpPr>
        <p:spPr>
          <a:xfrm>
            <a:off x="4313225" y="4951476"/>
            <a:ext cx="609905" cy="609905"/>
          </a:xfrm>
          <a:prstGeom prst="ellipse">
            <a:avLst/>
          </a:prstGeom>
          <a:solidFill>
            <a:srgbClr val="E74C3C">
              <a:alpha val="20000"/>
            </a:srgbClr>
          </a:solidFill>
          <a:ln w="25400">
            <a:solidFill>
              <a:srgbClr val="E74C3C"/>
            </a:solidFill>
            <a:prstDash val="solid"/>
          </a:ln>
        </p:spPr>
        <p:txBody>
          <a:bodyPr/>
          <a:lstStyle/>
          <a:p>
            <a:endParaRPr lang="ja-JP" altLang="en-US"/>
          </a:p>
        </p:txBody>
      </p:sp>
      <p:sp>
        <p:nvSpPr>
          <p:cNvPr id="54" name="Text 45"/>
          <p:cNvSpPr txBox="1"/>
          <p:nvPr/>
        </p:nvSpPr>
        <p:spPr>
          <a:xfrm>
            <a:off x="1635862" y="5665622"/>
            <a:ext cx="545897" cy="171907"/>
          </a:xfrm>
          <a:prstGeom prst="rect">
            <a:avLst/>
          </a:prstGeom>
          <a:noFill/>
          <a:ln/>
        </p:spPr>
        <p:txBody>
          <a:bodyPr wrap="square" lIns="0" tIns="0" rIns="0" bIns="0" rtlCol="0" anchor="ctr"/>
          <a:lstStyle/>
          <a:p>
            <a:pPr marL="0" indent="0" algn="ctr">
              <a:buNone/>
            </a:pPr>
            <a:r>
              <a:rPr lang="en-US" sz="1100" dirty="0">
                <a:solidFill>
                  <a:srgbClr val="FFFFFF"/>
                </a:solidFill>
                <a:latin typeface="Roboto" pitchFamily="34" charset="0"/>
                <a:ea typeface="Roboto" pitchFamily="34" charset="-122"/>
                <a:cs typeface="Roboto" pitchFamily="34" charset="-120"/>
              </a:rPr>
              <a:t>カメラ</a:t>
            </a:r>
            <a:endParaRPr lang="en-US" sz="1100" dirty="0"/>
          </a:p>
        </p:txBody>
      </p:sp>
      <p:sp>
        <p:nvSpPr>
          <p:cNvPr id="55" name="Text 46"/>
          <p:cNvSpPr txBox="1"/>
          <p:nvPr/>
        </p:nvSpPr>
        <p:spPr>
          <a:xfrm>
            <a:off x="1635862" y="5836615"/>
            <a:ext cx="531266" cy="143561"/>
          </a:xfrm>
          <a:prstGeom prst="rect">
            <a:avLst/>
          </a:prstGeom>
          <a:noFill/>
          <a:ln/>
        </p:spPr>
        <p:txBody>
          <a:bodyPr wrap="square" lIns="0" tIns="0" rIns="0" bIns="0" rtlCol="0" anchor="ctr"/>
          <a:lstStyle/>
          <a:p>
            <a:pPr marL="0" indent="0" algn="ctr">
              <a:buNone/>
            </a:pPr>
            <a:r>
              <a:rPr lang="en-US" sz="900" dirty="0">
                <a:solidFill>
                  <a:srgbClr val="CCCCCC"/>
                </a:solidFill>
                <a:latin typeface="Roboto" pitchFamily="34" charset="0"/>
                <a:ea typeface="Roboto" pitchFamily="34" charset="-122"/>
                <a:cs typeface="Roboto" pitchFamily="34" charset="-120"/>
              </a:rPr>
              <a:t>Camera</a:t>
            </a:r>
            <a:endParaRPr lang="en-US" sz="900" dirty="0"/>
          </a:p>
        </p:txBody>
      </p:sp>
      <p:pic>
        <p:nvPicPr>
          <p:cNvPr id="56" name="Image 7" descr="preencoded.png"/>
          <p:cNvPicPr>
            <a:picLocks noChangeAspect="1"/>
          </p:cNvPicPr>
          <p:nvPr/>
        </p:nvPicPr>
        <p:blipFill>
          <a:blip r:embed="rId10"/>
          <a:srcRect l="-760" r="-760"/>
          <a:stretch/>
        </p:blipFill>
        <p:spPr>
          <a:xfrm>
            <a:off x="3151937" y="5379415"/>
            <a:ext cx="152705" cy="171907"/>
          </a:xfrm>
          <a:prstGeom prst="rect">
            <a:avLst/>
          </a:prstGeom>
        </p:spPr>
      </p:pic>
      <p:pic>
        <p:nvPicPr>
          <p:cNvPr id="57" name="Image 8" descr="preencoded.png"/>
          <p:cNvPicPr>
            <a:picLocks noChangeAspect="1"/>
          </p:cNvPicPr>
          <p:nvPr/>
        </p:nvPicPr>
        <p:blipFill>
          <a:blip r:embed="rId11"/>
          <a:srcRect l="-685" r="-685"/>
          <a:stretch/>
        </p:blipFill>
        <p:spPr>
          <a:xfrm>
            <a:off x="4465930" y="5122469"/>
            <a:ext cx="304495" cy="267005"/>
          </a:xfrm>
          <a:prstGeom prst="rect">
            <a:avLst/>
          </a:prstGeom>
        </p:spPr>
      </p:pic>
      <p:sp>
        <p:nvSpPr>
          <p:cNvPr id="58" name="Text 47"/>
          <p:cNvSpPr txBox="1"/>
          <p:nvPr/>
        </p:nvSpPr>
        <p:spPr>
          <a:xfrm>
            <a:off x="933602" y="6515100"/>
            <a:ext cx="6341364" cy="143561"/>
          </a:xfrm>
          <a:prstGeom prst="rect">
            <a:avLst/>
          </a:prstGeom>
          <a:noFill/>
          <a:ln/>
        </p:spPr>
        <p:txBody>
          <a:bodyPr wrap="square" lIns="0" tIns="0" rIns="0" bIns="0" rtlCol="0" anchor="ctr"/>
          <a:lstStyle/>
          <a:p>
            <a:pPr marL="0" indent="0" algn="l">
              <a:buNone/>
            </a:pPr>
            <a:r>
              <a:rPr lang="en-US" sz="900" dirty="0">
                <a:solidFill>
                  <a:srgbClr val="888888"/>
                </a:solidFill>
                <a:latin typeface="Roboto" pitchFamily="34" charset="0"/>
                <a:ea typeface="Roboto" pitchFamily="34" charset="-122"/>
                <a:cs typeface="Roboto" pitchFamily="34" charset="-120"/>
              </a:rPr>
              <a:t>レースの激しい振動環境下でも安定した映像伝送を実現 / Stable transmission even under intense racing vibrations</a:t>
            </a:r>
            <a:endParaRPr lang="en-US" sz="900" dirty="0"/>
          </a:p>
        </p:txBody>
      </p:sp>
      <p:sp>
        <p:nvSpPr>
          <p:cNvPr id="59" name="Shape 48"/>
          <p:cNvSpPr/>
          <p:nvPr/>
        </p:nvSpPr>
        <p:spPr>
          <a:xfrm>
            <a:off x="10032797" y="6558077"/>
            <a:ext cx="286207" cy="38405"/>
          </a:xfrm>
          <a:prstGeom prst="rect">
            <a:avLst/>
          </a:prstGeom>
          <a:solidFill>
            <a:srgbClr val="3498DB"/>
          </a:solidFill>
          <a:ln/>
        </p:spPr>
        <p:txBody>
          <a:bodyPr/>
          <a:lstStyle/>
          <a:p>
            <a:endParaRPr lang="ja-JP" altLang="en-US"/>
          </a:p>
        </p:txBody>
      </p:sp>
      <p:sp>
        <p:nvSpPr>
          <p:cNvPr id="60" name="Text 49"/>
          <p:cNvSpPr txBox="1"/>
          <p:nvPr/>
        </p:nvSpPr>
        <p:spPr>
          <a:xfrm>
            <a:off x="4403750" y="5665622"/>
            <a:ext cx="545897" cy="171907"/>
          </a:xfrm>
          <a:prstGeom prst="rect">
            <a:avLst/>
          </a:prstGeom>
          <a:noFill/>
          <a:ln/>
        </p:spPr>
        <p:txBody>
          <a:bodyPr wrap="square" lIns="0" tIns="0" rIns="0" bIns="0" rtlCol="0" anchor="ctr"/>
          <a:lstStyle/>
          <a:p>
            <a:pPr marL="0" indent="0" algn="ctr">
              <a:buNone/>
            </a:pPr>
            <a:r>
              <a:rPr lang="en-US" sz="1100" dirty="0">
                <a:solidFill>
                  <a:srgbClr val="FFFFFF"/>
                </a:solidFill>
                <a:latin typeface="Roboto" pitchFamily="34" charset="0"/>
                <a:ea typeface="Roboto" pitchFamily="34" charset="-122"/>
                <a:cs typeface="Roboto" pitchFamily="34" charset="-120"/>
              </a:rPr>
              <a:t>送信機</a:t>
            </a:r>
            <a:endParaRPr lang="en-US" sz="1100" dirty="0"/>
          </a:p>
        </p:txBody>
      </p:sp>
      <p:sp>
        <p:nvSpPr>
          <p:cNvPr id="61" name="Text 50"/>
          <p:cNvSpPr txBox="1"/>
          <p:nvPr/>
        </p:nvSpPr>
        <p:spPr>
          <a:xfrm>
            <a:off x="4300423" y="5836615"/>
            <a:ext cx="731520" cy="143561"/>
          </a:xfrm>
          <a:prstGeom prst="rect">
            <a:avLst/>
          </a:prstGeom>
          <a:noFill/>
          <a:ln/>
        </p:spPr>
        <p:txBody>
          <a:bodyPr wrap="square" lIns="0" tIns="0" rIns="0" bIns="0" rtlCol="0" anchor="ctr"/>
          <a:lstStyle/>
          <a:p>
            <a:pPr marL="0" indent="0" algn="ctr">
              <a:buNone/>
            </a:pPr>
            <a:r>
              <a:rPr lang="en-US" sz="900" dirty="0">
                <a:solidFill>
                  <a:srgbClr val="CCCCCC"/>
                </a:solidFill>
                <a:latin typeface="Roboto" pitchFamily="34" charset="0"/>
                <a:ea typeface="Roboto" pitchFamily="34" charset="-122"/>
                <a:cs typeface="Roboto" pitchFamily="34" charset="-120"/>
              </a:rPr>
              <a:t>Transmitter</a:t>
            </a:r>
            <a:endParaRPr lang="en-US" sz="900" dirty="0"/>
          </a:p>
        </p:txBody>
      </p:sp>
      <p:pic>
        <p:nvPicPr>
          <p:cNvPr id="62" name="Image 9" descr="preencoded.png"/>
          <p:cNvPicPr>
            <a:picLocks noChangeAspect="1"/>
          </p:cNvPicPr>
          <p:nvPr/>
        </p:nvPicPr>
        <p:blipFill>
          <a:blip r:embed="rId10"/>
          <a:srcRect l="-760" r="-760"/>
          <a:stretch/>
        </p:blipFill>
        <p:spPr>
          <a:xfrm>
            <a:off x="5932627" y="5379415"/>
            <a:ext cx="152705" cy="171907"/>
          </a:xfrm>
          <a:prstGeom prst="rect">
            <a:avLst/>
          </a:prstGeom>
        </p:spPr>
      </p:pic>
      <p:sp>
        <p:nvSpPr>
          <p:cNvPr id="63" name="Shape 51"/>
          <p:cNvSpPr/>
          <p:nvPr/>
        </p:nvSpPr>
        <p:spPr>
          <a:xfrm>
            <a:off x="7133234" y="4951476"/>
            <a:ext cx="609905" cy="609905"/>
          </a:xfrm>
          <a:prstGeom prst="ellipse">
            <a:avLst/>
          </a:prstGeom>
          <a:solidFill>
            <a:srgbClr val="3498DB">
              <a:alpha val="20000"/>
            </a:srgbClr>
          </a:solidFill>
          <a:ln w="25400">
            <a:solidFill>
              <a:srgbClr val="3498DB"/>
            </a:solidFill>
            <a:prstDash val="solid"/>
          </a:ln>
        </p:spPr>
        <p:txBody>
          <a:bodyPr/>
          <a:lstStyle/>
          <a:p>
            <a:endParaRPr lang="ja-JP" altLang="en-US"/>
          </a:p>
        </p:txBody>
      </p:sp>
      <p:pic>
        <p:nvPicPr>
          <p:cNvPr id="64" name="Image 10" descr="preencoded.png"/>
          <p:cNvPicPr>
            <a:picLocks noChangeAspect="1"/>
          </p:cNvPicPr>
          <p:nvPr/>
        </p:nvPicPr>
        <p:blipFill>
          <a:blip r:embed="rId12"/>
          <a:srcRect l="-685" r="-685"/>
          <a:stretch/>
        </p:blipFill>
        <p:spPr>
          <a:xfrm>
            <a:off x="7285939" y="5122469"/>
            <a:ext cx="304495" cy="267005"/>
          </a:xfrm>
          <a:prstGeom prst="rect">
            <a:avLst/>
          </a:prstGeom>
        </p:spPr>
      </p:pic>
      <p:sp>
        <p:nvSpPr>
          <p:cNvPr id="65" name="Shape 52"/>
          <p:cNvSpPr/>
          <p:nvPr/>
        </p:nvSpPr>
        <p:spPr>
          <a:xfrm>
            <a:off x="761695" y="6362395"/>
            <a:ext cx="10668305" cy="9144"/>
          </a:xfrm>
          <a:prstGeom prst="rect">
            <a:avLst/>
          </a:prstGeom>
          <a:solidFill>
            <a:srgbClr val="FFFFFF">
              <a:alpha val="10000"/>
            </a:srgbClr>
          </a:solidFill>
          <a:ln/>
        </p:spPr>
        <p:txBody>
          <a:bodyPr/>
          <a:lstStyle/>
          <a:p>
            <a:endParaRPr lang="ja-JP" altLang="en-US"/>
          </a:p>
        </p:txBody>
      </p:sp>
      <p:sp>
        <p:nvSpPr>
          <p:cNvPr id="66" name="Shape 53"/>
          <p:cNvSpPr/>
          <p:nvPr/>
        </p:nvSpPr>
        <p:spPr>
          <a:xfrm>
            <a:off x="9940442" y="4903013"/>
            <a:ext cx="705002" cy="705002"/>
          </a:xfrm>
          <a:prstGeom prst="ellipse">
            <a:avLst/>
          </a:prstGeom>
          <a:solidFill>
            <a:srgbClr val="E74C3C">
              <a:alpha val="20000"/>
            </a:srgbClr>
          </a:solidFill>
          <a:ln w="25400">
            <a:solidFill>
              <a:srgbClr val="E74C3C"/>
            </a:solidFill>
            <a:prstDash val="solid"/>
          </a:ln>
        </p:spPr>
        <p:txBody>
          <a:bodyPr/>
          <a:lstStyle/>
          <a:p>
            <a:endParaRPr lang="ja-JP" altLang="en-US"/>
          </a:p>
        </p:txBody>
      </p:sp>
      <p:sp>
        <p:nvSpPr>
          <p:cNvPr id="67" name="Shape 54"/>
          <p:cNvSpPr/>
          <p:nvPr/>
        </p:nvSpPr>
        <p:spPr>
          <a:xfrm>
            <a:off x="9670694" y="6558077"/>
            <a:ext cx="286207" cy="38405"/>
          </a:xfrm>
          <a:prstGeom prst="rect">
            <a:avLst/>
          </a:prstGeom>
          <a:solidFill>
            <a:srgbClr val="E74C3C"/>
          </a:solidFill>
          <a:ln/>
        </p:spPr>
        <p:txBody>
          <a:bodyPr/>
          <a:lstStyle/>
          <a:p>
            <a:endParaRPr lang="ja-JP" altLang="en-US"/>
          </a:p>
        </p:txBody>
      </p:sp>
      <p:sp>
        <p:nvSpPr>
          <p:cNvPr id="68" name="Text 55"/>
          <p:cNvSpPr txBox="1"/>
          <p:nvPr/>
        </p:nvSpPr>
        <p:spPr>
          <a:xfrm>
            <a:off x="7081114" y="5665622"/>
            <a:ext cx="831190" cy="171907"/>
          </a:xfrm>
          <a:prstGeom prst="rect">
            <a:avLst/>
          </a:prstGeom>
          <a:noFill/>
          <a:ln/>
        </p:spPr>
        <p:txBody>
          <a:bodyPr wrap="square" lIns="0" tIns="0" rIns="0" bIns="0" rtlCol="0" anchor="ctr"/>
          <a:lstStyle/>
          <a:p>
            <a:pPr marL="0" indent="0" algn="ctr">
              <a:buNone/>
            </a:pPr>
            <a:r>
              <a:rPr lang="en-US" sz="1100" dirty="0">
                <a:solidFill>
                  <a:srgbClr val="FFFFFF"/>
                </a:solidFill>
                <a:latin typeface="Roboto" pitchFamily="34" charset="0"/>
                <a:ea typeface="Roboto" pitchFamily="34" charset="-122"/>
                <a:cs typeface="Roboto" pitchFamily="34" charset="-120"/>
              </a:rPr>
              <a:t>バッテリー</a:t>
            </a:r>
            <a:endParaRPr lang="en-US" sz="1100" dirty="0"/>
          </a:p>
        </p:txBody>
      </p:sp>
      <p:sp>
        <p:nvSpPr>
          <p:cNvPr id="69" name="Text 56"/>
          <p:cNvSpPr txBox="1"/>
          <p:nvPr/>
        </p:nvSpPr>
        <p:spPr>
          <a:xfrm>
            <a:off x="7242048" y="5836615"/>
            <a:ext cx="493776" cy="143561"/>
          </a:xfrm>
          <a:prstGeom prst="rect">
            <a:avLst/>
          </a:prstGeom>
          <a:noFill/>
          <a:ln/>
        </p:spPr>
        <p:txBody>
          <a:bodyPr wrap="square" lIns="0" tIns="0" rIns="0" bIns="0" rtlCol="0" anchor="ctr"/>
          <a:lstStyle/>
          <a:p>
            <a:pPr marL="0" indent="0" algn="ctr">
              <a:buNone/>
            </a:pPr>
            <a:r>
              <a:rPr lang="en-US" sz="900" dirty="0">
                <a:solidFill>
                  <a:srgbClr val="CCCCCC"/>
                </a:solidFill>
                <a:latin typeface="Roboto" pitchFamily="34" charset="0"/>
                <a:ea typeface="Roboto" pitchFamily="34" charset="-122"/>
                <a:cs typeface="Roboto" pitchFamily="34" charset="-120"/>
              </a:rPr>
              <a:t>Battery</a:t>
            </a:r>
            <a:endParaRPr lang="en-US" sz="900" dirty="0"/>
          </a:p>
        </p:txBody>
      </p:sp>
      <p:pic>
        <p:nvPicPr>
          <p:cNvPr id="70" name="Image 11" descr="preencoded.png"/>
          <p:cNvPicPr>
            <a:picLocks noChangeAspect="1"/>
          </p:cNvPicPr>
          <p:nvPr/>
        </p:nvPicPr>
        <p:blipFill>
          <a:blip r:embed="rId13"/>
          <a:srcRect l="-760" r="-760"/>
          <a:stretch/>
        </p:blipFill>
        <p:spPr>
          <a:xfrm>
            <a:off x="8791956" y="5379415"/>
            <a:ext cx="152705" cy="171907"/>
          </a:xfrm>
          <a:prstGeom prst="rect">
            <a:avLst/>
          </a:prstGeom>
        </p:spPr>
      </p:pic>
      <p:sp>
        <p:nvSpPr>
          <p:cNvPr id="71" name="Text 57"/>
          <p:cNvSpPr txBox="1"/>
          <p:nvPr/>
        </p:nvSpPr>
        <p:spPr>
          <a:xfrm>
            <a:off x="10078517" y="5713171"/>
            <a:ext cx="545897" cy="171907"/>
          </a:xfrm>
          <a:prstGeom prst="rect">
            <a:avLst/>
          </a:prstGeom>
          <a:noFill/>
          <a:ln/>
        </p:spPr>
        <p:txBody>
          <a:bodyPr wrap="square" lIns="0" tIns="0" rIns="0" bIns="0" rtlCol="0" anchor="ctr"/>
          <a:lstStyle/>
          <a:p>
            <a:pPr marL="0" indent="0" algn="ctr">
              <a:buNone/>
            </a:pPr>
            <a:r>
              <a:rPr lang="en-US" sz="1100" dirty="0">
                <a:solidFill>
                  <a:srgbClr val="FFFFFF"/>
                </a:solidFill>
                <a:latin typeface="Roboto" pitchFamily="34" charset="0"/>
                <a:ea typeface="Roboto" pitchFamily="34" charset="-122"/>
                <a:cs typeface="Roboto" pitchFamily="34" charset="-120"/>
              </a:rPr>
              <a:t>総重量</a:t>
            </a:r>
            <a:endParaRPr lang="en-US" sz="1100" dirty="0"/>
          </a:p>
        </p:txBody>
      </p:sp>
      <p:sp>
        <p:nvSpPr>
          <p:cNvPr id="72" name="Text 58"/>
          <p:cNvSpPr txBox="1"/>
          <p:nvPr/>
        </p:nvSpPr>
        <p:spPr>
          <a:xfrm>
            <a:off x="9948672" y="5884164"/>
            <a:ext cx="788213" cy="143561"/>
          </a:xfrm>
          <a:prstGeom prst="rect">
            <a:avLst/>
          </a:prstGeom>
          <a:noFill/>
          <a:ln/>
        </p:spPr>
        <p:txBody>
          <a:bodyPr wrap="square" lIns="0" tIns="0" rIns="0" bIns="0" rtlCol="0" anchor="ctr"/>
          <a:lstStyle/>
          <a:p>
            <a:pPr marL="0" indent="0" algn="ctr">
              <a:buNone/>
            </a:pPr>
            <a:r>
              <a:rPr lang="en-US" sz="900" dirty="0">
                <a:solidFill>
                  <a:srgbClr val="CCCCCC"/>
                </a:solidFill>
                <a:latin typeface="Roboto" pitchFamily="34" charset="0"/>
                <a:ea typeface="Roboto" pitchFamily="34" charset="-122"/>
                <a:cs typeface="Roboto" pitchFamily="34" charset="-120"/>
              </a:rPr>
              <a:t>Total Weight</a:t>
            </a:r>
            <a:endParaRPr lang="en-US" sz="900" dirty="0"/>
          </a:p>
        </p:txBody>
      </p:sp>
      <p:sp>
        <p:nvSpPr>
          <p:cNvPr id="73" name="Text 59"/>
          <p:cNvSpPr txBox="1"/>
          <p:nvPr/>
        </p:nvSpPr>
        <p:spPr>
          <a:xfrm>
            <a:off x="10051999" y="5141671"/>
            <a:ext cx="629107" cy="228600"/>
          </a:xfrm>
          <a:prstGeom prst="rect">
            <a:avLst/>
          </a:prstGeom>
          <a:noFill/>
          <a:ln/>
        </p:spPr>
        <p:txBody>
          <a:bodyPr wrap="square" lIns="0" tIns="0" rIns="0" bIns="0" rtlCol="0" anchor="ctr"/>
          <a:lstStyle/>
          <a:p>
            <a:pPr marL="0" indent="0" algn="ctr">
              <a:buNone/>
            </a:pPr>
            <a:r>
              <a:rPr lang="en-US" sz="1500" b="1" dirty="0">
                <a:solidFill>
                  <a:srgbClr val="E74C3C"/>
                </a:solidFill>
                <a:latin typeface="Roboto" pitchFamily="34" charset="0"/>
                <a:ea typeface="Roboto" pitchFamily="34" charset="-122"/>
                <a:cs typeface="Roboto" pitchFamily="34" charset="-120"/>
              </a:rPr>
              <a:t>2.5kg</a:t>
            </a:r>
            <a:endParaRPr lang="en-US" sz="1500" dirty="0"/>
          </a:p>
        </p:txBody>
      </p:sp>
      <p:pic>
        <p:nvPicPr>
          <p:cNvPr id="74" name="Image 12" descr="preencoded.png"/>
          <p:cNvPicPr>
            <a:picLocks noChangeAspect="1"/>
          </p:cNvPicPr>
          <p:nvPr/>
        </p:nvPicPr>
        <p:blipFill>
          <a:blip r:embed="rId14"/>
          <a:srcRect/>
          <a:stretch/>
        </p:blipFill>
        <p:spPr>
          <a:xfrm>
            <a:off x="761695" y="6521501"/>
            <a:ext cx="123444" cy="123444"/>
          </a:xfrm>
          <a:prstGeom prst="rect">
            <a:avLst/>
          </a:prstGeom>
        </p:spPr>
      </p:pic>
      <p:sp>
        <p:nvSpPr>
          <p:cNvPr id="75" name="Text 60"/>
          <p:cNvSpPr txBox="1"/>
          <p:nvPr/>
        </p:nvSpPr>
        <p:spPr>
          <a:xfrm>
            <a:off x="10394899" y="6500470"/>
            <a:ext cx="1138428" cy="152705"/>
          </a:xfrm>
          <a:prstGeom prst="rect">
            <a:avLst/>
          </a:prstGeom>
          <a:noFill/>
          <a:ln/>
        </p:spPr>
        <p:txBody>
          <a:bodyPr wrap="square" lIns="0" tIns="0" rIns="0" bIns="0" rtlCol="0" anchor="ctr"/>
          <a:lstStyle/>
          <a:p>
            <a:pPr marL="0" indent="0" algn="l">
              <a:buNone/>
            </a:pPr>
            <a:r>
              <a:rPr lang="en-US" sz="1000" dirty="0">
                <a:solidFill>
                  <a:srgbClr val="888888"/>
                </a:solidFill>
                <a:latin typeface="Roboto" pitchFamily="34" charset="0"/>
                <a:ea typeface="Roboto" pitchFamily="34" charset="-122"/>
                <a:cs typeface="Roboto" pitchFamily="34" charset="-120"/>
              </a:rPr>
              <a:t>iZCast | UNSOLID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C3E50"/>
          </a:solidFill>
          <a:ln/>
        </p:spPr>
        <p:txBody>
          <a:bodyPr/>
          <a:lstStyle/>
          <a:p>
            <a:endParaRPr lang="ja-JP" altLang="en-US"/>
          </a:p>
        </p:txBody>
      </p:sp>
      <p:sp>
        <p:nvSpPr>
          <p:cNvPr id="3" name="Shape 1"/>
          <p:cNvSpPr/>
          <p:nvPr/>
        </p:nvSpPr>
        <p:spPr>
          <a:xfrm>
            <a:off x="761695" y="190195"/>
            <a:ext cx="47549" cy="857707"/>
          </a:xfrm>
          <a:prstGeom prst="rect">
            <a:avLst/>
          </a:prstGeom>
          <a:solidFill>
            <a:srgbClr val="3498DB"/>
          </a:solidFill>
          <a:ln/>
        </p:spPr>
        <p:txBody>
          <a:bodyPr/>
          <a:lstStyle/>
          <a:p>
            <a:endParaRPr lang="ja-JP" altLang="en-US"/>
          </a:p>
        </p:txBody>
      </p:sp>
      <p:sp>
        <p:nvSpPr>
          <p:cNvPr id="4" name="Shape 2"/>
          <p:cNvSpPr/>
          <p:nvPr/>
        </p:nvSpPr>
        <p:spPr>
          <a:xfrm>
            <a:off x="761695" y="2147011"/>
            <a:ext cx="10668305" cy="2066544"/>
          </a:xfrm>
          <a:prstGeom prst="roundRect">
            <a:avLst>
              <a:gd name="adj" fmla="val 1631"/>
            </a:avLst>
          </a:prstGeom>
          <a:solidFill>
            <a:srgbClr val="141428">
              <a:alpha val="70000"/>
            </a:srgbClr>
          </a:solidFill>
          <a:ln/>
        </p:spPr>
        <p:txBody>
          <a:bodyPr/>
          <a:lstStyle/>
          <a:p>
            <a:endParaRPr lang="ja-JP" altLang="en-US"/>
          </a:p>
        </p:txBody>
      </p:sp>
      <p:sp>
        <p:nvSpPr>
          <p:cNvPr id="5" name="Text 3"/>
          <p:cNvSpPr txBox="1"/>
          <p:nvPr/>
        </p:nvSpPr>
        <p:spPr>
          <a:xfrm>
            <a:off x="952805" y="190195"/>
            <a:ext cx="2400300" cy="181051"/>
          </a:xfrm>
          <a:prstGeom prst="rect">
            <a:avLst/>
          </a:prstGeom>
          <a:noFill/>
          <a:ln/>
        </p:spPr>
        <p:txBody>
          <a:bodyPr wrap="square" lIns="0" tIns="0" rIns="0" bIns="0" rtlCol="0" anchor="ctr"/>
          <a:lstStyle/>
          <a:p>
            <a:pPr marL="0" indent="0" algn="l">
              <a:buNone/>
            </a:pPr>
            <a:r>
              <a:rPr lang="en-US" sz="1200" b="1" dirty="0">
                <a:solidFill>
                  <a:srgbClr val="E74C3C"/>
                </a:solidFill>
                <a:latin typeface="Roboto" pitchFamily="34" charset="0"/>
                <a:ea typeface="Roboto" pitchFamily="34" charset="-122"/>
                <a:cs typeface="Roboto" pitchFamily="34" charset="-120"/>
              </a:rPr>
              <a:t>TECHNICAL SPECIFICATIONS</a:t>
            </a:r>
            <a:endParaRPr lang="en-US" sz="1200" dirty="0"/>
          </a:p>
        </p:txBody>
      </p:sp>
      <p:sp>
        <p:nvSpPr>
          <p:cNvPr id="6" name="Text 4"/>
          <p:cNvSpPr txBox="1"/>
          <p:nvPr/>
        </p:nvSpPr>
        <p:spPr>
          <a:xfrm>
            <a:off x="952805" y="766267"/>
            <a:ext cx="3514954" cy="277063"/>
          </a:xfrm>
          <a:prstGeom prst="rect">
            <a:avLst/>
          </a:prstGeom>
          <a:noFill/>
          <a:ln/>
        </p:spPr>
        <p:txBody>
          <a:bodyPr wrap="square" lIns="0" tIns="0" rIns="0" bIns="0" rtlCol="0" anchor="ctr"/>
          <a:lstStyle/>
          <a:p>
            <a:pPr marL="0" indent="0" algn="l">
              <a:buNone/>
            </a:pPr>
            <a:r>
              <a:rPr lang="en-US" sz="1500" dirty="0">
                <a:solidFill>
                  <a:srgbClr val="3498DB"/>
                </a:solidFill>
                <a:latin typeface="Noto Sans JP" pitchFamily="34" charset="0"/>
                <a:ea typeface="Noto Sans JP" pitchFamily="34" charset="-122"/>
                <a:cs typeface="Noto Sans JP" pitchFamily="34" charset="-120"/>
              </a:rPr>
              <a:t>技術仕様 / iZCastシステム詳細スペック</a:t>
            </a:r>
            <a:endParaRPr lang="en-US" sz="1500" dirty="0"/>
          </a:p>
        </p:txBody>
      </p:sp>
      <p:sp>
        <p:nvSpPr>
          <p:cNvPr id="7" name="Text 5"/>
          <p:cNvSpPr txBox="1"/>
          <p:nvPr/>
        </p:nvSpPr>
        <p:spPr>
          <a:xfrm>
            <a:off x="952805" y="371246"/>
            <a:ext cx="3443630" cy="381305"/>
          </a:xfrm>
          <a:prstGeom prst="rect">
            <a:avLst/>
          </a:prstGeom>
          <a:noFill/>
          <a:ln/>
        </p:spPr>
        <p:txBody>
          <a:bodyPr wrap="square" lIns="0" tIns="0" rIns="0" bIns="0" rtlCol="0" anchor="ctr"/>
          <a:lstStyle/>
          <a:p>
            <a:pPr marL="0" indent="0" algn="l">
              <a:buNone/>
            </a:pPr>
            <a:r>
              <a:rPr lang="en-US" sz="2500" b="1" dirty="0">
                <a:solidFill>
                  <a:srgbClr val="FFFFFF"/>
                </a:solidFill>
                <a:latin typeface="Roboto" pitchFamily="34" charset="0"/>
                <a:ea typeface="Roboto" pitchFamily="34" charset="-122"/>
                <a:cs typeface="Roboto" pitchFamily="34" charset="-120"/>
              </a:rPr>
              <a:t>iZCast System Details</a:t>
            </a:r>
            <a:endParaRPr lang="en-US" sz="2500" dirty="0"/>
          </a:p>
        </p:txBody>
      </p:sp>
      <p:pic>
        <p:nvPicPr>
          <p:cNvPr id="8" name="Image 0" descr="preencoded.png"/>
          <p:cNvPicPr>
            <a:picLocks noChangeAspect="1"/>
          </p:cNvPicPr>
          <p:nvPr/>
        </p:nvPicPr>
        <p:blipFill>
          <a:blip r:embed="rId3"/>
          <a:srcRect l="-428" r="-428"/>
          <a:stretch/>
        </p:blipFill>
        <p:spPr>
          <a:xfrm>
            <a:off x="761695" y="1221638"/>
            <a:ext cx="161849" cy="142646"/>
          </a:xfrm>
          <a:prstGeom prst="rect">
            <a:avLst/>
          </a:prstGeom>
        </p:spPr>
      </p:pic>
      <p:sp>
        <p:nvSpPr>
          <p:cNvPr id="9" name="Text 6"/>
          <p:cNvSpPr txBox="1"/>
          <p:nvPr/>
        </p:nvSpPr>
        <p:spPr>
          <a:xfrm>
            <a:off x="1000354" y="1213409"/>
            <a:ext cx="2974543" cy="171907"/>
          </a:xfrm>
          <a:prstGeom prst="rect">
            <a:avLst/>
          </a:prstGeom>
          <a:noFill/>
          <a:ln/>
        </p:spPr>
        <p:txBody>
          <a:bodyPr wrap="square" lIns="0" tIns="0" rIns="0" bIns="0" rtlCol="0" anchor="ctr"/>
          <a:lstStyle/>
          <a:p>
            <a:pPr marL="0" indent="0" algn="l">
              <a:buNone/>
            </a:pPr>
            <a:r>
              <a:rPr lang="en-US" sz="1100" b="1" dirty="0">
                <a:solidFill>
                  <a:srgbClr val="3498DB"/>
                </a:solidFill>
                <a:latin typeface="Roboto" pitchFamily="34" charset="0"/>
                <a:ea typeface="Roboto" pitchFamily="34" charset="-122"/>
                <a:cs typeface="Roboto" pitchFamily="34" charset="-120"/>
              </a:rPr>
              <a:t>映像配信スペック / Streaming Specifications</a:t>
            </a:r>
            <a:endParaRPr lang="en-US" sz="1100" dirty="0"/>
          </a:p>
        </p:txBody>
      </p:sp>
      <p:sp>
        <p:nvSpPr>
          <p:cNvPr id="10" name="Shape 7"/>
          <p:cNvSpPr/>
          <p:nvPr/>
        </p:nvSpPr>
        <p:spPr>
          <a:xfrm>
            <a:off x="761695" y="1461211"/>
            <a:ext cx="2600554" cy="590702"/>
          </a:xfrm>
          <a:prstGeom prst="roundRect">
            <a:avLst>
              <a:gd name="adj" fmla="val 19974"/>
            </a:avLst>
          </a:prstGeom>
          <a:solidFill>
            <a:srgbClr val="141428">
              <a:alpha val="70000"/>
            </a:srgbClr>
          </a:solidFill>
          <a:ln/>
        </p:spPr>
        <p:txBody>
          <a:bodyPr/>
          <a:lstStyle/>
          <a:p>
            <a:endParaRPr lang="ja-JP" altLang="en-US"/>
          </a:p>
        </p:txBody>
      </p:sp>
      <p:sp>
        <p:nvSpPr>
          <p:cNvPr id="11" name="Shape 8"/>
          <p:cNvSpPr/>
          <p:nvPr/>
        </p:nvSpPr>
        <p:spPr>
          <a:xfrm>
            <a:off x="857707" y="3033065"/>
            <a:ext cx="10477195" cy="57607"/>
          </a:xfrm>
          <a:prstGeom prst="roundRect">
            <a:avLst>
              <a:gd name="adj" fmla="val 793654"/>
            </a:avLst>
          </a:prstGeom>
          <a:solidFill>
            <a:srgbClr val="FFFFFF">
              <a:alpha val="10000"/>
            </a:srgbClr>
          </a:solidFill>
          <a:ln/>
        </p:spPr>
        <p:txBody>
          <a:bodyPr/>
          <a:lstStyle/>
          <a:p>
            <a:endParaRPr lang="ja-JP" altLang="en-US"/>
          </a:p>
        </p:txBody>
      </p:sp>
      <p:sp>
        <p:nvSpPr>
          <p:cNvPr id="12" name="Shape 9"/>
          <p:cNvSpPr/>
          <p:nvPr/>
        </p:nvSpPr>
        <p:spPr>
          <a:xfrm>
            <a:off x="857707" y="1584655"/>
            <a:ext cx="342900" cy="342900"/>
          </a:xfrm>
          <a:prstGeom prst="ellipse">
            <a:avLst/>
          </a:prstGeom>
          <a:solidFill>
            <a:srgbClr val="3498DB">
              <a:alpha val="20000"/>
            </a:srgbClr>
          </a:solidFill>
          <a:ln/>
        </p:spPr>
        <p:txBody>
          <a:bodyPr/>
          <a:lstStyle/>
          <a:p>
            <a:endParaRPr lang="ja-JP" altLang="en-US"/>
          </a:p>
        </p:txBody>
      </p:sp>
      <p:pic>
        <p:nvPicPr>
          <p:cNvPr id="13" name="Image 1" descr="preencoded.png"/>
          <p:cNvPicPr>
            <a:picLocks noChangeAspect="1"/>
          </p:cNvPicPr>
          <p:nvPr/>
        </p:nvPicPr>
        <p:blipFill>
          <a:blip r:embed="rId4"/>
          <a:srcRect t="-180" b="-180"/>
          <a:stretch/>
        </p:blipFill>
        <p:spPr>
          <a:xfrm>
            <a:off x="933602" y="1680667"/>
            <a:ext cx="190195" cy="152705"/>
          </a:xfrm>
          <a:prstGeom prst="rect">
            <a:avLst/>
          </a:prstGeom>
        </p:spPr>
      </p:pic>
      <p:sp>
        <p:nvSpPr>
          <p:cNvPr id="14" name="Text 10"/>
          <p:cNvSpPr txBox="1"/>
          <p:nvPr/>
        </p:nvSpPr>
        <p:spPr>
          <a:xfrm>
            <a:off x="1076249" y="2270455"/>
            <a:ext cx="3479292" cy="171907"/>
          </a:xfrm>
          <a:prstGeom prst="rect">
            <a:avLst/>
          </a:prstGeom>
          <a:noFill/>
          <a:ln/>
        </p:spPr>
        <p:txBody>
          <a:bodyPr wrap="square" lIns="0" tIns="0" rIns="0" bIns="0" rtlCol="0" anchor="ctr"/>
          <a:lstStyle/>
          <a:p>
            <a:pPr marL="0" indent="0" algn="l">
              <a:buNone/>
            </a:pPr>
            <a:r>
              <a:rPr lang="en-US" sz="1100" b="1" dirty="0">
                <a:solidFill>
                  <a:srgbClr val="E74C3C"/>
                </a:solidFill>
                <a:latin typeface="Roboto" pitchFamily="34" charset="0"/>
                <a:ea typeface="Roboto" pitchFamily="34" charset="-122"/>
                <a:cs typeface="Roboto" pitchFamily="34" charset="-120"/>
              </a:rPr>
              <a:t>各プロセスの遅延時間 / Process Latency Breakdown</a:t>
            </a:r>
            <a:endParaRPr lang="en-US" sz="1100" dirty="0"/>
          </a:p>
        </p:txBody>
      </p:sp>
      <p:sp>
        <p:nvSpPr>
          <p:cNvPr id="15" name="Shape 11"/>
          <p:cNvSpPr/>
          <p:nvPr/>
        </p:nvSpPr>
        <p:spPr>
          <a:xfrm>
            <a:off x="3452774" y="1461211"/>
            <a:ext cx="2600554" cy="590702"/>
          </a:xfrm>
          <a:prstGeom prst="roundRect">
            <a:avLst>
              <a:gd name="adj" fmla="val 19974"/>
            </a:avLst>
          </a:prstGeom>
          <a:solidFill>
            <a:srgbClr val="141428">
              <a:alpha val="70000"/>
            </a:srgbClr>
          </a:solidFill>
          <a:ln/>
        </p:spPr>
        <p:txBody>
          <a:bodyPr/>
          <a:lstStyle/>
          <a:p>
            <a:endParaRPr lang="ja-JP" altLang="en-US"/>
          </a:p>
        </p:txBody>
      </p:sp>
      <p:sp>
        <p:nvSpPr>
          <p:cNvPr id="16" name="Shape 12"/>
          <p:cNvSpPr/>
          <p:nvPr/>
        </p:nvSpPr>
        <p:spPr>
          <a:xfrm>
            <a:off x="6143854" y="1461211"/>
            <a:ext cx="2600554" cy="590702"/>
          </a:xfrm>
          <a:prstGeom prst="roundRect">
            <a:avLst>
              <a:gd name="adj" fmla="val 19974"/>
            </a:avLst>
          </a:prstGeom>
          <a:solidFill>
            <a:srgbClr val="141428">
              <a:alpha val="70000"/>
            </a:srgbClr>
          </a:solidFill>
          <a:ln/>
        </p:spPr>
        <p:txBody>
          <a:bodyPr/>
          <a:lstStyle/>
          <a:p>
            <a:endParaRPr lang="ja-JP" altLang="en-US"/>
          </a:p>
        </p:txBody>
      </p:sp>
      <p:sp>
        <p:nvSpPr>
          <p:cNvPr id="17" name="Shape 13"/>
          <p:cNvSpPr/>
          <p:nvPr/>
        </p:nvSpPr>
        <p:spPr>
          <a:xfrm>
            <a:off x="8834018" y="1461211"/>
            <a:ext cx="2600554" cy="590702"/>
          </a:xfrm>
          <a:prstGeom prst="roundRect">
            <a:avLst>
              <a:gd name="adj" fmla="val 19974"/>
            </a:avLst>
          </a:prstGeom>
          <a:solidFill>
            <a:srgbClr val="141428">
              <a:alpha val="70000"/>
            </a:srgbClr>
          </a:solidFill>
          <a:ln/>
        </p:spPr>
        <p:txBody>
          <a:bodyPr/>
          <a:lstStyle/>
          <a:p>
            <a:endParaRPr lang="ja-JP" altLang="en-US"/>
          </a:p>
        </p:txBody>
      </p:sp>
      <p:sp>
        <p:nvSpPr>
          <p:cNvPr id="18" name="Shape 14"/>
          <p:cNvSpPr/>
          <p:nvPr/>
        </p:nvSpPr>
        <p:spPr>
          <a:xfrm>
            <a:off x="857707" y="2709367"/>
            <a:ext cx="10477195" cy="57607"/>
          </a:xfrm>
          <a:prstGeom prst="roundRect">
            <a:avLst>
              <a:gd name="adj" fmla="val 793654"/>
            </a:avLst>
          </a:prstGeom>
          <a:solidFill>
            <a:srgbClr val="FFFFFF">
              <a:alpha val="10000"/>
            </a:srgbClr>
          </a:solidFill>
          <a:ln/>
        </p:spPr>
        <p:txBody>
          <a:bodyPr/>
          <a:lstStyle/>
          <a:p>
            <a:endParaRPr lang="ja-JP" altLang="en-US"/>
          </a:p>
        </p:txBody>
      </p:sp>
      <p:sp>
        <p:nvSpPr>
          <p:cNvPr id="19" name="Shape 15"/>
          <p:cNvSpPr/>
          <p:nvPr/>
        </p:nvSpPr>
        <p:spPr>
          <a:xfrm>
            <a:off x="3547872" y="1584655"/>
            <a:ext cx="342900" cy="342900"/>
          </a:xfrm>
          <a:prstGeom prst="ellipse">
            <a:avLst/>
          </a:prstGeom>
          <a:solidFill>
            <a:srgbClr val="E74C3C">
              <a:alpha val="20000"/>
            </a:srgbClr>
          </a:solidFill>
          <a:ln/>
        </p:spPr>
        <p:txBody>
          <a:bodyPr/>
          <a:lstStyle/>
          <a:p>
            <a:endParaRPr lang="ja-JP" altLang="en-US"/>
          </a:p>
        </p:txBody>
      </p:sp>
      <p:sp>
        <p:nvSpPr>
          <p:cNvPr id="20" name="Shape 16"/>
          <p:cNvSpPr/>
          <p:nvPr/>
        </p:nvSpPr>
        <p:spPr>
          <a:xfrm>
            <a:off x="6238951" y="1584655"/>
            <a:ext cx="342900" cy="342900"/>
          </a:xfrm>
          <a:prstGeom prst="ellipse">
            <a:avLst/>
          </a:prstGeom>
          <a:solidFill>
            <a:srgbClr val="3498DB">
              <a:alpha val="20000"/>
            </a:srgbClr>
          </a:solidFill>
          <a:ln/>
        </p:spPr>
        <p:txBody>
          <a:bodyPr/>
          <a:lstStyle/>
          <a:p>
            <a:endParaRPr lang="ja-JP" altLang="en-US"/>
          </a:p>
        </p:txBody>
      </p:sp>
      <p:sp>
        <p:nvSpPr>
          <p:cNvPr id="21" name="Shape 17"/>
          <p:cNvSpPr/>
          <p:nvPr/>
        </p:nvSpPr>
        <p:spPr>
          <a:xfrm>
            <a:off x="857707" y="3033065"/>
            <a:ext cx="838505" cy="57607"/>
          </a:xfrm>
          <a:prstGeom prst="roundRect">
            <a:avLst>
              <a:gd name="adj" fmla="val 793654"/>
            </a:avLst>
          </a:prstGeom>
          <a:solidFill>
            <a:srgbClr val="3498DB"/>
          </a:solidFill>
          <a:ln/>
        </p:spPr>
        <p:txBody>
          <a:bodyPr/>
          <a:lstStyle/>
          <a:p>
            <a:endParaRPr lang="ja-JP" altLang="en-US"/>
          </a:p>
        </p:txBody>
      </p:sp>
      <p:sp>
        <p:nvSpPr>
          <p:cNvPr id="22" name="Text 18"/>
          <p:cNvSpPr txBox="1"/>
          <p:nvPr/>
        </p:nvSpPr>
        <p:spPr>
          <a:xfrm>
            <a:off x="1295705" y="1608430"/>
            <a:ext cx="1077163" cy="133502"/>
          </a:xfrm>
          <a:prstGeom prst="rect">
            <a:avLst/>
          </a:prstGeom>
          <a:noFill/>
          <a:ln/>
        </p:spPr>
        <p:txBody>
          <a:bodyPr wrap="square" lIns="0" tIns="0" rIns="0" bIns="0" rtlCol="0" anchor="ctr"/>
          <a:lstStyle/>
          <a:p>
            <a:pPr marL="0" indent="0" algn="l">
              <a:buNone/>
            </a:pPr>
            <a:r>
              <a:rPr lang="en-US" sz="900" dirty="0">
                <a:solidFill>
                  <a:srgbClr val="3498DB"/>
                </a:solidFill>
                <a:latin typeface="Roboto" pitchFamily="34" charset="0"/>
                <a:ea typeface="Roboto" pitchFamily="34" charset="-122"/>
                <a:cs typeface="Roboto" pitchFamily="34" charset="-120"/>
              </a:rPr>
              <a:t>解像度 / Resolution</a:t>
            </a:r>
            <a:endParaRPr lang="en-US" sz="900" dirty="0"/>
          </a:p>
        </p:txBody>
      </p:sp>
      <p:sp>
        <p:nvSpPr>
          <p:cNvPr id="23" name="Text 19"/>
          <p:cNvSpPr txBox="1"/>
          <p:nvPr/>
        </p:nvSpPr>
        <p:spPr>
          <a:xfrm>
            <a:off x="1295705" y="1751990"/>
            <a:ext cx="896112" cy="181051"/>
          </a:xfrm>
          <a:prstGeom prst="rect">
            <a:avLst/>
          </a:prstGeom>
          <a:noFill/>
          <a:ln/>
        </p:spPr>
        <p:txBody>
          <a:bodyPr wrap="square" lIns="0" tIns="0" rIns="0" bIns="0" rtlCol="0" anchor="ctr"/>
          <a:lstStyle/>
          <a:p>
            <a:pPr marL="0" indent="0" algn="l">
              <a:buNone/>
            </a:pPr>
            <a:r>
              <a:rPr lang="en-US" sz="1200" b="1" dirty="0">
                <a:solidFill>
                  <a:srgbClr val="FFFFFF"/>
                </a:solidFill>
                <a:latin typeface="Roboto" pitchFamily="34" charset="0"/>
                <a:ea typeface="Roboto" pitchFamily="34" charset="-122"/>
                <a:cs typeface="Roboto" pitchFamily="34" charset="-120"/>
              </a:rPr>
              <a:t>FHD 1080P</a:t>
            </a:r>
            <a:endParaRPr lang="en-US" sz="1200" dirty="0"/>
          </a:p>
        </p:txBody>
      </p:sp>
      <p:pic>
        <p:nvPicPr>
          <p:cNvPr id="24" name="Image 2" descr="preencoded.png"/>
          <p:cNvPicPr>
            <a:picLocks noChangeAspect="1"/>
          </p:cNvPicPr>
          <p:nvPr/>
        </p:nvPicPr>
        <p:blipFill>
          <a:blip r:embed="rId5"/>
          <a:srcRect/>
          <a:stretch/>
        </p:blipFill>
        <p:spPr>
          <a:xfrm>
            <a:off x="3642970" y="1680667"/>
            <a:ext cx="152705" cy="152705"/>
          </a:xfrm>
          <a:prstGeom prst="rect">
            <a:avLst/>
          </a:prstGeom>
        </p:spPr>
      </p:pic>
      <p:sp>
        <p:nvSpPr>
          <p:cNvPr id="25" name="Shape 20"/>
          <p:cNvSpPr/>
          <p:nvPr/>
        </p:nvSpPr>
        <p:spPr>
          <a:xfrm>
            <a:off x="857707" y="2709367"/>
            <a:ext cx="209398" cy="57607"/>
          </a:xfrm>
          <a:prstGeom prst="roundRect">
            <a:avLst>
              <a:gd name="adj" fmla="val 793654"/>
            </a:avLst>
          </a:prstGeom>
          <a:solidFill>
            <a:srgbClr val="2ECC71"/>
          </a:solidFill>
          <a:ln/>
        </p:spPr>
        <p:txBody>
          <a:bodyPr/>
          <a:lstStyle/>
          <a:p>
            <a:endParaRPr lang="ja-JP" altLang="en-US"/>
          </a:p>
        </p:txBody>
      </p:sp>
      <p:sp>
        <p:nvSpPr>
          <p:cNvPr id="26" name="Text 21"/>
          <p:cNvSpPr txBox="1"/>
          <p:nvPr/>
        </p:nvSpPr>
        <p:spPr>
          <a:xfrm>
            <a:off x="3985870" y="1608430"/>
            <a:ext cx="1571854" cy="133502"/>
          </a:xfrm>
          <a:prstGeom prst="rect">
            <a:avLst/>
          </a:prstGeom>
          <a:noFill/>
          <a:ln/>
        </p:spPr>
        <p:txBody>
          <a:bodyPr wrap="square" lIns="0" tIns="0" rIns="0" bIns="0" rtlCol="0" anchor="ctr"/>
          <a:lstStyle/>
          <a:p>
            <a:pPr marL="0" indent="0" algn="l">
              <a:buNone/>
            </a:pPr>
            <a:r>
              <a:rPr lang="en-US" sz="900" dirty="0">
                <a:solidFill>
                  <a:srgbClr val="E74C3C"/>
                </a:solidFill>
                <a:latin typeface="Roboto" pitchFamily="34" charset="0"/>
                <a:ea typeface="Roboto" pitchFamily="34" charset="-122"/>
                <a:cs typeface="Roboto" pitchFamily="34" charset="-120"/>
              </a:rPr>
              <a:t>フレームレート / Frame Rate</a:t>
            </a:r>
            <a:endParaRPr lang="en-US" sz="900" dirty="0"/>
          </a:p>
        </p:txBody>
      </p:sp>
      <p:sp>
        <p:nvSpPr>
          <p:cNvPr id="27" name="Text 22"/>
          <p:cNvSpPr txBox="1"/>
          <p:nvPr/>
        </p:nvSpPr>
        <p:spPr>
          <a:xfrm>
            <a:off x="3985870" y="1751990"/>
            <a:ext cx="553212" cy="181051"/>
          </a:xfrm>
          <a:prstGeom prst="rect">
            <a:avLst/>
          </a:prstGeom>
          <a:noFill/>
          <a:ln/>
        </p:spPr>
        <p:txBody>
          <a:bodyPr wrap="square" lIns="0" tIns="0" rIns="0" bIns="0" rtlCol="0" anchor="ctr"/>
          <a:lstStyle/>
          <a:p>
            <a:pPr marL="0" indent="0" algn="l">
              <a:buNone/>
            </a:pPr>
            <a:r>
              <a:rPr lang="en-US" sz="1200" b="1" dirty="0">
                <a:solidFill>
                  <a:srgbClr val="FFFFFF"/>
                </a:solidFill>
                <a:latin typeface="Roboto" pitchFamily="34" charset="0"/>
                <a:ea typeface="Roboto" pitchFamily="34" charset="-122"/>
                <a:cs typeface="Roboto" pitchFamily="34" charset="-120"/>
              </a:rPr>
              <a:t>30 fps</a:t>
            </a:r>
            <a:endParaRPr lang="en-US" sz="1200" dirty="0"/>
          </a:p>
        </p:txBody>
      </p:sp>
      <p:pic>
        <p:nvPicPr>
          <p:cNvPr id="28" name="Image 3" descr="preencoded.png"/>
          <p:cNvPicPr>
            <a:picLocks noChangeAspect="1"/>
          </p:cNvPicPr>
          <p:nvPr/>
        </p:nvPicPr>
        <p:blipFill>
          <a:blip r:embed="rId6"/>
          <a:srcRect/>
          <a:stretch/>
        </p:blipFill>
        <p:spPr>
          <a:xfrm>
            <a:off x="6334049" y="1680667"/>
            <a:ext cx="152705" cy="152705"/>
          </a:xfrm>
          <a:prstGeom prst="rect">
            <a:avLst/>
          </a:prstGeom>
        </p:spPr>
      </p:pic>
      <p:sp>
        <p:nvSpPr>
          <p:cNvPr id="29" name="Shape 23"/>
          <p:cNvSpPr/>
          <p:nvPr/>
        </p:nvSpPr>
        <p:spPr>
          <a:xfrm>
            <a:off x="8930030" y="1584655"/>
            <a:ext cx="342900" cy="342900"/>
          </a:xfrm>
          <a:prstGeom prst="ellipse">
            <a:avLst/>
          </a:prstGeom>
          <a:solidFill>
            <a:srgbClr val="E74C3C">
              <a:alpha val="20000"/>
            </a:srgbClr>
          </a:solidFill>
          <a:ln/>
        </p:spPr>
        <p:txBody>
          <a:bodyPr/>
          <a:lstStyle/>
          <a:p>
            <a:endParaRPr lang="ja-JP" altLang="en-US"/>
          </a:p>
        </p:txBody>
      </p:sp>
      <p:sp>
        <p:nvSpPr>
          <p:cNvPr id="30" name="Text 24"/>
          <p:cNvSpPr txBox="1"/>
          <p:nvPr/>
        </p:nvSpPr>
        <p:spPr>
          <a:xfrm>
            <a:off x="6676949" y="1584655"/>
            <a:ext cx="1219810" cy="133502"/>
          </a:xfrm>
          <a:prstGeom prst="rect">
            <a:avLst/>
          </a:prstGeom>
          <a:noFill/>
          <a:ln/>
        </p:spPr>
        <p:txBody>
          <a:bodyPr wrap="square" lIns="0" tIns="0" rIns="0" bIns="0" rtlCol="0" anchor="ctr"/>
          <a:lstStyle/>
          <a:p>
            <a:pPr marL="0" indent="0" algn="l">
              <a:buNone/>
            </a:pPr>
            <a:r>
              <a:rPr lang="en-US" sz="900" dirty="0">
                <a:solidFill>
                  <a:srgbClr val="3498DB"/>
                </a:solidFill>
                <a:latin typeface="Roboto" pitchFamily="34" charset="0"/>
                <a:ea typeface="Roboto" pitchFamily="34" charset="-122"/>
                <a:cs typeface="Roboto" pitchFamily="34" charset="-120"/>
              </a:rPr>
              <a:t>ビットレート / Bitrate</a:t>
            </a:r>
            <a:endParaRPr lang="en-US" sz="900" dirty="0"/>
          </a:p>
        </p:txBody>
      </p:sp>
      <p:sp>
        <p:nvSpPr>
          <p:cNvPr id="31" name="Text 25"/>
          <p:cNvSpPr txBox="1"/>
          <p:nvPr/>
        </p:nvSpPr>
        <p:spPr>
          <a:xfrm>
            <a:off x="6676949" y="1765706"/>
            <a:ext cx="866851" cy="181051"/>
          </a:xfrm>
          <a:prstGeom prst="rect">
            <a:avLst/>
          </a:prstGeom>
          <a:noFill/>
          <a:ln/>
        </p:spPr>
        <p:txBody>
          <a:bodyPr wrap="square" lIns="0" tIns="0" rIns="0" bIns="0" rtlCol="0" anchor="ctr"/>
          <a:lstStyle/>
          <a:p>
            <a:pPr marL="0" indent="0" algn="l">
              <a:buNone/>
            </a:pPr>
            <a:r>
              <a:rPr lang="en-US" sz="1200" b="1" dirty="0">
                <a:solidFill>
                  <a:srgbClr val="FFFFFF"/>
                </a:solidFill>
                <a:latin typeface="Roboto" pitchFamily="34" charset="0"/>
                <a:ea typeface="Roboto" pitchFamily="34" charset="-122"/>
                <a:cs typeface="Roboto" pitchFamily="34" charset="-120"/>
              </a:rPr>
              <a:t>1〜3 Mbps</a:t>
            </a:r>
            <a:endParaRPr lang="en-US" sz="1200" dirty="0"/>
          </a:p>
        </p:txBody>
      </p:sp>
      <p:pic>
        <p:nvPicPr>
          <p:cNvPr id="32" name="Image 4" descr="preencoded.png"/>
          <p:cNvPicPr>
            <a:picLocks noChangeAspect="1"/>
          </p:cNvPicPr>
          <p:nvPr/>
        </p:nvPicPr>
        <p:blipFill>
          <a:blip r:embed="rId7"/>
          <a:srcRect t="-43" b="-43"/>
          <a:stretch/>
        </p:blipFill>
        <p:spPr>
          <a:xfrm>
            <a:off x="9034272" y="1680667"/>
            <a:ext cx="133502" cy="152705"/>
          </a:xfrm>
          <a:prstGeom prst="rect">
            <a:avLst/>
          </a:prstGeom>
        </p:spPr>
      </p:pic>
      <p:sp>
        <p:nvSpPr>
          <p:cNvPr id="33" name="Text 26"/>
          <p:cNvSpPr txBox="1"/>
          <p:nvPr/>
        </p:nvSpPr>
        <p:spPr>
          <a:xfrm>
            <a:off x="9368028" y="1584655"/>
            <a:ext cx="1448410" cy="133502"/>
          </a:xfrm>
          <a:prstGeom prst="rect">
            <a:avLst/>
          </a:prstGeom>
          <a:noFill/>
          <a:ln/>
        </p:spPr>
        <p:txBody>
          <a:bodyPr wrap="square" lIns="0" tIns="0" rIns="0" bIns="0" rtlCol="0" anchor="ctr"/>
          <a:lstStyle/>
          <a:p>
            <a:pPr marL="0" indent="0" algn="l">
              <a:buNone/>
            </a:pPr>
            <a:r>
              <a:rPr lang="en-US" sz="900" dirty="0">
                <a:solidFill>
                  <a:srgbClr val="E74C3C"/>
                </a:solidFill>
                <a:latin typeface="Roboto" pitchFamily="34" charset="0"/>
                <a:ea typeface="Roboto" pitchFamily="34" charset="-122"/>
                <a:cs typeface="Roboto" pitchFamily="34" charset="-120"/>
              </a:rPr>
              <a:t>総遅延時間 / Total Latency</a:t>
            </a:r>
            <a:endParaRPr lang="en-US" sz="900" dirty="0"/>
          </a:p>
        </p:txBody>
      </p:sp>
      <p:sp>
        <p:nvSpPr>
          <p:cNvPr id="34" name="Text 27"/>
          <p:cNvSpPr txBox="1"/>
          <p:nvPr/>
        </p:nvSpPr>
        <p:spPr>
          <a:xfrm>
            <a:off x="9368028" y="1765706"/>
            <a:ext cx="734263" cy="181051"/>
          </a:xfrm>
          <a:prstGeom prst="rect">
            <a:avLst/>
          </a:prstGeom>
          <a:noFill/>
          <a:ln/>
        </p:spPr>
        <p:txBody>
          <a:bodyPr wrap="square" lIns="0" tIns="0" rIns="0" bIns="0" rtlCol="0" anchor="ctr"/>
          <a:lstStyle/>
          <a:p>
            <a:pPr marL="0" indent="0" algn="l">
              <a:buNone/>
            </a:pPr>
            <a:r>
              <a:rPr lang="en-US" sz="1200" b="1" dirty="0">
                <a:solidFill>
                  <a:srgbClr val="FFFFFF"/>
                </a:solidFill>
                <a:latin typeface="Roboto" pitchFamily="34" charset="0"/>
                <a:ea typeface="Roboto" pitchFamily="34" charset="-122"/>
                <a:cs typeface="Roboto" pitchFamily="34" charset="-120"/>
              </a:rPr>
              <a:t>0.5〜2秒</a:t>
            </a:r>
            <a:endParaRPr lang="en-US" sz="1200" dirty="0"/>
          </a:p>
        </p:txBody>
      </p:sp>
      <p:pic>
        <p:nvPicPr>
          <p:cNvPr id="35" name="Image 5" descr="preencoded.png"/>
          <p:cNvPicPr>
            <a:picLocks noChangeAspect="1"/>
          </p:cNvPicPr>
          <p:nvPr/>
        </p:nvPicPr>
        <p:blipFill>
          <a:blip r:embed="rId8"/>
          <a:srcRect/>
          <a:stretch/>
        </p:blipFill>
        <p:spPr>
          <a:xfrm>
            <a:off x="857707" y="2279599"/>
            <a:ext cx="142646" cy="142646"/>
          </a:xfrm>
          <a:prstGeom prst="rect">
            <a:avLst/>
          </a:prstGeom>
        </p:spPr>
      </p:pic>
      <p:sp>
        <p:nvSpPr>
          <p:cNvPr id="36" name="Shape 28"/>
          <p:cNvSpPr/>
          <p:nvPr/>
        </p:nvSpPr>
        <p:spPr>
          <a:xfrm>
            <a:off x="761695" y="6138367"/>
            <a:ext cx="10668305" cy="9144"/>
          </a:xfrm>
          <a:prstGeom prst="rect">
            <a:avLst/>
          </a:prstGeom>
          <a:solidFill>
            <a:srgbClr val="FFFFFF">
              <a:alpha val="10000"/>
            </a:srgbClr>
          </a:solidFill>
          <a:ln/>
        </p:spPr>
        <p:txBody>
          <a:bodyPr/>
          <a:lstStyle/>
          <a:p>
            <a:endParaRPr lang="ja-JP" altLang="en-US"/>
          </a:p>
        </p:txBody>
      </p:sp>
      <p:sp>
        <p:nvSpPr>
          <p:cNvPr id="37" name="Shape 29"/>
          <p:cNvSpPr/>
          <p:nvPr/>
        </p:nvSpPr>
        <p:spPr>
          <a:xfrm>
            <a:off x="761695" y="4309567"/>
            <a:ext cx="5286146" cy="1733702"/>
          </a:xfrm>
          <a:prstGeom prst="roundRect">
            <a:avLst>
              <a:gd name="adj" fmla="val 2318"/>
            </a:avLst>
          </a:prstGeom>
          <a:solidFill>
            <a:srgbClr val="141428">
              <a:alpha val="70000"/>
            </a:srgbClr>
          </a:solidFill>
          <a:ln/>
        </p:spPr>
        <p:txBody>
          <a:bodyPr/>
          <a:lstStyle/>
          <a:p>
            <a:endParaRPr lang="ja-JP" altLang="en-US"/>
          </a:p>
        </p:txBody>
      </p:sp>
      <p:sp>
        <p:nvSpPr>
          <p:cNvPr id="38" name="Shape 30"/>
          <p:cNvSpPr/>
          <p:nvPr/>
        </p:nvSpPr>
        <p:spPr>
          <a:xfrm>
            <a:off x="6143854" y="4309567"/>
            <a:ext cx="5286146" cy="1733702"/>
          </a:xfrm>
          <a:prstGeom prst="roundRect">
            <a:avLst>
              <a:gd name="adj" fmla="val 2318"/>
            </a:avLst>
          </a:prstGeom>
          <a:solidFill>
            <a:srgbClr val="141428">
              <a:alpha val="70000"/>
            </a:srgbClr>
          </a:solidFill>
          <a:ln/>
        </p:spPr>
        <p:txBody>
          <a:bodyPr/>
          <a:lstStyle/>
          <a:p>
            <a:endParaRPr lang="ja-JP" altLang="en-US"/>
          </a:p>
        </p:txBody>
      </p:sp>
      <p:sp>
        <p:nvSpPr>
          <p:cNvPr id="39" name="Shape 31"/>
          <p:cNvSpPr/>
          <p:nvPr/>
        </p:nvSpPr>
        <p:spPr>
          <a:xfrm>
            <a:off x="857707" y="3356762"/>
            <a:ext cx="10477195" cy="57607"/>
          </a:xfrm>
          <a:prstGeom prst="roundRect">
            <a:avLst>
              <a:gd name="adj" fmla="val 793654"/>
            </a:avLst>
          </a:prstGeom>
          <a:solidFill>
            <a:srgbClr val="FFFFFF">
              <a:alpha val="10000"/>
            </a:srgbClr>
          </a:solidFill>
          <a:ln/>
        </p:spPr>
        <p:txBody>
          <a:bodyPr/>
          <a:lstStyle/>
          <a:p>
            <a:endParaRPr lang="ja-JP" altLang="en-US"/>
          </a:p>
        </p:txBody>
      </p:sp>
      <p:sp>
        <p:nvSpPr>
          <p:cNvPr id="40" name="Shape 32"/>
          <p:cNvSpPr/>
          <p:nvPr/>
        </p:nvSpPr>
        <p:spPr>
          <a:xfrm>
            <a:off x="857707" y="3680460"/>
            <a:ext cx="10477195" cy="57607"/>
          </a:xfrm>
          <a:prstGeom prst="roundRect">
            <a:avLst>
              <a:gd name="adj" fmla="val 793654"/>
            </a:avLst>
          </a:prstGeom>
          <a:solidFill>
            <a:srgbClr val="FFFFFF">
              <a:alpha val="10000"/>
            </a:srgbClr>
          </a:solidFill>
          <a:ln/>
        </p:spPr>
        <p:txBody>
          <a:bodyPr/>
          <a:lstStyle/>
          <a:p>
            <a:endParaRPr lang="ja-JP" altLang="en-US"/>
          </a:p>
        </p:txBody>
      </p:sp>
      <p:sp>
        <p:nvSpPr>
          <p:cNvPr id="41" name="Shape 33"/>
          <p:cNvSpPr/>
          <p:nvPr/>
        </p:nvSpPr>
        <p:spPr>
          <a:xfrm>
            <a:off x="857707" y="4004158"/>
            <a:ext cx="10477195" cy="57607"/>
          </a:xfrm>
          <a:prstGeom prst="roundRect">
            <a:avLst>
              <a:gd name="adj" fmla="val 793654"/>
            </a:avLst>
          </a:prstGeom>
          <a:solidFill>
            <a:srgbClr val="FFFFFF">
              <a:alpha val="10000"/>
            </a:srgbClr>
          </a:solidFill>
          <a:ln/>
        </p:spPr>
        <p:txBody>
          <a:bodyPr/>
          <a:lstStyle/>
          <a:p>
            <a:endParaRPr lang="ja-JP" altLang="en-US"/>
          </a:p>
        </p:txBody>
      </p:sp>
      <p:sp>
        <p:nvSpPr>
          <p:cNvPr id="42" name="Shape 34"/>
          <p:cNvSpPr/>
          <p:nvPr/>
        </p:nvSpPr>
        <p:spPr>
          <a:xfrm>
            <a:off x="857707" y="4680814"/>
            <a:ext cx="5095951" cy="590702"/>
          </a:xfrm>
          <a:prstGeom prst="roundRect">
            <a:avLst>
              <a:gd name="adj" fmla="val 14981"/>
            </a:avLst>
          </a:prstGeom>
          <a:solidFill>
            <a:srgbClr val="3498DB">
              <a:alpha val="10000"/>
            </a:srgbClr>
          </a:solidFill>
          <a:ln/>
        </p:spPr>
        <p:txBody>
          <a:bodyPr/>
          <a:lstStyle/>
          <a:p>
            <a:endParaRPr lang="ja-JP" altLang="en-US"/>
          </a:p>
        </p:txBody>
      </p:sp>
      <p:sp>
        <p:nvSpPr>
          <p:cNvPr id="43" name="Shape 35"/>
          <p:cNvSpPr/>
          <p:nvPr/>
        </p:nvSpPr>
        <p:spPr>
          <a:xfrm>
            <a:off x="857707" y="4680814"/>
            <a:ext cx="28346" cy="590702"/>
          </a:xfrm>
          <a:prstGeom prst="rect">
            <a:avLst/>
          </a:prstGeom>
          <a:solidFill>
            <a:srgbClr val="3498DB"/>
          </a:solidFill>
          <a:ln/>
        </p:spPr>
        <p:txBody>
          <a:bodyPr/>
          <a:lstStyle/>
          <a:p>
            <a:endParaRPr lang="ja-JP" altLang="en-US"/>
          </a:p>
        </p:txBody>
      </p:sp>
      <p:sp>
        <p:nvSpPr>
          <p:cNvPr id="44" name="Shape 36"/>
          <p:cNvSpPr/>
          <p:nvPr/>
        </p:nvSpPr>
        <p:spPr>
          <a:xfrm>
            <a:off x="857707" y="3356762"/>
            <a:ext cx="1047902" cy="57607"/>
          </a:xfrm>
          <a:prstGeom prst="roundRect">
            <a:avLst>
              <a:gd name="adj" fmla="val 793654"/>
            </a:avLst>
          </a:prstGeom>
          <a:solidFill>
            <a:srgbClr val="9B59B6"/>
          </a:solidFill>
          <a:ln/>
        </p:spPr>
        <p:txBody>
          <a:bodyPr/>
          <a:lstStyle/>
          <a:p>
            <a:endParaRPr lang="ja-JP" altLang="en-US"/>
          </a:p>
        </p:txBody>
      </p:sp>
      <p:sp>
        <p:nvSpPr>
          <p:cNvPr id="45" name="Shape 37"/>
          <p:cNvSpPr/>
          <p:nvPr/>
        </p:nvSpPr>
        <p:spPr>
          <a:xfrm>
            <a:off x="857707" y="3680460"/>
            <a:ext cx="8382305" cy="57607"/>
          </a:xfrm>
          <a:prstGeom prst="roundRect">
            <a:avLst>
              <a:gd name="adj" fmla="val 793654"/>
            </a:avLst>
          </a:prstGeom>
          <a:solidFill>
            <a:srgbClr val="F39C12"/>
          </a:solidFill>
          <a:ln/>
        </p:spPr>
        <p:txBody>
          <a:bodyPr/>
          <a:lstStyle/>
          <a:p>
            <a:endParaRPr lang="ja-JP" altLang="en-US"/>
          </a:p>
        </p:txBody>
      </p:sp>
      <p:sp>
        <p:nvSpPr>
          <p:cNvPr id="46" name="Shape 38"/>
          <p:cNvSpPr/>
          <p:nvPr/>
        </p:nvSpPr>
        <p:spPr>
          <a:xfrm>
            <a:off x="857707" y="4004158"/>
            <a:ext cx="523951" cy="57607"/>
          </a:xfrm>
          <a:prstGeom prst="roundRect">
            <a:avLst>
              <a:gd name="adj" fmla="val 793654"/>
            </a:avLst>
          </a:prstGeom>
          <a:solidFill>
            <a:srgbClr val="E74C3C"/>
          </a:solidFill>
          <a:ln/>
        </p:spPr>
        <p:txBody>
          <a:bodyPr/>
          <a:lstStyle/>
          <a:p>
            <a:endParaRPr lang="ja-JP" altLang="en-US"/>
          </a:p>
        </p:txBody>
      </p:sp>
      <p:sp>
        <p:nvSpPr>
          <p:cNvPr id="47" name="Shape 39"/>
          <p:cNvSpPr/>
          <p:nvPr/>
        </p:nvSpPr>
        <p:spPr>
          <a:xfrm>
            <a:off x="6238951" y="5528462"/>
            <a:ext cx="5095951" cy="9144"/>
          </a:xfrm>
          <a:prstGeom prst="rect">
            <a:avLst/>
          </a:prstGeom>
          <a:solidFill>
            <a:srgbClr val="FFFFFF">
              <a:alpha val="10000"/>
            </a:srgbClr>
          </a:solidFill>
          <a:ln/>
        </p:spPr>
        <p:txBody>
          <a:bodyPr/>
          <a:lstStyle/>
          <a:p>
            <a:endParaRPr lang="ja-JP" altLang="en-US"/>
          </a:p>
        </p:txBody>
      </p:sp>
      <p:sp>
        <p:nvSpPr>
          <p:cNvPr id="48" name="Text 40"/>
          <p:cNvSpPr txBox="1"/>
          <p:nvPr/>
        </p:nvSpPr>
        <p:spPr>
          <a:xfrm>
            <a:off x="857707" y="2546604"/>
            <a:ext cx="1912925" cy="143561"/>
          </a:xfrm>
          <a:prstGeom prst="rect">
            <a:avLst/>
          </a:prstGeom>
          <a:noFill/>
          <a:ln/>
        </p:spPr>
        <p:txBody>
          <a:bodyPr wrap="square" lIns="0" tIns="0" rIns="0" bIns="0" rtlCol="0" anchor="ctr"/>
          <a:lstStyle/>
          <a:p>
            <a:pPr marL="0" indent="0" algn="l">
              <a:buNone/>
            </a:pPr>
            <a:r>
              <a:rPr lang="en-US" sz="900" dirty="0">
                <a:solidFill>
                  <a:srgbClr val="FFFFFF"/>
                </a:solidFill>
                <a:latin typeface="Roboto" pitchFamily="34" charset="0"/>
                <a:ea typeface="Roboto" pitchFamily="34" charset="-122"/>
                <a:cs typeface="Roboto" pitchFamily="34" charset="-120"/>
              </a:rPr>
              <a:t>HDMIキャプチャ / HDMI Capture</a:t>
            </a:r>
            <a:endParaRPr lang="en-US" sz="900" dirty="0"/>
          </a:p>
        </p:txBody>
      </p:sp>
      <p:sp>
        <p:nvSpPr>
          <p:cNvPr id="49" name="Text 41"/>
          <p:cNvSpPr txBox="1"/>
          <p:nvPr/>
        </p:nvSpPr>
        <p:spPr>
          <a:xfrm>
            <a:off x="10826496" y="2546604"/>
            <a:ext cx="608076" cy="143561"/>
          </a:xfrm>
          <a:prstGeom prst="rect">
            <a:avLst/>
          </a:prstGeom>
          <a:noFill/>
          <a:ln/>
        </p:spPr>
        <p:txBody>
          <a:bodyPr wrap="square" lIns="0" tIns="0" rIns="0" bIns="0" rtlCol="0" anchor="ctr"/>
          <a:lstStyle/>
          <a:p>
            <a:pPr marL="0" indent="0" algn="l">
              <a:buNone/>
            </a:pPr>
            <a:r>
              <a:rPr lang="en-US" sz="900" b="1" dirty="0">
                <a:solidFill>
                  <a:srgbClr val="FFFFFF"/>
                </a:solidFill>
                <a:latin typeface="Roboto" pitchFamily="34" charset="0"/>
                <a:ea typeface="Roboto" pitchFamily="34" charset="-122"/>
                <a:cs typeface="Roboto" pitchFamily="34" charset="-120"/>
              </a:rPr>
              <a:t>0〜20ms</a:t>
            </a:r>
            <a:endParaRPr lang="en-US" sz="900" dirty="0"/>
          </a:p>
        </p:txBody>
      </p:sp>
      <p:sp>
        <p:nvSpPr>
          <p:cNvPr id="50" name="Text 42"/>
          <p:cNvSpPr txBox="1"/>
          <p:nvPr/>
        </p:nvSpPr>
        <p:spPr>
          <a:xfrm>
            <a:off x="857707" y="2871216"/>
            <a:ext cx="2569464" cy="143561"/>
          </a:xfrm>
          <a:prstGeom prst="rect">
            <a:avLst/>
          </a:prstGeom>
          <a:noFill/>
          <a:ln/>
        </p:spPr>
        <p:txBody>
          <a:bodyPr wrap="square" lIns="0" tIns="0" rIns="0" bIns="0" rtlCol="0" anchor="ctr"/>
          <a:lstStyle/>
          <a:p>
            <a:pPr marL="0" indent="0" algn="l">
              <a:buNone/>
            </a:pPr>
            <a:r>
              <a:rPr lang="en-US" sz="900" dirty="0">
                <a:solidFill>
                  <a:srgbClr val="FFFFFF"/>
                </a:solidFill>
                <a:latin typeface="Roboto" pitchFamily="34" charset="0"/>
                <a:ea typeface="Roboto" pitchFamily="34" charset="-122"/>
                <a:cs typeface="Roboto" pitchFamily="34" charset="-120"/>
              </a:rPr>
              <a:t>エンコーディング / Encoding (iZCast Caster)</a:t>
            </a:r>
            <a:endParaRPr lang="en-US" sz="900" dirty="0"/>
          </a:p>
        </p:txBody>
      </p:sp>
      <p:sp>
        <p:nvSpPr>
          <p:cNvPr id="51" name="Text 43"/>
          <p:cNvSpPr txBox="1"/>
          <p:nvPr/>
        </p:nvSpPr>
        <p:spPr>
          <a:xfrm>
            <a:off x="10756087" y="2871216"/>
            <a:ext cx="673913" cy="143561"/>
          </a:xfrm>
          <a:prstGeom prst="rect">
            <a:avLst/>
          </a:prstGeom>
          <a:noFill/>
          <a:ln/>
        </p:spPr>
        <p:txBody>
          <a:bodyPr wrap="square" lIns="0" tIns="0" rIns="0" bIns="0" rtlCol="0" anchor="ctr"/>
          <a:lstStyle/>
          <a:p>
            <a:pPr marL="0" indent="0" algn="l">
              <a:buNone/>
            </a:pPr>
            <a:r>
              <a:rPr lang="en-US" sz="900" b="1" dirty="0">
                <a:solidFill>
                  <a:srgbClr val="FFFFFF"/>
                </a:solidFill>
                <a:latin typeface="Roboto" pitchFamily="34" charset="0"/>
                <a:ea typeface="Roboto" pitchFamily="34" charset="-122"/>
                <a:cs typeface="Roboto" pitchFamily="34" charset="-120"/>
              </a:rPr>
              <a:t>50〜80ms</a:t>
            </a:r>
            <a:endParaRPr lang="en-US" sz="900" dirty="0"/>
          </a:p>
        </p:txBody>
      </p:sp>
      <p:sp>
        <p:nvSpPr>
          <p:cNvPr id="52" name="Text 44"/>
          <p:cNvSpPr txBox="1"/>
          <p:nvPr/>
        </p:nvSpPr>
        <p:spPr>
          <a:xfrm>
            <a:off x="857707" y="3194914"/>
            <a:ext cx="2208276" cy="143561"/>
          </a:xfrm>
          <a:prstGeom prst="rect">
            <a:avLst/>
          </a:prstGeom>
          <a:noFill/>
          <a:ln/>
        </p:spPr>
        <p:txBody>
          <a:bodyPr wrap="square" lIns="0" tIns="0" rIns="0" bIns="0" rtlCol="0" anchor="ctr"/>
          <a:lstStyle/>
          <a:p>
            <a:pPr marL="0" indent="0" algn="l">
              <a:buNone/>
            </a:pPr>
            <a:r>
              <a:rPr lang="en-US" sz="900" dirty="0">
                <a:solidFill>
                  <a:srgbClr val="FFFFFF"/>
                </a:solidFill>
                <a:latin typeface="Roboto" pitchFamily="34" charset="0"/>
                <a:ea typeface="Roboto" pitchFamily="34" charset="-122"/>
                <a:cs typeface="Roboto" pitchFamily="34" charset="-120"/>
              </a:rPr>
              <a:t>マルチパス送信 / Multi-path Transport</a:t>
            </a:r>
            <a:endParaRPr lang="en-US" sz="900" dirty="0"/>
          </a:p>
        </p:txBody>
      </p:sp>
      <p:sp>
        <p:nvSpPr>
          <p:cNvPr id="53" name="Text 45"/>
          <p:cNvSpPr txBox="1"/>
          <p:nvPr/>
        </p:nvSpPr>
        <p:spPr>
          <a:xfrm>
            <a:off x="10756087" y="3194914"/>
            <a:ext cx="673913" cy="143561"/>
          </a:xfrm>
          <a:prstGeom prst="rect">
            <a:avLst/>
          </a:prstGeom>
          <a:noFill/>
          <a:ln/>
        </p:spPr>
        <p:txBody>
          <a:bodyPr wrap="square" lIns="0" tIns="0" rIns="0" bIns="0" rtlCol="0" anchor="ctr"/>
          <a:lstStyle/>
          <a:p>
            <a:pPr marL="0" indent="0" algn="l">
              <a:buNone/>
            </a:pPr>
            <a:r>
              <a:rPr lang="en-US" sz="900" b="1" dirty="0">
                <a:solidFill>
                  <a:srgbClr val="FFFFFF"/>
                </a:solidFill>
                <a:latin typeface="Roboto" pitchFamily="34" charset="0"/>
                <a:ea typeface="Roboto" pitchFamily="34" charset="-122"/>
                <a:cs typeface="Roboto" pitchFamily="34" charset="-120"/>
              </a:rPr>
              <a:t>0〜100ms</a:t>
            </a:r>
            <a:endParaRPr lang="en-US" sz="900" dirty="0"/>
          </a:p>
        </p:txBody>
      </p:sp>
      <p:sp>
        <p:nvSpPr>
          <p:cNvPr id="54" name="Text 46"/>
          <p:cNvSpPr txBox="1"/>
          <p:nvPr/>
        </p:nvSpPr>
        <p:spPr>
          <a:xfrm>
            <a:off x="857707" y="3518611"/>
            <a:ext cx="2750515" cy="143561"/>
          </a:xfrm>
          <a:prstGeom prst="rect">
            <a:avLst/>
          </a:prstGeom>
          <a:noFill/>
          <a:ln/>
        </p:spPr>
        <p:txBody>
          <a:bodyPr wrap="square" lIns="0" tIns="0" rIns="0" bIns="0" rtlCol="0" anchor="ctr"/>
          <a:lstStyle/>
          <a:p>
            <a:pPr marL="0" indent="0" algn="l">
              <a:buNone/>
            </a:pPr>
            <a:r>
              <a:rPr lang="en-US" sz="900" dirty="0">
                <a:solidFill>
                  <a:srgbClr val="FFFFFF"/>
                </a:solidFill>
                <a:latin typeface="Roboto" pitchFamily="34" charset="0"/>
                <a:ea typeface="Roboto" pitchFamily="34" charset="-122"/>
                <a:cs typeface="Roboto" pitchFamily="34" charset="-120"/>
              </a:rPr>
              <a:t>ストリーミング最適化 / Streaming Optimization</a:t>
            </a:r>
            <a:endParaRPr lang="en-US" sz="900" dirty="0"/>
          </a:p>
        </p:txBody>
      </p:sp>
      <p:sp>
        <p:nvSpPr>
          <p:cNvPr id="55" name="Text 47"/>
          <p:cNvSpPr txBox="1"/>
          <p:nvPr/>
        </p:nvSpPr>
        <p:spPr>
          <a:xfrm>
            <a:off x="10684764" y="3518611"/>
            <a:ext cx="750722" cy="143561"/>
          </a:xfrm>
          <a:prstGeom prst="rect">
            <a:avLst/>
          </a:prstGeom>
          <a:noFill/>
          <a:ln/>
        </p:spPr>
        <p:txBody>
          <a:bodyPr wrap="square" lIns="0" tIns="0" rIns="0" bIns="0" rtlCol="0" anchor="ctr"/>
          <a:lstStyle/>
          <a:p>
            <a:pPr marL="0" indent="0" algn="l">
              <a:buNone/>
            </a:pPr>
            <a:r>
              <a:rPr lang="en-US" sz="900" b="1" dirty="0">
                <a:solidFill>
                  <a:srgbClr val="FFFFFF"/>
                </a:solidFill>
                <a:latin typeface="Roboto" pitchFamily="34" charset="0"/>
                <a:ea typeface="Roboto" pitchFamily="34" charset="-122"/>
                <a:cs typeface="Roboto" pitchFamily="34" charset="-120"/>
              </a:rPr>
              <a:t>0〜2000ms</a:t>
            </a:r>
            <a:endParaRPr lang="en-US" sz="900" dirty="0"/>
          </a:p>
        </p:txBody>
      </p:sp>
      <p:sp>
        <p:nvSpPr>
          <p:cNvPr id="56" name="Text 48"/>
          <p:cNvSpPr txBox="1"/>
          <p:nvPr/>
        </p:nvSpPr>
        <p:spPr>
          <a:xfrm>
            <a:off x="857707" y="3842309"/>
            <a:ext cx="2008022" cy="143561"/>
          </a:xfrm>
          <a:prstGeom prst="rect">
            <a:avLst/>
          </a:prstGeom>
          <a:noFill/>
          <a:ln/>
        </p:spPr>
        <p:txBody>
          <a:bodyPr wrap="square" lIns="0" tIns="0" rIns="0" bIns="0" rtlCol="0" anchor="ctr"/>
          <a:lstStyle/>
          <a:p>
            <a:pPr marL="0" indent="0" algn="l">
              <a:buNone/>
            </a:pPr>
            <a:r>
              <a:rPr lang="en-US" sz="900" dirty="0">
                <a:solidFill>
                  <a:srgbClr val="FFFFFF"/>
                </a:solidFill>
                <a:latin typeface="Roboto" pitchFamily="34" charset="0"/>
                <a:ea typeface="Roboto" pitchFamily="34" charset="-122"/>
                <a:cs typeface="Roboto" pitchFamily="34" charset="-120"/>
              </a:rPr>
              <a:t>デコード / Decode (iZCast Viewer)</a:t>
            </a:r>
            <a:endParaRPr lang="en-US" sz="900" dirty="0"/>
          </a:p>
        </p:txBody>
      </p:sp>
      <p:sp>
        <p:nvSpPr>
          <p:cNvPr id="57" name="Text 49"/>
          <p:cNvSpPr txBox="1"/>
          <p:nvPr/>
        </p:nvSpPr>
        <p:spPr>
          <a:xfrm>
            <a:off x="10756087" y="3842309"/>
            <a:ext cx="673913" cy="143561"/>
          </a:xfrm>
          <a:prstGeom prst="rect">
            <a:avLst/>
          </a:prstGeom>
          <a:noFill/>
          <a:ln/>
        </p:spPr>
        <p:txBody>
          <a:bodyPr wrap="square" lIns="0" tIns="0" rIns="0" bIns="0" rtlCol="0" anchor="ctr"/>
          <a:lstStyle/>
          <a:p>
            <a:pPr marL="0" indent="0" algn="l">
              <a:buNone/>
            </a:pPr>
            <a:r>
              <a:rPr lang="en-US" sz="900" b="1" dirty="0">
                <a:solidFill>
                  <a:srgbClr val="FFFFFF"/>
                </a:solidFill>
                <a:latin typeface="Roboto" pitchFamily="34" charset="0"/>
                <a:ea typeface="Roboto" pitchFamily="34" charset="-122"/>
                <a:cs typeface="Roboto" pitchFamily="34" charset="-120"/>
              </a:rPr>
              <a:t>20〜50ms</a:t>
            </a:r>
            <a:endParaRPr lang="en-US" sz="900" dirty="0"/>
          </a:p>
        </p:txBody>
      </p:sp>
      <p:pic>
        <p:nvPicPr>
          <p:cNvPr id="58" name="Image 6" descr="preencoded.png"/>
          <p:cNvPicPr>
            <a:picLocks noChangeAspect="1"/>
          </p:cNvPicPr>
          <p:nvPr/>
        </p:nvPicPr>
        <p:blipFill>
          <a:blip r:embed="rId9"/>
          <a:srcRect t="-869" b="-869"/>
          <a:stretch/>
        </p:blipFill>
        <p:spPr>
          <a:xfrm>
            <a:off x="857707" y="4441241"/>
            <a:ext cx="105156" cy="142646"/>
          </a:xfrm>
          <a:prstGeom prst="rect">
            <a:avLst/>
          </a:prstGeom>
        </p:spPr>
      </p:pic>
      <p:sp>
        <p:nvSpPr>
          <p:cNvPr id="59" name="Text 50"/>
          <p:cNvSpPr txBox="1"/>
          <p:nvPr/>
        </p:nvSpPr>
        <p:spPr>
          <a:xfrm>
            <a:off x="1037844" y="4433011"/>
            <a:ext cx="1736446" cy="171907"/>
          </a:xfrm>
          <a:prstGeom prst="rect">
            <a:avLst/>
          </a:prstGeom>
          <a:noFill/>
          <a:ln/>
        </p:spPr>
        <p:txBody>
          <a:bodyPr wrap="square" lIns="0" tIns="0" rIns="0" bIns="0" rtlCol="0" anchor="ctr"/>
          <a:lstStyle/>
          <a:p>
            <a:pPr marL="0" indent="0" algn="l">
              <a:buNone/>
            </a:pPr>
            <a:r>
              <a:rPr lang="en-US" sz="1100" b="1" dirty="0">
                <a:solidFill>
                  <a:srgbClr val="3498DB"/>
                </a:solidFill>
                <a:latin typeface="Roboto" pitchFamily="34" charset="0"/>
                <a:ea typeface="Roboto" pitchFamily="34" charset="-122"/>
                <a:cs typeface="Roboto" pitchFamily="34" charset="-120"/>
              </a:rPr>
              <a:t>出力形式 / Output Format</a:t>
            </a:r>
            <a:endParaRPr lang="en-US" sz="1100" dirty="0"/>
          </a:p>
        </p:txBody>
      </p:sp>
      <p:sp>
        <p:nvSpPr>
          <p:cNvPr id="60" name="Text 51"/>
          <p:cNvSpPr txBox="1"/>
          <p:nvPr/>
        </p:nvSpPr>
        <p:spPr>
          <a:xfrm>
            <a:off x="981151" y="4804258"/>
            <a:ext cx="1815084" cy="152705"/>
          </a:xfrm>
          <a:prstGeom prst="rect">
            <a:avLst/>
          </a:prstGeom>
          <a:noFill/>
          <a:ln/>
        </p:spPr>
        <p:txBody>
          <a:bodyPr wrap="square" lIns="0" tIns="0" rIns="0" bIns="0" rtlCol="0" anchor="ctr"/>
          <a:lstStyle/>
          <a:p>
            <a:pPr marL="0" indent="0" algn="l">
              <a:buNone/>
            </a:pPr>
            <a:r>
              <a:rPr lang="en-US" sz="1000" b="1" dirty="0">
                <a:solidFill>
                  <a:srgbClr val="3498DB"/>
                </a:solidFill>
                <a:latin typeface="Roboto" pitchFamily="34" charset="0"/>
                <a:ea typeface="Roboto" pitchFamily="34" charset="-122"/>
                <a:cs typeface="Roboto" pitchFamily="34" charset="-120"/>
              </a:rPr>
              <a:t>3D SDI 3チャンネル出力対応</a:t>
            </a:r>
            <a:endParaRPr lang="en-US" sz="1000" dirty="0"/>
          </a:p>
        </p:txBody>
      </p:sp>
      <p:sp>
        <p:nvSpPr>
          <p:cNvPr id="61" name="Text 52"/>
          <p:cNvSpPr txBox="1"/>
          <p:nvPr/>
        </p:nvSpPr>
        <p:spPr>
          <a:xfrm>
            <a:off x="981151" y="5023714"/>
            <a:ext cx="2827325" cy="143561"/>
          </a:xfrm>
          <a:prstGeom prst="rect">
            <a:avLst/>
          </a:prstGeom>
          <a:noFill/>
          <a:ln/>
        </p:spPr>
        <p:txBody>
          <a:bodyPr wrap="square" lIns="0" tIns="0" rIns="0" bIns="0" rtlCol="0" anchor="ctr"/>
          <a:lstStyle/>
          <a:p>
            <a:pPr marL="0" indent="0" algn="l">
              <a:buNone/>
            </a:pPr>
            <a:r>
              <a:rPr lang="en-US" sz="900" dirty="0">
                <a:solidFill>
                  <a:srgbClr val="CCCCCC"/>
                </a:solidFill>
                <a:latin typeface="Roboto" pitchFamily="34" charset="0"/>
                <a:ea typeface="Roboto" pitchFamily="34" charset="-122"/>
                <a:cs typeface="Roboto" pitchFamily="34" charset="-120"/>
              </a:rPr>
              <a:t>標準的なHDMI入力からSDI出力まで完全サポート</a:t>
            </a:r>
            <a:endParaRPr lang="en-US" sz="900" dirty="0"/>
          </a:p>
        </p:txBody>
      </p:sp>
      <p:pic>
        <p:nvPicPr>
          <p:cNvPr id="62" name="Image 7" descr="preencoded.png"/>
          <p:cNvPicPr>
            <a:picLocks noChangeAspect="1"/>
          </p:cNvPicPr>
          <p:nvPr/>
        </p:nvPicPr>
        <p:blipFill>
          <a:blip r:embed="rId10"/>
          <a:srcRect/>
          <a:stretch/>
        </p:blipFill>
        <p:spPr>
          <a:xfrm>
            <a:off x="6238951" y="4441241"/>
            <a:ext cx="142646" cy="142646"/>
          </a:xfrm>
          <a:prstGeom prst="rect">
            <a:avLst/>
          </a:prstGeom>
        </p:spPr>
      </p:pic>
      <p:sp>
        <p:nvSpPr>
          <p:cNvPr id="63" name="Shape 53"/>
          <p:cNvSpPr/>
          <p:nvPr/>
        </p:nvSpPr>
        <p:spPr>
          <a:xfrm>
            <a:off x="9818827" y="6285586"/>
            <a:ext cx="286207" cy="38405"/>
          </a:xfrm>
          <a:prstGeom prst="rect">
            <a:avLst/>
          </a:prstGeom>
          <a:solidFill>
            <a:srgbClr val="E74C3C"/>
          </a:solidFill>
          <a:ln/>
        </p:spPr>
        <p:txBody>
          <a:bodyPr/>
          <a:lstStyle/>
          <a:p>
            <a:endParaRPr lang="ja-JP" altLang="en-US"/>
          </a:p>
        </p:txBody>
      </p:sp>
      <p:sp>
        <p:nvSpPr>
          <p:cNvPr id="64" name="Text 54"/>
          <p:cNvSpPr txBox="1"/>
          <p:nvPr/>
        </p:nvSpPr>
        <p:spPr>
          <a:xfrm>
            <a:off x="6458407" y="4433011"/>
            <a:ext cx="2536546" cy="171907"/>
          </a:xfrm>
          <a:prstGeom prst="rect">
            <a:avLst/>
          </a:prstGeom>
          <a:noFill/>
          <a:ln/>
        </p:spPr>
        <p:txBody>
          <a:bodyPr wrap="square" lIns="0" tIns="0" rIns="0" bIns="0" rtlCol="0" anchor="ctr"/>
          <a:lstStyle/>
          <a:p>
            <a:pPr marL="0" indent="0" algn="l">
              <a:buNone/>
            </a:pPr>
            <a:r>
              <a:rPr lang="en-US" sz="1100" b="1" dirty="0">
                <a:solidFill>
                  <a:srgbClr val="E74C3C"/>
                </a:solidFill>
                <a:latin typeface="Roboto" pitchFamily="34" charset="0"/>
                <a:ea typeface="Roboto" pitchFamily="34" charset="-122"/>
                <a:cs typeface="Roboto" pitchFamily="34" charset="-120"/>
              </a:rPr>
              <a:t>機器構成と重量 / Equipment &amp; Weight</a:t>
            </a:r>
            <a:endParaRPr lang="en-US" sz="1100" dirty="0"/>
          </a:p>
        </p:txBody>
      </p:sp>
      <p:sp>
        <p:nvSpPr>
          <p:cNvPr id="65" name="Shape 55"/>
          <p:cNvSpPr/>
          <p:nvPr/>
        </p:nvSpPr>
        <p:spPr>
          <a:xfrm>
            <a:off x="6238951" y="4737506"/>
            <a:ext cx="267005" cy="267005"/>
          </a:xfrm>
          <a:prstGeom prst="ellipse">
            <a:avLst/>
          </a:prstGeom>
          <a:solidFill>
            <a:srgbClr val="E74C3C">
              <a:alpha val="20000"/>
            </a:srgbClr>
          </a:solidFill>
          <a:ln/>
        </p:spPr>
        <p:txBody>
          <a:bodyPr/>
          <a:lstStyle/>
          <a:p>
            <a:endParaRPr lang="ja-JP" altLang="en-US"/>
          </a:p>
        </p:txBody>
      </p:sp>
      <p:pic>
        <p:nvPicPr>
          <p:cNvPr id="66" name="Image 8" descr="preencoded.png"/>
          <p:cNvPicPr>
            <a:picLocks noChangeAspect="1"/>
          </p:cNvPicPr>
          <p:nvPr/>
        </p:nvPicPr>
        <p:blipFill>
          <a:blip r:embed="rId11"/>
          <a:srcRect l="-1358" r="-1358"/>
          <a:stretch/>
        </p:blipFill>
        <p:spPr>
          <a:xfrm>
            <a:off x="6301130" y="4808830"/>
            <a:ext cx="142646" cy="123444"/>
          </a:xfrm>
          <a:prstGeom prst="rect">
            <a:avLst/>
          </a:prstGeom>
        </p:spPr>
      </p:pic>
      <p:sp>
        <p:nvSpPr>
          <p:cNvPr id="67" name="Shape 56"/>
          <p:cNvSpPr/>
          <p:nvPr/>
        </p:nvSpPr>
        <p:spPr>
          <a:xfrm>
            <a:off x="6238951" y="5161788"/>
            <a:ext cx="267005" cy="267005"/>
          </a:xfrm>
          <a:prstGeom prst="ellipse">
            <a:avLst/>
          </a:prstGeom>
          <a:solidFill>
            <a:srgbClr val="3498DB">
              <a:alpha val="20000"/>
            </a:srgbClr>
          </a:solidFill>
          <a:ln/>
        </p:spPr>
        <p:txBody>
          <a:bodyPr/>
          <a:lstStyle/>
          <a:p>
            <a:endParaRPr lang="ja-JP" altLang="en-US"/>
          </a:p>
        </p:txBody>
      </p:sp>
      <p:sp>
        <p:nvSpPr>
          <p:cNvPr id="68" name="Text 57"/>
          <p:cNvSpPr txBox="1"/>
          <p:nvPr/>
        </p:nvSpPr>
        <p:spPr>
          <a:xfrm>
            <a:off x="6581851" y="4709160"/>
            <a:ext cx="2655418" cy="143561"/>
          </a:xfrm>
          <a:prstGeom prst="rect">
            <a:avLst/>
          </a:prstGeom>
          <a:noFill/>
          <a:ln/>
        </p:spPr>
        <p:txBody>
          <a:bodyPr wrap="square" lIns="0" tIns="0" rIns="0" bIns="0" rtlCol="0" anchor="ctr"/>
          <a:lstStyle/>
          <a:p>
            <a:pPr marL="0" indent="0" algn="l">
              <a:buNone/>
            </a:pPr>
            <a:r>
              <a:rPr lang="en-US" sz="900" dirty="0">
                <a:solidFill>
                  <a:srgbClr val="FFFFFF"/>
                </a:solidFill>
                <a:latin typeface="Roboto" pitchFamily="34" charset="0"/>
                <a:ea typeface="Roboto" pitchFamily="34" charset="-122"/>
                <a:cs typeface="Roboto" pitchFamily="34" charset="-120"/>
              </a:rPr>
              <a:t>トランスミッタ+カメラ / Transmitter+Camera</a:t>
            </a:r>
            <a:endParaRPr lang="en-US" sz="900" dirty="0"/>
          </a:p>
        </p:txBody>
      </p:sp>
      <p:sp>
        <p:nvSpPr>
          <p:cNvPr id="69" name="Text 58"/>
          <p:cNvSpPr txBox="1"/>
          <p:nvPr/>
        </p:nvSpPr>
        <p:spPr>
          <a:xfrm>
            <a:off x="6581851" y="4890211"/>
            <a:ext cx="907999" cy="171907"/>
          </a:xfrm>
          <a:prstGeom prst="rect">
            <a:avLst/>
          </a:prstGeom>
          <a:noFill/>
          <a:ln/>
        </p:spPr>
        <p:txBody>
          <a:bodyPr wrap="square" lIns="0" tIns="0" rIns="0" bIns="0" rtlCol="0" anchor="ctr"/>
          <a:lstStyle/>
          <a:p>
            <a:pPr marL="0" indent="0" algn="l">
              <a:buNone/>
            </a:pPr>
            <a:r>
              <a:rPr lang="en-US" sz="1100" b="1" dirty="0">
                <a:solidFill>
                  <a:srgbClr val="E74C3C"/>
                </a:solidFill>
                <a:latin typeface="Roboto" pitchFamily="34" charset="0"/>
                <a:ea typeface="Roboto" pitchFamily="34" charset="-122"/>
                <a:cs typeface="Roboto" pitchFamily="34" charset="-120"/>
              </a:rPr>
              <a:t>933g〜979g</a:t>
            </a:r>
            <a:endParaRPr lang="en-US" sz="1100" dirty="0"/>
          </a:p>
        </p:txBody>
      </p:sp>
      <p:pic>
        <p:nvPicPr>
          <p:cNvPr id="70" name="Image 9" descr="preencoded.png"/>
          <p:cNvPicPr>
            <a:picLocks noChangeAspect="1"/>
          </p:cNvPicPr>
          <p:nvPr/>
        </p:nvPicPr>
        <p:blipFill>
          <a:blip r:embed="rId12"/>
          <a:srcRect l="-1358" r="-1358"/>
          <a:stretch/>
        </p:blipFill>
        <p:spPr>
          <a:xfrm>
            <a:off x="6301130" y="5233111"/>
            <a:ext cx="142646" cy="123444"/>
          </a:xfrm>
          <a:prstGeom prst="rect">
            <a:avLst/>
          </a:prstGeom>
        </p:spPr>
      </p:pic>
      <p:sp>
        <p:nvSpPr>
          <p:cNvPr id="71" name="Shape 59"/>
          <p:cNvSpPr/>
          <p:nvPr/>
        </p:nvSpPr>
        <p:spPr>
          <a:xfrm>
            <a:off x="10180015" y="6285586"/>
            <a:ext cx="286207" cy="38405"/>
          </a:xfrm>
          <a:prstGeom prst="rect">
            <a:avLst/>
          </a:prstGeom>
          <a:solidFill>
            <a:srgbClr val="3498DB"/>
          </a:solidFill>
          <a:ln/>
        </p:spPr>
        <p:txBody>
          <a:bodyPr/>
          <a:lstStyle/>
          <a:p>
            <a:endParaRPr lang="ja-JP" altLang="en-US"/>
          </a:p>
        </p:txBody>
      </p:sp>
      <p:sp>
        <p:nvSpPr>
          <p:cNvPr id="72" name="Text 60"/>
          <p:cNvSpPr txBox="1"/>
          <p:nvPr/>
        </p:nvSpPr>
        <p:spPr>
          <a:xfrm>
            <a:off x="10542118" y="6238037"/>
            <a:ext cx="981151" cy="133502"/>
          </a:xfrm>
          <a:prstGeom prst="rect">
            <a:avLst/>
          </a:prstGeom>
          <a:noFill/>
          <a:ln/>
        </p:spPr>
        <p:txBody>
          <a:bodyPr wrap="square" lIns="0" tIns="0" rIns="0" bIns="0" rtlCol="0" anchor="ctr"/>
          <a:lstStyle/>
          <a:p>
            <a:pPr marL="0" indent="0" algn="l">
              <a:buNone/>
            </a:pPr>
            <a:r>
              <a:rPr lang="en-US" sz="900" dirty="0">
                <a:solidFill>
                  <a:srgbClr val="888888"/>
                </a:solidFill>
                <a:latin typeface="Roboto" pitchFamily="34" charset="0"/>
                <a:ea typeface="Roboto" pitchFamily="34" charset="-122"/>
                <a:cs typeface="Roboto" pitchFamily="34" charset="-120"/>
              </a:rPr>
              <a:t>iZCast | UNSOLID</a:t>
            </a:r>
            <a:endParaRPr lang="en-US" sz="900" dirty="0"/>
          </a:p>
        </p:txBody>
      </p:sp>
      <p:sp>
        <p:nvSpPr>
          <p:cNvPr id="73" name="Shape 61"/>
          <p:cNvSpPr/>
          <p:nvPr/>
        </p:nvSpPr>
        <p:spPr>
          <a:xfrm>
            <a:off x="6238951" y="5623560"/>
            <a:ext cx="267005" cy="267005"/>
          </a:xfrm>
          <a:prstGeom prst="ellipse">
            <a:avLst/>
          </a:prstGeom>
          <a:solidFill>
            <a:srgbClr val="2ECC71">
              <a:alpha val="20000"/>
            </a:srgbClr>
          </a:solidFill>
          <a:ln/>
        </p:spPr>
        <p:txBody>
          <a:bodyPr/>
          <a:lstStyle/>
          <a:p>
            <a:endParaRPr lang="ja-JP" altLang="en-US"/>
          </a:p>
        </p:txBody>
      </p:sp>
      <p:sp>
        <p:nvSpPr>
          <p:cNvPr id="74" name="Text 62"/>
          <p:cNvSpPr txBox="1"/>
          <p:nvPr/>
        </p:nvSpPr>
        <p:spPr>
          <a:xfrm>
            <a:off x="6581851" y="5147158"/>
            <a:ext cx="2407615" cy="143561"/>
          </a:xfrm>
          <a:prstGeom prst="rect">
            <a:avLst/>
          </a:prstGeom>
          <a:noFill/>
          <a:ln/>
        </p:spPr>
        <p:txBody>
          <a:bodyPr wrap="square" lIns="0" tIns="0" rIns="0" bIns="0" rtlCol="0" anchor="ctr"/>
          <a:lstStyle/>
          <a:p>
            <a:pPr marL="0" indent="0" algn="l">
              <a:buNone/>
            </a:pPr>
            <a:r>
              <a:rPr lang="en-US" sz="900" dirty="0">
                <a:solidFill>
                  <a:srgbClr val="FFFFFF"/>
                </a:solidFill>
                <a:latin typeface="Roboto" pitchFamily="34" charset="0"/>
                <a:ea typeface="Roboto" pitchFamily="34" charset="-122"/>
                <a:cs typeface="Roboto" pitchFamily="34" charset="-120"/>
              </a:rPr>
              <a:t>バッテリー+ブラケット / Battery+Bracket</a:t>
            </a:r>
            <a:endParaRPr lang="en-US" sz="900" dirty="0"/>
          </a:p>
        </p:txBody>
      </p:sp>
      <p:sp>
        <p:nvSpPr>
          <p:cNvPr id="75" name="Text 63"/>
          <p:cNvSpPr txBox="1"/>
          <p:nvPr/>
        </p:nvSpPr>
        <p:spPr>
          <a:xfrm>
            <a:off x="6581851" y="5299862"/>
            <a:ext cx="555041" cy="171907"/>
          </a:xfrm>
          <a:prstGeom prst="rect">
            <a:avLst/>
          </a:prstGeom>
          <a:noFill/>
          <a:ln/>
        </p:spPr>
        <p:txBody>
          <a:bodyPr wrap="square" lIns="0" tIns="0" rIns="0" bIns="0" rtlCol="0" anchor="ctr"/>
          <a:lstStyle/>
          <a:p>
            <a:pPr marL="0" indent="0" algn="l">
              <a:buNone/>
            </a:pPr>
            <a:r>
              <a:rPr lang="en-US" sz="1100" b="1" dirty="0">
                <a:solidFill>
                  <a:srgbClr val="3498DB"/>
                </a:solidFill>
                <a:latin typeface="Roboto" pitchFamily="34" charset="0"/>
                <a:ea typeface="Roboto" pitchFamily="34" charset="-122"/>
                <a:cs typeface="Roboto" pitchFamily="34" charset="-120"/>
              </a:rPr>
              <a:t>1,646g</a:t>
            </a:r>
            <a:endParaRPr lang="en-US" sz="1100" dirty="0"/>
          </a:p>
        </p:txBody>
      </p:sp>
      <p:pic>
        <p:nvPicPr>
          <p:cNvPr id="76" name="Image 10" descr="preencoded.png"/>
          <p:cNvPicPr>
            <a:picLocks noChangeAspect="1"/>
          </p:cNvPicPr>
          <p:nvPr/>
        </p:nvPicPr>
        <p:blipFill>
          <a:blip r:embed="rId13"/>
          <a:srcRect t="-524" b="-524"/>
          <a:stretch/>
        </p:blipFill>
        <p:spPr>
          <a:xfrm>
            <a:off x="6295644" y="5694883"/>
            <a:ext cx="152705" cy="123444"/>
          </a:xfrm>
          <a:prstGeom prst="rect">
            <a:avLst/>
          </a:prstGeom>
        </p:spPr>
      </p:pic>
      <p:sp>
        <p:nvSpPr>
          <p:cNvPr id="77" name="Text 64"/>
          <p:cNvSpPr txBox="1"/>
          <p:nvPr/>
        </p:nvSpPr>
        <p:spPr>
          <a:xfrm>
            <a:off x="6581851" y="5595214"/>
            <a:ext cx="1398118" cy="143561"/>
          </a:xfrm>
          <a:prstGeom prst="rect">
            <a:avLst/>
          </a:prstGeom>
          <a:noFill/>
          <a:ln/>
        </p:spPr>
        <p:txBody>
          <a:bodyPr wrap="square" lIns="0" tIns="0" rIns="0" bIns="0" rtlCol="0" anchor="ctr"/>
          <a:lstStyle/>
          <a:p>
            <a:pPr marL="0" indent="0" algn="l">
              <a:buNone/>
            </a:pPr>
            <a:r>
              <a:rPr lang="en-US" sz="900" dirty="0">
                <a:solidFill>
                  <a:srgbClr val="FFFFFF"/>
                </a:solidFill>
                <a:latin typeface="Roboto" pitchFamily="34" charset="0"/>
                <a:ea typeface="Roboto" pitchFamily="34" charset="-122"/>
                <a:cs typeface="Roboto" pitchFamily="34" charset="-120"/>
              </a:rPr>
              <a:t>合計重量 / Total Weight</a:t>
            </a:r>
            <a:endParaRPr lang="en-US" sz="900" dirty="0"/>
          </a:p>
        </p:txBody>
      </p:sp>
      <p:sp>
        <p:nvSpPr>
          <p:cNvPr id="78" name="Text 65"/>
          <p:cNvSpPr txBox="1"/>
          <p:nvPr/>
        </p:nvSpPr>
        <p:spPr>
          <a:xfrm>
            <a:off x="6581851" y="5776265"/>
            <a:ext cx="1145743" cy="171907"/>
          </a:xfrm>
          <a:prstGeom prst="rect">
            <a:avLst/>
          </a:prstGeom>
          <a:noFill/>
          <a:ln/>
        </p:spPr>
        <p:txBody>
          <a:bodyPr wrap="square" lIns="0" tIns="0" rIns="0" bIns="0" rtlCol="0" anchor="ctr"/>
          <a:lstStyle/>
          <a:p>
            <a:pPr marL="0" indent="0" algn="l">
              <a:buNone/>
            </a:pPr>
            <a:r>
              <a:rPr lang="en-US" sz="1100" b="1" dirty="0">
                <a:solidFill>
                  <a:srgbClr val="2ECC71"/>
                </a:solidFill>
                <a:latin typeface="Roboto" pitchFamily="34" charset="0"/>
                <a:ea typeface="Roboto" pitchFamily="34" charset="-122"/>
                <a:cs typeface="Roboto" pitchFamily="34" charset="-120"/>
              </a:rPr>
              <a:t>2,525g〜2,579g</a:t>
            </a:r>
            <a:endParaRPr lang="en-US" sz="1100" dirty="0"/>
          </a:p>
        </p:txBody>
      </p:sp>
      <p:pic>
        <p:nvPicPr>
          <p:cNvPr id="79" name="Image 11" descr="preencoded.png"/>
          <p:cNvPicPr>
            <a:picLocks noChangeAspect="1"/>
          </p:cNvPicPr>
          <p:nvPr/>
        </p:nvPicPr>
        <p:blipFill>
          <a:blip r:embed="rId14"/>
          <a:srcRect/>
          <a:stretch/>
        </p:blipFill>
        <p:spPr>
          <a:xfrm>
            <a:off x="761695" y="6257239"/>
            <a:ext cx="114300" cy="114300"/>
          </a:xfrm>
          <a:prstGeom prst="rect">
            <a:avLst/>
          </a:prstGeom>
        </p:spPr>
      </p:pic>
      <p:sp>
        <p:nvSpPr>
          <p:cNvPr id="80" name="Text 66"/>
          <p:cNvSpPr txBox="1"/>
          <p:nvPr/>
        </p:nvSpPr>
        <p:spPr>
          <a:xfrm>
            <a:off x="923544" y="6252667"/>
            <a:ext cx="4944161" cy="133502"/>
          </a:xfrm>
          <a:prstGeom prst="rect">
            <a:avLst/>
          </a:prstGeom>
          <a:noFill/>
          <a:ln/>
        </p:spPr>
        <p:txBody>
          <a:bodyPr wrap="square" lIns="0" tIns="0" rIns="0" bIns="0" rtlCol="0" anchor="ctr"/>
          <a:lstStyle/>
          <a:p>
            <a:pPr marL="0" indent="0" algn="l">
              <a:buNone/>
            </a:pPr>
            <a:r>
              <a:rPr lang="en-US" sz="900" dirty="0">
                <a:solidFill>
                  <a:srgbClr val="888888"/>
                </a:solidFill>
                <a:latin typeface="Roboto" pitchFamily="34" charset="0"/>
                <a:ea typeface="Roboto" pitchFamily="34" charset="-122"/>
                <a:cs typeface="Roboto" pitchFamily="34" charset="-120"/>
              </a:rPr>
              <a:t>スペックは予告なく変更される場合があります / Specifications subject to change without notice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C3E50"/>
          </a:solidFill>
          <a:ln/>
        </p:spPr>
        <p:txBody>
          <a:bodyPr/>
          <a:lstStyle/>
          <a:p>
            <a:endParaRPr lang="ja-JP" altLang="en-US"/>
          </a:p>
        </p:txBody>
      </p:sp>
      <p:sp>
        <p:nvSpPr>
          <p:cNvPr id="3" name="Shape 1"/>
          <p:cNvSpPr/>
          <p:nvPr/>
        </p:nvSpPr>
        <p:spPr>
          <a:xfrm>
            <a:off x="761695" y="381305"/>
            <a:ext cx="47549" cy="961949"/>
          </a:xfrm>
          <a:prstGeom prst="rect">
            <a:avLst/>
          </a:prstGeom>
          <a:solidFill>
            <a:srgbClr val="E74C3C"/>
          </a:solidFill>
          <a:ln/>
        </p:spPr>
        <p:txBody>
          <a:bodyPr/>
          <a:lstStyle/>
          <a:p>
            <a:endParaRPr lang="ja-JP" altLang="en-US"/>
          </a:p>
        </p:txBody>
      </p:sp>
      <p:sp>
        <p:nvSpPr>
          <p:cNvPr id="4" name="Text 2"/>
          <p:cNvSpPr txBox="1"/>
          <p:nvPr/>
        </p:nvSpPr>
        <p:spPr>
          <a:xfrm>
            <a:off x="952805" y="381305"/>
            <a:ext cx="2048256" cy="181051"/>
          </a:xfrm>
          <a:prstGeom prst="rect">
            <a:avLst/>
          </a:prstGeom>
          <a:noFill/>
          <a:ln/>
        </p:spPr>
        <p:txBody>
          <a:bodyPr wrap="square" lIns="0" tIns="0" rIns="0" bIns="0" rtlCol="0" anchor="ctr"/>
          <a:lstStyle/>
          <a:p>
            <a:pPr marL="0" indent="0" algn="l">
              <a:buNone/>
            </a:pPr>
            <a:r>
              <a:rPr lang="en-US" sz="1200" b="1" dirty="0">
                <a:solidFill>
                  <a:srgbClr val="3498DB"/>
                </a:solidFill>
                <a:latin typeface="Roboto" pitchFamily="34" charset="0"/>
                <a:ea typeface="Roboto" pitchFamily="34" charset="-122"/>
                <a:cs typeface="Roboto" pitchFamily="34" charset="-120"/>
              </a:rPr>
              <a:t>OUR COMPETITIVE EDGE</a:t>
            </a:r>
            <a:endParaRPr lang="en-US" sz="1200" dirty="0"/>
          </a:p>
        </p:txBody>
      </p:sp>
      <p:sp>
        <p:nvSpPr>
          <p:cNvPr id="5" name="Text 3"/>
          <p:cNvSpPr txBox="1"/>
          <p:nvPr/>
        </p:nvSpPr>
        <p:spPr>
          <a:xfrm>
            <a:off x="952805" y="1034186"/>
            <a:ext cx="1196035" cy="305410"/>
          </a:xfrm>
          <a:prstGeom prst="rect">
            <a:avLst/>
          </a:prstGeom>
          <a:noFill/>
          <a:ln/>
        </p:spPr>
        <p:txBody>
          <a:bodyPr wrap="square" lIns="0" tIns="0" rIns="0" bIns="0" rtlCol="0" anchor="ctr"/>
          <a:lstStyle/>
          <a:p>
            <a:pPr marL="0" indent="0" algn="l">
              <a:buNone/>
            </a:pPr>
            <a:r>
              <a:rPr lang="en-US" sz="1600" dirty="0">
                <a:solidFill>
                  <a:srgbClr val="E74C3C"/>
                </a:solidFill>
                <a:latin typeface="Noto Sans JP" pitchFamily="34" charset="0"/>
                <a:ea typeface="Noto Sans JP" pitchFamily="34" charset="-122"/>
                <a:cs typeface="Noto Sans JP" pitchFamily="34" charset="-120"/>
              </a:rPr>
              <a:t>強み (USP)</a:t>
            </a:r>
            <a:endParaRPr lang="en-US" sz="1600" dirty="0"/>
          </a:p>
        </p:txBody>
      </p:sp>
      <p:sp>
        <p:nvSpPr>
          <p:cNvPr id="6" name="Text 4"/>
          <p:cNvSpPr txBox="1"/>
          <p:nvPr/>
        </p:nvSpPr>
        <p:spPr>
          <a:xfrm>
            <a:off x="952805" y="590702"/>
            <a:ext cx="2667305" cy="400507"/>
          </a:xfrm>
          <a:prstGeom prst="rect">
            <a:avLst/>
          </a:prstGeom>
          <a:noFill/>
          <a:ln/>
        </p:spPr>
        <p:txBody>
          <a:bodyPr wrap="square" lIns="0" tIns="0" rIns="0" bIns="0" rtlCol="0" anchor="ctr"/>
          <a:lstStyle/>
          <a:p>
            <a:pPr marL="0" indent="0" algn="l">
              <a:buNone/>
            </a:pPr>
            <a:r>
              <a:rPr lang="en-US" sz="2700" b="1" dirty="0">
                <a:solidFill>
                  <a:srgbClr val="FFFFFF"/>
                </a:solidFill>
                <a:latin typeface="Roboto" pitchFamily="34" charset="0"/>
                <a:ea typeface="Roboto" pitchFamily="34" charset="-122"/>
                <a:cs typeface="Roboto" pitchFamily="34" charset="-120"/>
              </a:rPr>
              <a:t>Why Choose Us</a:t>
            </a:r>
            <a:endParaRPr lang="en-US" sz="2700" dirty="0"/>
          </a:p>
        </p:txBody>
      </p:sp>
      <p:sp>
        <p:nvSpPr>
          <p:cNvPr id="7" name="Shape 5"/>
          <p:cNvSpPr/>
          <p:nvPr/>
        </p:nvSpPr>
        <p:spPr>
          <a:xfrm>
            <a:off x="761695" y="1577340"/>
            <a:ext cx="523951" cy="523951"/>
          </a:xfrm>
          <a:prstGeom prst="ellipse">
            <a:avLst/>
          </a:prstGeom>
          <a:solidFill>
            <a:srgbClr val="E74C3C">
              <a:alpha val="15000"/>
            </a:srgbClr>
          </a:solidFill>
          <a:ln/>
        </p:spPr>
        <p:txBody>
          <a:bodyPr/>
          <a:lstStyle/>
          <a:p>
            <a:endParaRPr lang="ja-JP" altLang="en-US"/>
          </a:p>
        </p:txBody>
      </p:sp>
      <p:pic>
        <p:nvPicPr>
          <p:cNvPr id="8" name="Image 0" descr="preencoded.png"/>
          <p:cNvPicPr>
            <a:picLocks noChangeAspect="1"/>
          </p:cNvPicPr>
          <p:nvPr/>
        </p:nvPicPr>
        <p:blipFill>
          <a:blip r:embed="rId3"/>
          <a:srcRect t="-476" b="-476"/>
          <a:stretch/>
        </p:blipFill>
        <p:spPr>
          <a:xfrm>
            <a:off x="886054" y="1715414"/>
            <a:ext cx="276149" cy="247802"/>
          </a:xfrm>
          <a:prstGeom prst="rect">
            <a:avLst/>
          </a:prstGeom>
        </p:spPr>
      </p:pic>
      <p:sp>
        <p:nvSpPr>
          <p:cNvPr id="9" name="Shape 6"/>
          <p:cNvSpPr/>
          <p:nvPr/>
        </p:nvSpPr>
        <p:spPr>
          <a:xfrm>
            <a:off x="761695" y="2314346"/>
            <a:ext cx="523951" cy="523951"/>
          </a:xfrm>
          <a:prstGeom prst="ellipse">
            <a:avLst/>
          </a:prstGeom>
          <a:solidFill>
            <a:srgbClr val="3498DB">
              <a:alpha val="15000"/>
            </a:srgbClr>
          </a:solidFill>
          <a:ln/>
        </p:spPr>
        <p:txBody>
          <a:bodyPr/>
          <a:lstStyle/>
          <a:p>
            <a:endParaRPr lang="ja-JP" altLang="en-US"/>
          </a:p>
        </p:txBody>
      </p:sp>
      <p:sp>
        <p:nvSpPr>
          <p:cNvPr id="10" name="Shape 7"/>
          <p:cNvSpPr/>
          <p:nvPr/>
        </p:nvSpPr>
        <p:spPr>
          <a:xfrm>
            <a:off x="761695" y="3789274"/>
            <a:ext cx="523951" cy="523951"/>
          </a:xfrm>
          <a:prstGeom prst="ellipse">
            <a:avLst/>
          </a:prstGeom>
          <a:solidFill>
            <a:srgbClr val="3498DB">
              <a:alpha val="15000"/>
            </a:srgbClr>
          </a:solidFill>
          <a:ln/>
        </p:spPr>
        <p:txBody>
          <a:bodyPr/>
          <a:lstStyle/>
          <a:p>
            <a:endParaRPr lang="ja-JP" altLang="en-US"/>
          </a:p>
        </p:txBody>
      </p:sp>
      <p:sp>
        <p:nvSpPr>
          <p:cNvPr id="11" name="Text 8"/>
          <p:cNvSpPr txBox="1"/>
          <p:nvPr/>
        </p:nvSpPr>
        <p:spPr>
          <a:xfrm>
            <a:off x="1476756" y="1624889"/>
            <a:ext cx="5275174"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他社との最大の違い: 「低遅延×低ビットレート×安定性」</a:t>
            </a:r>
            <a:endParaRPr lang="en-US" sz="1500" dirty="0"/>
          </a:p>
        </p:txBody>
      </p:sp>
      <p:sp>
        <p:nvSpPr>
          <p:cNvPr id="12" name="Text 9"/>
          <p:cNvSpPr txBox="1"/>
          <p:nvPr/>
        </p:nvSpPr>
        <p:spPr>
          <a:xfrm>
            <a:off x="1476756" y="1920240"/>
            <a:ext cx="8172907"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競合他社が個別に優れる要素を全て兼ね備え、モータースポーツの厳しい環境下でも安定した映像品質を実現します。</a:t>
            </a:r>
            <a:endParaRPr lang="en-US" sz="1200" dirty="0"/>
          </a:p>
        </p:txBody>
      </p:sp>
      <p:pic>
        <p:nvPicPr>
          <p:cNvPr id="13" name="Image 1" descr="preencoded.png"/>
          <p:cNvPicPr>
            <a:picLocks noChangeAspect="1"/>
          </p:cNvPicPr>
          <p:nvPr/>
        </p:nvPicPr>
        <p:blipFill>
          <a:blip r:embed="rId4"/>
          <a:srcRect l="-775" r="-775"/>
          <a:stretch/>
        </p:blipFill>
        <p:spPr>
          <a:xfrm>
            <a:off x="866851" y="2452421"/>
            <a:ext cx="314554" cy="247802"/>
          </a:xfrm>
          <a:prstGeom prst="rect">
            <a:avLst/>
          </a:prstGeom>
        </p:spPr>
      </p:pic>
      <p:sp>
        <p:nvSpPr>
          <p:cNvPr id="14" name="Shape 10"/>
          <p:cNvSpPr/>
          <p:nvPr/>
        </p:nvSpPr>
        <p:spPr>
          <a:xfrm>
            <a:off x="761695" y="6267298"/>
            <a:ext cx="10668305" cy="9144"/>
          </a:xfrm>
          <a:prstGeom prst="rect">
            <a:avLst/>
          </a:prstGeom>
          <a:solidFill>
            <a:srgbClr val="FFFFFF">
              <a:alpha val="10000"/>
            </a:srgbClr>
          </a:solidFill>
          <a:ln/>
        </p:spPr>
        <p:txBody>
          <a:bodyPr/>
          <a:lstStyle/>
          <a:p>
            <a:endParaRPr lang="ja-JP" altLang="en-US"/>
          </a:p>
        </p:txBody>
      </p:sp>
      <p:sp>
        <p:nvSpPr>
          <p:cNvPr id="15" name="Shape 11"/>
          <p:cNvSpPr/>
          <p:nvPr/>
        </p:nvSpPr>
        <p:spPr>
          <a:xfrm>
            <a:off x="761695" y="3052267"/>
            <a:ext cx="523951" cy="523951"/>
          </a:xfrm>
          <a:prstGeom prst="ellipse">
            <a:avLst/>
          </a:prstGeom>
          <a:solidFill>
            <a:srgbClr val="E74C3C">
              <a:alpha val="15000"/>
            </a:srgbClr>
          </a:solidFill>
          <a:ln/>
        </p:spPr>
        <p:txBody>
          <a:bodyPr/>
          <a:lstStyle/>
          <a:p>
            <a:endParaRPr lang="ja-JP" altLang="en-US"/>
          </a:p>
        </p:txBody>
      </p:sp>
      <p:sp>
        <p:nvSpPr>
          <p:cNvPr id="16" name="Shape 12"/>
          <p:cNvSpPr/>
          <p:nvPr/>
        </p:nvSpPr>
        <p:spPr>
          <a:xfrm>
            <a:off x="9670694" y="6476695"/>
            <a:ext cx="286207" cy="38405"/>
          </a:xfrm>
          <a:prstGeom prst="rect">
            <a:avLst/>
          </a:prstGeom>
          <a:solidFill>
            <a:srgbClr val="E74C3C"/>
          </a:solidFill>
          <a:ln/>
        </p:spPr>
        <p:txBody>
          <a:bodyPr/>
          <a:lstStyle/>
          <a:p>
            <a:endParaRPr lang="ja-JP" altLang="en-US"/>
          </a:p>
        </p:txBody>
      </p:sp>
      <p:sp>
        <p:nvSpPr>
          <p:cNvPr id="17" name="Text 13"/>
          <p:cNvSpPr txBox="1"/>
          <p:nvPr/>
        </p:nvSpPr>
        <p:spPr>
          <a:xfrm>
            <a:off x="1476756" y="2361895"/>
            <a:ext cx="4151376"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通信が不安定なサーキット環境でも運用可能</a:t>
            </a:r>
            <a:endParaRPr lang="en-US" sz="1500" dirty="0"/>
          </a:p>
        </p:txBody>
      </p:sp>
      <p:sp>
        <p:nvSpPr>
          <p:cNvPr id="18" name="Text 14"/>
          <p:cNvSpPr txBox="1"/>
          <p:nvPr/>
        </p:nvSpPr>
        <p:spPr>
          <a:xfrm>
            <a:off x="1476756" y="2657246"/>
            <a:ext cx="7877556"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マルチパス通信技術により、大規模なサーキットや電波状況の悪い環境下でも途切れにくい安定した伝送を実現。</a:t>
            </a:r>
            <a:endParaRPr lang="en-US" sz="1200" dirty="0"/>
          </a:p>
        </p:txBody>
      </p:sp>
      <p:pic>
        <p:nvPicPr>
          <p:cNvPr id="19" name="Image 2" descr="preencoded.png"/>
          <p:cNvPicPr>
            <a:picLocks noChangeAspect="1"/>
          </p:cNvPicPr>
          <p:nvPr/>
        </p:nvPicPr>
        <p:blipFill>
          <a:blip r:embed="rId5"/>
          <a:srcRect/>
          <a:stretch/>
        </p:blipFill>
        <p:spPr>
          <a:xfrm>
            <a:off x="899770" y="3190342"/>
            <a:ext cx="247802" cy="247802"/>
          </a:xfrm>
          <a:prstGeom prst="rect">
            <a:avLst/>
          </a:prstGeom>
        </p:spPr>
      </p:pic>
      <p:sp>
        <p:nvSpPr>
          <p:cNvPr id="20" name="Text 15"/>
          <p:cNvSpPr txBox="1"/>
          <p:nvPr/>
        </p:nvSpPr>
        <p:spPr>
          <a:xfrm>
            <a:off x="1476756" y="3099816"/>
            <a:ext cx="3741725"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海外レースでも日本から遠隔支援が可能</a:t>
            </a:r>
            <a:endParaRPr lang="en-US" sz="1500" dirty="0"/>
          </a:p>
        </p:txBody>
      </p:sp>
      <p:sp>
        <p:nvSpPr>
          <p:cNvPr id="21" name="Text 16"/>
          <p:cNvSpPr txBox="1"/>
          <p:nvPr/>
        </p:nvSpPr>
        <p:spPr>
          <a:xfrm>
            <a:off x="1476756" y="3395167"/>
            <a:ext cx="6972300"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地理的制約を解消し、海外開催のレースでも国内拠点からの技術サポートやモニタリングが可能に。</a:t>
            </a:r>
            <a:endParaRPr lang="en-US" sz="1200" dirty="0"/>
          </a:p>
        </p:txBody>
      </p:sp>
      <p:pic>
        <p:nvPicPr>
          <p:cNvPr id="22" name="Image 3" descr="preencoded.png"/>
          <p:cNvPicPr>
            <a:picLocks noChangeAspect="1"/>
          </p:cNvPicPr>
          <p:nvPr/>
        </p:nvPicPr>
        <p:blipFill>
          <a:blip r:embed="rId6"/>
          <a:srcRect l="-775" r="-775"/>
          <a:stretch/>
        </p:blipFill>
        <p:spPr>
          <a:xfrm>
            <a:off x="866851" y="3927348"/>
            <a:ext cx="314554" cy="247802"/>
          </a:xfrm>
          <a:prstGeom prst="rect">
            <a:avLst/>
          </a:prstGeom>
        </p:spPr>
      </p:pic>
      <p:sp>
        <p:nvSpPr>
          <p:cNvPr id="23" name="Shape 17"/>
          <p:cNvSpPr/>
          <p:nvPr/>
        </p:nvSpPr>
        <p:spPr>
          <a:xfrm>
            <a:off x="10032797" y="6476695"/>
            <a:ext cx="286207" cy="38405"/>
          </a:xfrm>
          <a:prstGeom prst="rect">
            <a:avLst/>
          </a:prstGeom>
          <a:solidFill>
            <a:srgbClr val="3498DB"/>
          </a:solidFill>
          <a:ln/>
        </p:spPr>
        <p:txBody>
          <a:bodyPr/>
          <a:lstStyle/>
          <a:p>
            <a:endParaRPr lang="ja-JP" altLang="en-US"/>
          </a:p>
        </p:txBody>
      </p:sp>
      <p:sp>
        <p:nvSpPr>
          <p:cNvPr id="24" name="Text 18"/>
          <p:cNvSpPr txBox="1"/>
          <p:nvPr/>
        </p:nvSpPr>
        <p:spPr>
          <a:xfrm>
            <a:off x="1476756" y="3836822"/>
            <a:ext cx="4475074"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レース運営/チーム/メディア全てが恩恵を受ける</a:t>
            </a:r>
            <a:endParaRPr lang="en-US" sz="1500" dirty="0"/>
          </a:p>
        </p:txBody>
      </p:sp>
      <p:sp>
        <p:nvSpPr>
          <p:cNvPr id="25" name="Text 19"/>
          <p:cNvSpPr txBox="1"/>
          <p:nvPr/>
        </p:nvSpPr>
        <p:spPr>
          <a:xfrm>
            <a:off x="1476756" y="4132174"/>
            <a:ext cx="8334756"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単一システムで多様なステークホルダーに価値を提供。運営の安全管理から、チーム戦略、映像演出まで幅広くカバー。</a:t>
            </a:r>
            <a:endParaRPr lang="en-US" sz="1200" dirty="0"/>
          </a:p>
        </p:txBody>
      </p:sp>
      <p:sp>
        <p:nvSpPr>
          <p:cNvPr id="26" name="Text 20"/>
          <p:cNvSpPr txBox="1"/>
          <p:nvPr/>
        </p:nvSpPr>
        <p:spPr>
          <a:xfrm>
            <a:off x="10394899" y="6420002"/>
            <a:ext cx="1138428" cy="152705"/>
          </a:xfrm>
          <a:prstGeom prst="rect">
            <a:avLst/>
          </a:prstGeom>
          <a:noFill/>
          <a:ln/>
        </p:spPr>
        <p:txBody>
          <a:bodyPr wrap="square" lIns="0" tIns="0" rIns="0" bIns="0" rtlCol="0" anchor="ctr"/>
          <a:lstStyle/>
          <a:p>
            <a:pPr marL="0" indent="0" algn="l">
              <a:buNone/>
            </a:pPr>
            <a:r>
              <a:rPr lang="en-US" sz="1000" dirty="0">
                <a:solidFill>
                  <a:srgbClr val="888888"/>
                </a:solidFill>
                <a:latin typeface="Roboto" pitchFamily="34" charset="0"/>
                <a:ea typeface="Roboto" pitchFamily="34" charset="-122"/>
                <a:cs typeface="Roboto" pitchFamily="34" charset="-120"/>
              </a:rPr>
              <a:t>iZCast | UNSOLID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C3E50"/>
          </a:solidFill>
          <a:ln/>
        </p:spPr>
        <p:txBody>
          <a:bodyPr/>
          <a:lstStyle/>
          <a:p>
            <a:endParaRPr lang="ja-JP" altLang="en-US"/>
          </a:p>
        </p:txBody>
      </p:sp>
      <p:sp>
        <p:nvSpPr>
          <p:cNvPr id="3" name="Shape 1"/>
          <p:cNvSpPr/>
          <p:nvPr/>
        </p:nvSpPr>
        <p:spPr>
          <a:xfrm>
            <a:off x="761695" y="381305"/>
            <a:ext cx="47549" cy="942746"/>
          </a:xfrm>
          <a:prstGeom prst="rect">
            <a:avLst/>
          </a:prstGeom>
          <a:solidFill>
            <a:srgbClr val="E74C3C"/>
          </a:solidFill>
          <a:ln/>
        </p:spPr>
        <p:txBody>
          <a:bodyPr/>
          <a:lstStyle/>
          <a:p>
            <a:endParaRPr lang="ja-JP" altLang="en-US"/>
          </a:p>
        </p:txBody>
      </p:sp>
      <p:sp>
        <p:nvSpPr>
          <p:cNvPr id="4" name="Text 2"/>
          <p:cNvSpPr txBox="1"/>
          <p:nvPr/>
        </p:nvSpPr>
        <p:spPr>
          <a:xfrm>
            <a:off x="952805" y="381305"/>
            <a:ext cx="1000354" cy="181051"/>
          </a:xfrm>
          <a:prstGeom prst="rect">
            <a:avLst/>
          </a:prstGeom>
          <a:noFill/>
          <a:ln/>
        </p:spPr>
        <p:txBody>
          <a:bodyPr wrap="square" lIns="0" tIns="0" rIns="0" bIns="0" rtlCol="0" anchor="ctr"/>
          <a:lstStyle/>
          <a:p>
            <a:pPr marL="0" indent="0" algn="l">
              <a:buNone/>
            </a:pPr>
            <a:r>
              <a:rPr lang="en-US" sz="1200" b="1" dirty="0">
                <a:solidFill>
                  <a:srgbClr val="3498DB"/>
                </a:solidFill>
                <a:latin typeface="Roboto" pitchFamily="34" charset="0"/>
                <a:ea typeface="Roboto" pitchFamily="34" charset="-122"/>
                <a:cs typeface="Roboto" pitchFamily="34" charset="-120"/>
              </a:rPr>
              <a:t>USE CASES</a:t>
            </a:r>
            <a:endParaRPr lang="en-US" sz="1200" dirty="0"/>
          </a:p>
        </p:txBody>
      </p:sp>
      <p:sp>
        <p:nvSpPr>
          <p:cNvPr id="5" name="Text 3"/>
          <p:cNvSpPr txBox="1"/>
          <p:nvPr/>
        </p:nvSpPr>
        <p:spPr>
          <a:xfrm>
            <a:off x="952805" y="1016813"/>
            <a:ext cx="1196035" cy="305410"/>
          </a:xfrm>
          <a:prstGeom prst="rect">
            <a:avLst/>
          </a:prstGeom>
          <a:noFill/>
          <a:ln/>
        </p:spPr>
        <p:txBody>
          <a:bodyPr wrap="square" lIns="0" tIns="0" rIns="0" bIns="0" rtlCol="0" anchor="ctr"/>
          <a:lstStyle/>
          <a:p>
            <a:pPr marL="0" indent="0" algn="l">
              <a:buNone/>
            </a:pPr>
            <a:r>
              <a:rPr lang="en-US" sz="1600" dirty="0">
                <a:solidFill>
                  <a:srgbClr val="E74C3C"/>
                </a:solidFill>
                <a:latin typeface="Noto Sans JP" pitchFamily="34" charset="0"/>
                <a:ea typeface="Noto Sans JP" pitchFamily="34" charset="-122"/>
                <a:cs typeface="Noto Sans JP" pitchFamily="34" charset="-120"/>
              </a:rPr>
              <a:t>活用シーン</a:t>
            </a:r>
            <a:endParaRPr lang="en-US" sz="1600" dirty="0"/>
          </a:p>
        </p:txBody>
      </p:sp>
      <p:sp>
        <p:nvSpPr>
          <p:cNvPr id="6" name="Text 4"/>
          <p:cNvSpPr txBox="1"/>
          <p:nvPr/>
        </p:nvSpPr>
        <p:spPr>
          <a:xfrm>
            <a:off x="952805" y="571500"/>
            <a:ext cx="3834079" cy="419710"/>
          </a:xfrm>
          <a:prstGeom prst="rect">
            <a:avLst/>
          </a:prstGeom>
          <a:noFill/>
          <a:ln/>
        </p:spPr>
        <p:txBody>
          <a:bodyPr wrap="square" lIns="0" tIns="0" rIns="0" bIns="0" rtlCol="0" anchor="ctr"/>
          <a:lstStyle/>
          <a:p>
            <a:pPr marL="0" indent="0" algn="l">
              <a:buNone/>
            </a:pPr>
            <a:r>
              <a:rPr lang="en-US" sz="2800" b="1" dirty="0">
                <a:solidFill>
                  <a:srgbClr val="FFFFFF"/>
                </a:solidFill>
                <a:latin typeface="Roboto" pitchFamily="34" charset="0"/>
                <a:ea typeface="Roboto" pitchFamily="34" charset="-122"/>
                <a:cs typeface="Roboto" pitchFamily="34" charset="-120"/>
              </a:rPr>
              <a:t>Practical Applications</a:t>
            </a:r>
            <a:endParaRPr lang="en-US" sz="2800" dirty="0"/>
          </a:p>
        </p:txBody>
      </p:sp>
      <p:sp>
        <p:nvSpPr>
          <p:cNvPr id="7" name="Shape 5"/>
          <p:cNvSpPr/>
          <p:nvPr/>
        </p:nvSpPr>
        <p:spPr>
          <a:xfrm>
            <a:off x="761695" y="1559966"/>
            <a:ext cx="619049" cy="619049"/>
          </a:xfrm>
          <a:prstGeom prst="ellipse">
            <a:avLst/>
          </a:prstGeom>
          <a:solidFill>
            <a:srgbClr val="E74C3C">
              <a:alpha val="15000"/>
            </a:srgbClr>
          </a:solidFill>
          <a:ln/>
        </p:spPr>
        <p:txBody>
          <a:bodyPr/>
          <a:lstStyle/>
          <a:p>
            <a:endParaRPr lang="ja-JP" altLang="en-US"/>
          </a:p>
        </p:txBody>
      </p:sp>
      <p:pic>
        <p:nvPicPr>
          <p:cNvPr id="8" name="Image 0" descr="preencoded.png"/>
          <p:cNvPicPr>
            <a:picLocks noChangeAspect="1"/>
          </p:cNvPicPr>
          <p:nvPr/>
        </p:nvPicPr>
        <p:blipFill>
          <a:blip r:embed="rId3"/>
          <a:srcRect t="-530" b="-530"/>
          <a:stretch/>
        </p:blipFill>
        <p:spPr>
          <a:xfrm>
            <a:off x="947318" y="1727302"/>
            <a:ext cx="247802" cy="286207"/>
          </a:xfrm>
          <a:prstGeom prst="rect">
            <a:avLst/>
          </a:prstGeom>
        </p:spPr>
      </p:pic>
      <p:sp>
        <p:nvSpPr>
          <p:cNvPr id="9" name="Shape 6"/>
          <p:cNvSpPr/>
          <p:nvPr/>
        </p:nvSpPr>
        <p:spPr>
          <a:xfrm>
            <a:off x="6262726" y="1559966"/>
            <a:ext cx="619049" cy="619049"/>
          </a:xfrm>
          <a:prstGeom prst="ellipse">
            <a:avLst/>
          </a:prstGeom>
          <a:solidFill>
            <a:srgbClr val="3498DB">
              <a:alpha val="15000"/>
            </a:srgbClr>
          </a:solidFill>
          <a:ln/>
        </p:spPr>
        <p:txBody>
          <a:bodyPr/>
          <a:lstStyle/>
          <a:p>
            <a:endParaRPr lang="ja-JP" altLang="en-US"/>
          </a:p>
        </p:txBody>
      </p:sp>
      <p:sp>
        <p:nvSpPr>
          <p:cNvPr id="10" name="Shape 7"/>
          <p:cNvSpPr/>
          <p:nvPr/>
        </p:nvSpPr>
        <p:spPr>
          <a:xfrm>
            <a:off x="761695" y="2745943"/>
            <a:ext cx="619049" cy="619049"/>
          </a:xfrm>
          <a:prstGeom prst="ellipse">
            <a:avLst/>
          </a:prstGeom>
          <a:solidFill>
            <a:srgbClr val="E74C3C">
              <a:alpha val="15000"/>
            </a:srgbClr>
          </a:solidFill>
          <a:ln/>
        </p:spPr>
        <p:txBody>
          <a:bodyPr/>
          <a:lstStyle/>
          <a:p>
            <a:endParaRPr lang="ja-JP" altLang="en-US"/>
          </a:p>
        </p:txBody>
      </p:sp>
      <p:sp>
        <p:nvSpPr>
          <p:cNvPr id="11" name="Shape 8"/>
          <p:cNvSpPr/>
          <p:nvPr/>
        </p:nvSpPr>
        <p:spPr>
          <a:xfrm>
            <a:off x="6262726" y="2745943"/>
            <a:ext cx="619049" cy="619049"/>
          </a:xfrm>
          <a:prstGeom prst="ellipse">
            <a:avLst/>
          </a:prstGeom>
          <a:solidFill>
            <a:srgbClr val="3498DB">
              <a:alpha val="15000"/>
            </a:srgbClr>
          </a:solidFill>
          <a:ln/>
        </p:spPr>
        <p:txBody>
          <a:bodyPr/>
          <a:lstStyle/>
          <a:p>
            <a:endParaRPr lang="ja-JP" altLang="en-US"/>
          </a:p>
        </p:txBody>
      </p:sp>
      <p:sp>
        <p:nvSpPr>
          <p:cNvPr id="12" name="Shape 9"/>
          <p:cNvSpPr/>
          <p:nvPr/>
        </p:nvSpPr>
        <p:spPr>
          <a:xfrm>
            <a:off x="9670694" y="6476695"/>
            <a:ext cx="286207" cy="38405"/>
          </a:xfrm>
          <a:prstGeom prst="rect">
            <a:avLst/>
          </a:prstGeom>
          <a:solidFill>
            <a:srgbClr val="E74C3C"/>
          </a:solidFill>
          <a:ln/>
        </p:spPr>
        <p:txBody>
          <a:bodyPr/>
          <a:lstStyle/>
          <a:p>
            <a:endParaRPr lang="ja-JP" altLang="en-US"/>
          </a:p>
        </p:txBody>
      </p:sp>
      <p:sp>
        <p:nvSpPr>
          <p:cNvPr id="13" name="Text 10"/>
          <p:cNvSpPr txBox="1"/>
          <p:nvPr/>
        </p:nvSpPr>
        <p:spPr>
          <a:xfrm>
            <a:off x="1571854" y="1598371"/>
            <a:ext cx="1086307"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レース運営</a:t>
            </a:r>
            <a:endParaRPr lang="en-US" sz="1500" dirty="0"/>
          </a:p>
        </p:txBody>
      </p:sp>
      <p:sp>
        <p:nvSpPr>
          <p:cNvPr id="14" name="Text 11"/>
          <p:cNvSpPr txBox="1"/>
          <p:nvPr/>
        </p:nvSpPr>
        <p:spPr>
          <a:xfrm>
            <a:off x="1571854" y="1893722"/>
            <a:ext cx="1184148" cy="171907"/>
          </a:xfrm>
          <a:prstGeom prst="rect">
            <a:avLst/>
          </a:prstGeom>
          <a:noFill/>
          <a:ln/>
        </p:spPr>
        <p:txBody>
          <a:bodyPr wrap="square" lIns="0" tIns="0" rIns="0" bIns="0" rtlCol="0" anchor="ctr"/>
          <a:lstStyle/>
          <a:p>
            <a:pPr marL="0" indent="0" algn="l">
              <a:buNone/>
            </a:pPr>
            <a:r>
              <a:rPr lang="en-US" sz="1100" dirty="0">
                <a:solidFill>
                  <a:srgbClr val="AAAAAA"/>
                </a:solidFill>
                <a:latin typeface="Roboto" pitchFamily="34" charset="0"/>
                <a:ea typeface="Roboto" pitchFamily="34" charset="-122"/>
                <a:cs typeface="Roboto" pitchFamily="34" charset="-120"/>
              </a:rPr>
              <a:t>• コース上の監視</a:t>
            </a:r>
            <a:endParaRPr lang="en-US" sz="1100" dirty="0"/>
          </a:p>
        </p:txBody>
      </p:sp>
      <p:sp>
        <p:nvSpPr>
          <p:cNvPr id="15" name="Text 12"/>
          <p:cNvSpPr txBox="1"/>
          <p:nvPr/>
        </p:nvSpPr>
        <p:spPr>
          <a:xfrm>
            <a:off x="1571854" y="2107692"/>
            <a:ext cx="1335938" cy="171907"/>
          </a:xfrm>
          <a:prstGeom prst="rect">
            <a:avLst/>
          </a:prstGeom>
          <a:noFill/>
          <a:ln/>
        </p:spPr>
        <p:txBody>
          <a:bodyPr wrap="square" lIns="0" tIns="0" rIns="0" bIns="0" rtlCol="0" anchor="ctr"/>
          <a:lstStyle/>
          <a:p>
            <a:pPr marL="0" indent="0" algn="l">
              <a:buNone/>
            </a:pPr>
            <a:r>
              <a:rPr lang="en-US" sz="1100" dirty="0">
                <a:solidFill>
                  <a:srgbClr val="AAAAAA"/>
                </a:solidFill>
                <a:latin typeface="Roboto" pitchFamily="34" charset="0"/>
                <a:ea typeface="Roboto" pitchFamily="34" charset="-122"/>
                <a:cs typeface="Roboto" pitchFamily="34" charset="-120"/>
              </a:rPr>
              <a:t>• 審議判断の迅速化</a:t>
            </a:r>
            <a:endParaRPr lang="en-US" sz="1100" dirty="0"/>
          </a:p>
        </p:txBody>
      </p:sp>
      <p:sp>
        <p:nvSpPr>
          <p:cNvPr id="16" name="Text 13"/>
          <p:cNvSpPr txBox="1"/>
          <p:nvPr/>
        </p:nvSpPr>
        <p:spPr>
          <a:xfrm>
            <a:off x="1571854" y="2322576"/>
            <a:ext cx="1193292" cy="171907"/>
          </a:xfrm>
          <a:prstGeom prst="rect">
            <a:avLst/>
          </a:prstGeom>
          <a:noFill/>
          <a:ln/>
        </p:spPr>
        <p:txBody>
          <a:bodyPr wrap="square" lIns="0" tIns="0" rIns="0" bIns="0" rtlCol="0" anchor="ctr"/>
          <a:lstStyle/>
          <a:p>
            <a:pPr marL="0" indent="0" algn="l">
              <a:buNone/>
            </a:pPr>
            <a:r>
              <a:rPr lang="en-US" sz="1100" dirty="0">
                <a:solidFill>
                  <a:srgbClr val="AAAAAA"/>
                </a:solidFill>
                <a:latin typeface="Roboto" pitchFamily="34" charset="0"/>
                <a:ea typeface="Roboto" pitchFamily="34" charset="-122"/>
                <a:cs typeface="Roboto" pitchFamily="34" charset="-120"/>
              </a:rPr>
              <a:t>• 事故の即時確認</a:t>
            </a:r>
            <a:endParaRPr lang="en-US" sz="1100" dirty="0"/>
          </a:p>
        </p:txBody>
      </p:sp>
      <p:pic>
        <p:nvPicPr>
          <p:cNvPr id="17" name="Image 1" descr="preencoded.png"/>
          <p:cNvPicPr>
            <a:picLocks noChangeAspect="1"/>
          </p:cNvPicPr>
          <p:nvPr/>
        </p:nvPicPr>
        <p:blipFill>
          <a:blip r:embed="rId4"/>
          <a:srcRect l="-607" r="-607"/>
          <a:stretch/>
        </p:blipFill>
        <p:spPr>
          <a:xfrm>
            <a:off x="6391656" y="1727302"/>
            <a:ext cx="362102" cy="286207"/>
          </a:xfrm>
          <a:prstGeom prst="rect">
            <a:avLst/>
          </a:prstGeom>
        </p:spPr>
      </p:pic>
      <p:sp>
        <p:nvSpPr>
          <p:cNvPr id="18" name="Text 14"/>
          <p:cNvSpPr txBox="1"/>
          <p:nvPr/>
        </p:nvSpPr>
        <p:spPr>
          <a:xfrm>
            <a:off x="7071970" y="1598371"/>
            <a:ext cx="715061"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チーム</a:t>
            </a:r>
            <a:endParaRPr lang="en-US" sz="1500" dirty="0"/>
          </a:p>
        </p:txBody>
      </p:sp>
      <p:sp>
        <p:nvSpPr>
          <p:cNvPr id="19" name="Text 15"/>
          <p:cNvSpPr txBox="1"/>
          <p:nvPr/>
        </p:nvSpPr>
        <p:spPr>
          <a:xfrm>
            <a:off x="7071970" y="1893722"/>
            <a:ext cx="764438" cy="171907"/>
          </a:xfrm>
          <a:prstGeom prst="rect">
            <a:avLst/>
          </a:prstGeom>
          <a:noFill/>
          <a:ln/>
        </p:spPr>
        <p:txBody>
          <a:bodyPr wrap="square" lIns="0" tIns="0" rIns="0" bIns="0" rtlCol="0" anchor="ctr"/>
          <a:lstStyle/>
          <a:p>
            <a:pPr marL="0" indent="0" algn="l">
              <a:buNone/>
            </a:pPr>
            <a:r>
              <a:rPr lang="en-US" sz="1100" dirty="0">
                <a:solidFill>
                  <a:srgbClr val="AAAAAA"/>
                </a:solidFill>
                <a:latin typeface="Roboto" pitchFamily="34" charset="0"/>
                <a:ea typeface="Roboto" pitchFamily="34" charset="-122"/>
                <a:cs typeface="Roboto" pitchFamily="34" charset="-120"/>
              </a:rPr>
              <a:t>• 戦略判断</a:t>
            </a:r>
            <a:endParaRPr lang="en-US" sz="1100" dirty="0"/>
          </a:p>
        </p:txBody>
      </p:sp>
      <p:sp>
        <p:nvSpPr>
          <p:cNvPr id="20" name="Text 16"/>
          <p:cNvSpPr txBox="1"/>
          <p:nvPr/>
        </p:nvSpPr>
        <p:spPr>
          <a:xfrm>
            <a:off x="7071970" y="2107692"/>
            <a:ext cx="1479499" cy="171907"/>
          </a:xfrm>
          <a:prstGeom prst="rect">
            <a:avLst/>
          </a:prstGeom>
          <a:noFill/>
          <a:ln/>
        </p:spPr>
        <p:txBody>
          <a:bodyPr wrap="square" lIns="0" tIns="0" rIns="0" bIns="0" rtlCol="0" anchor="ctr"/>
          <a:lstStyle/>
          <a:p>
            <a:pPr marL="0" indent="0" algn="l">
              <a:buNone/>
            </a:pPr>
            <a:r>
              <a:rPr lang="en-US" sz="1100" dirty="0">
                <a:solidFill>
                  <a:srgbClr val="AAAAAA"/>
                </a:solidFill>
                <a:latin typeface="Roboto" pitchFamily="34" charset="0"/>
                <a:ea typeface="Roboto" pitchFamily="34" charset="-122"/>
                <a:cs typeface="Roboto" pitchFamily="34" charset="-120"/>
              </a:rPr>
              <a:t>• ドライバー走行分析</a:t>
            </a:r>
            <a:endParaRPr lang="en-US" sz="1100" dirty="0"/>
          </a:p>
        </p:txBody>
      </p:sp>
      <p:sp>
        <p:nvSpPr>
          <p:cNvPr id="21" name="Text 17"/>
          <p:cNvSpPr txBox="1"/>
          <p:nvPr/>
        </p:nvSpPr>
        <p:spPr>
          <a:xfrm>
            <a:off x="7071970" y="2322576"/>
            <a:ext cx="1622146" cy="171907"/>
          </a:xfrm>
          <a:prstGeom prst="rect">
            <a:avLst/>
          </a:prstGeom>
          <a:noFill/>
          <a:ln/>
        </p:spPr>
        <p:txBody>
          <a:bodyPr wrap="square" lIns="0" tIns="0" rIns="0" bIns="0" rtlCol="0" anchor="ctr"/>
          <a:lstStyle/>
          <a:p>
            <a:pPr marL="0" indent="0" algn="l">
              <a:buNone/>
            </a:pPr>
            <a:r>
              <a:rPr lang="en-US" sz="1100" dirty="0">
                <a:solidFill>
                  <a:srgbClr val="AAAAAA"/>
                </a:solidFill>
                <a:latin typeface="Roboto" pitchFamily="34" charset="0"/>
                <a:ea typeface="Roboto" pitchFamily="34" charset="-122"/>
                <a:cs typeface="Roboto" pitchFamily="34" charset="-120"/>
              </a:rPr>
              <a:t>• 遠隔からのアドバイス</a:t>
            </a:r>
            <a:endParaRPr lang="en-US" sz="1100" dirty="0"/>
          </a:p>
        </p:txBody>
      </p:sp>
      <p:pic>
        <p:nvPicPr>
          <p:cNvPr id="22" name="Image 2" descr="preencoded.png"/>
          <p:cNvPicPr>
            <a:picLocks noChangeAspect="1"/>
          </p:cNvPicPr>
          <p:nvPr/>
        </p:nvPicPr>
        <p:blipFill>
          <a:blip r:embed="rId5"/>
          <a:srcRect l="-607" r="-607"/>
          <a:stretch/>
        </p:blipFill>
        <p:spPr>
          <a:xfrm>
            <a:off x="890626" y="2912364"/>
            <a:ext cx="362102" cy="286207"/>
          </a:xfrm>
          <a:prstGeom prst="rect">
            <a:avLst/>
          </a:prstGeom>
        </p:spPr>
      </p:pic>
      <p:sp>
        <p:nvSpPr>
          <p:cNvPr id="23" name="Shape 18"/>
          <p:cNvSpPr/>
          <p:nvPr/>
        </p:nvSpPr>
        <p:spPr>
          <a:xfrm>
            <a:off x="761695" y="6267298"/>
            <a:ext cx="10668305" cy="9144"/>
          </a:xfrm>
          <a:prstGeom prst="rect">
            <a:avLst/>
          </a:prstGeom>
          <a:solidFill>
            <a:srgbClr val="FFFFFF">
              <a:alpha val="10000"/>
            </a:srgbClr>
          </a:solidFill>
          <a:ln/>
        </p:spPr>
        <p:txBody>
          <a:bodyPr/>
          <a:lstStyle/>
          <a:p>
            <a:endParaRPr lang="ja-JP" altLang="en-US"/>
          </a:p>
        </p:txBody>
      </p:sp>
      <p:sp>
        <p:nvSpPr>
          <p:cNvPr id="24" name="Shape 19"/>
          <p:cNvSpPr/>
          <p:nvPr/>
        </p:nvSpPr>
        <p:spPr>
          <a:xfrm>
            <a:off x="10032797" y="6476695"/>
            <a:ext cx="286207" cy="38405"/>
          </a:xfrm>
          <a:prstGeom prst="rect">
            <a:avLst/>
          </a:prstGeom>
          <a:solidFill>
            <a:srgbClr val="3498DB"/>
          </a:solidFill>
          <a:ln/>
        </p:spPr>
        <p:txBody>
          <a:bodyPr/>
          <a:lstStyle/>
          <a:p>
            <a:endParaRPr lang="ja-JP" altLang="en-US"/>
          </a:p>
        </p:txBody>
      </p:sp>
      <p:sp>
        <p:nvSpPr>
          <p:cNvPr id="25" name="Text 20"/>
          <p:cNvSpPr txBox="1"/>
          <p:nvPr/>
        </p:nvSpPr>
        <p:spPr>
          <a:xfrm>
            <a:off x="1571854" y="2784348"/>
            <a:ext cx="1467612"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メディア・配信</a:t>
            </a:r>
            <a:endParaRPr lang="en-US" sz="1500" dirty="0"/>
          </a:p>
        </p:txBody>
      </p:sp>
      <p:sp>
        <p:nvSpPr>
          <p:cNvPr id="26" name="Text 21"/>
          <p:cNvSpPr txBox="1"/>
          <p:nvPr/>
        </p:nvSpPr>
        <p:spPr>
          <a:xfrm>
            <a:off x="1571854" y="3079699"/>
            <a:ext cx="2336292" cy="171907"/>
          </a:xfrm>
          <a:prstGeom prst="rect">
            <a:avLst/>
          </a:prstGeom>
          <a:noFill/>
          <a:ln/>
        </p:spPr>
        <p:txBody>
          <a:bodyPr wrap="square" lIns="0" tIns="0" rIns="0" bIns="0" rtlCol="0" anchor="ctr"/>
          <a:lstStyle/>
          <a:p>
            <a:pPr marL="0" indent="0" algn="l">
              <a:buNone/>
            </a:pPr>
            <a:r>
              <a:rPr lang="en-US" sz="1100" dirty="0">
                <a:solidFill>
                  <a:srgbClr val="AAAAAA"/>
                </a:solidFill>
                <a:latin typeface="Roboto" pitchFamily="34" charset="0"/>
                <a:ea typeface="Roboto" pitchFamily="34" charset="-122"/>
                <a:cs typeface="Roboto" pitchFamily="34" charset="-120"/>
              </a:rPr>
              <a:t>• テレビ中継のオンボード演出強化</a:t>
            </a:r>
            <a:endParaRPr lang="en-US" sz="1100" dirty="0"/>
          </a:p>
        </p:txBody>
      </p:sp>
      <p:sp>
        <p:nvSpPr>
          <p:cNvPr id="27" name="Text 22"/>
          <p:cNvSpPr txBox="1"/>
          <p:nvPr/>
        </p:nvSpPr>
        <p:spPr>
          <a:xfrm>
            <a:off x="1571854" y="3293669"/>
            <a:ext cx="1622146" cy="171907"/>
          </a:xfrm>
          <a:prstGeom prst="rect">
            <a:avLst/>
          </a:prstGeom>
          <a:noFill/>
          <a:ln/>
        </p:spPr>
        <p:txBody>
          <a:bodyPr wrap="square" lIns="0" tIns="0" rIns="0" bIns="0" rtlCol="0" anchor="ctr"/>
          <a:lstStyle/>
          <a:p>
            <a:pPr marL="0" indent="0" algn="l">
              <a:buNone/>
            </a:pPr>
            <a:r>
              <a:rPr lang="en-US" sz="1100" dirty="0">
                <a:solidFill>
                  <a:srgbClr val="AAAAAA"/>
                </a:solidFill>
                <a:latin typeface="Roboto" pitchFamily="34" charset="0"/>
                <a:ea typeface="Roboto" pitchFamily="34" charset="-122"/>
                <a:cs typeface="Roboto" pitchFamily="34" charset="-120"/>
              </a:rPr>
              <a:t>• ライブ配信の品質向上</a:t>
            </a:r>
            <a:endParaRPr lang="en-US" sz="1100" dirty="0"/>
          </a:p>
        </p:txBody>
      </p:sp>
      <p:sp>
        <p:nvSpPr>
          <p:cNvPr id="28" name="Text 23"/>
          <p:cNvSpPr txBox="1"/>
          <p:nvPr/>
        </p:nvSpPr>
        <p:spPr>
          <a:xfrm>
            <a:off x="1571854" y="3507638"/>
            <a:ext cx="1460297" cy="171907"/>
          </a:xfrm>
          <a:prstGeom prst="rect">
            <a:avLst/>
          </a:prstGeom>
          <a:noFill/>
          <a:ln/>
        </p:spPr>
        <p:txBody>
          <a:bodyPr wrap="square" lIns="0" tIns="0" rIns="0" bIns="0" rtlCol="0" anchor="ctr"/>
          <a:lstStyle/>
          <a:p>
            <a:pPr marL="0" indent="0" algn="l">
              <a:buNone/>
            </a:pPr>
            <a:r>
              <a:rPr lang="en-US" sz="1100" dirty="0">
                <a:solidFill>
                  <a:srgbClr val="AAAAAA"/>
                </a:solidFill>
                <a:latin typeface="Roboto" pitchFamily="34" charset="0"/>
                <a:ea typeface="Roboto" pitchFamily="34" charset="-122"/>
                <a:cs typeface="Roboto" pitchFamily="34" charset="-120"/>
              </a:rPr>
              <a:t>• SNS映像の即時投稿</a:t>
            </a:r>
            <a:endParaRPr lang="en-US" sz="1100" dirty="0"/>
          </a:p>
        </p:txBody>
      </p:sp>
      <p:pic>
        <p:nvPicPr>
          <p:cNvPr id="29" name="Image 3" descr="preencoded.png"/>
          <p:cNvPicPr>
            <a:picLocks noChangeAspect="1"/>
          </p:cNvPicPr>
          <p:nvPr/>
        </p:nvPicPr>
        <p:blipFill>
          <a:blip r:embed="rId6"/>
          <a:srcRect l="-266" r="-266"/>
          <a:stretch/>
        </p:blipFill>
        <p:spPr>
          <a:xfrm>
            <a:off x="6409944" y="2912364"/>
            <a:ext cx="323698" cy="286207"/>
          </a:xfrm>
          <a:prstGeom prst="rect">
            <a:avLst/>
          </a:prstGeom>
        </p:spPr>
      </p:pic>
      <p:sp>
        <p:nvSpPr>
          <p:cNvPr id="30" name="Text 24"/>
          <p:cNvSpPr txBox="1"/>
          <p:nvPr/>
        </p:nvSpPr>
        <p:spPr>
          <a:xfrm>
            <a:off x="7071970" y="2784348"/>
            <a:ext cx="905256"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エンタメ</a:t>
            </a:r>
            <a:endParaRPr lang="en-US" sz="1500" dirty="0"/>
          </a:p>
        </p:txBody>
      </p:sp>
      <p:sp>
        <p:nvSpPr>
          <p:cNvPr id="31" name="Text 25"/>
          <p:cNvSpPr txBox="1"/>
          <p:nvPr/>
        </p:nvSpPr>
        <p:spPr>
          <a:xfrm>
            <a:off x="7071970" y="3079699"/>
            <a:ext cx="2250338" cy="171907"/>
          </a:xfrm>
          <a:prstGeom prst="rect">
            <a:avLst/>
          </a:prstGeom>
          <a:noFill/>
          <a:ln/>
        </p:spPr>
        <p:txBody>
          <a:bodyPr wrap="square" lIns="0" tIns="0" rIns="0" bIns="0" rtlCol="0" anchor="ctr"/>
          <a:lstStyle/>
          <a:p>
            <a:pPr marL="0" indent="0" algn="l">
              <a:buNone/>
            </a:pPr>
            <a:r>
              <a:rPr lang="en-US" sz="1100" dirty="0">
                <a:solidFill>
                  <a:srgbClr val="AAAAAA"/>
                </a:solidFill>
                <a:latin typeface="Roboto" pitchFamily="34" charset="0"/>
                <a:ea typeface="Roboto" pitchFamily="34" charset="-122"/>
                <a:cs typeface="Roboto" pitchFamily="34" charset="-120"/>
              </a:rPr>
              <a:t>• VIPブースでのリアルタイム観戦</a:t>
            </a:r>
            <a:endParaRPr lang="en-US" sz="1100" dirty="0"/>
          </a:p>
        </p:txBody>
      </p:sp>
      <p:sp>
        <p:nvSpPr>
          <p:cNvPr id="32" name="Text 26"/>
          <p:cNvSpPr txBox="1"/>
          <p:nvPr/>
        </p:nvSpPr>
        <p:spPr>
          <a:xfrm>
            <a:off x="7071970" y="3293669"/>
            <a:ext cx="1764792" cy="171907"/>
          </a:xfrm>
          <a:prstGeom prst="rect">
            <a:avLst/>
          </a:prstGeom>
          <a:noFill/>
          <a:ln/>
        </p:spPr>
        <p:txBody>
          <a:bodyPr wrap="square" lIns="0" tIns="0" rIns="0" bIns="0" rtlCol="0" anchor="ctr"/>
          <a:lstStyle/>
          <a:p>
            <a:pPr marL="0" indent="0" algn="l">
              <a:buNone/>
            </a:pPr>
            <a:r>
              <a:rPr lang="en-US" sz="1100" dirty="0">
                <a:solidFill>
                  <a:srgbClr val="AAAAAA"/>
                </a:solidFill>
                <a:latin typeface="Roboto" pitchFamily="34" charset="0"/>
                <a:ea typeface="Roboto" pitchFamily="34" charset="-122"/>
                <a:cs typeface="Roboto" pitchFamily="34" charset="-120"/>
              </a:rPr>
              <a:t>• ファン向けの多視点配信</a:t>
            </a:r>
            <a:endParaRPr lang="en-US" sz="1100" dirty="0"/>
          </a:p>
        </p:txBody>
      </p:sp>
      <p:sp>
        <p:nvSpPr>
          <p:cNvPr id="33" name="Text 27"/>
          <p:cNvSpPr txBox="1"/>
          <p:nvPr/>
        </p:nvSpPr>
        <p:spPr>
          <a:xfrm>
            <a:off x="7071970" y="3507638"/>
            <a:ext cx="1622146" cy="171907"/>
          </a:xfrm>
          <a:prstGeom prst="rect">
            <a:avLst/>
          </a:prstGeom>
          <a:noFill/>
          <a:ln/>
        </p:spPr>
        <p:txBody>
          <a:bodyPr wrap="square" lIns="0" tIns="0" rIns="0" bIns="0" rtlCol="0" anchor="ctr"/>
          <a:lstStyle/>
          <a:p>
            <a:pPr marL="0" indent="0" algn="l">
              <a:buNone/>
            </a:pPr>
            <a:r>
              <a:rPr lang="en-US" sz="1100" dirty="0">
                <a:solidFill>
                  <a:srgbClr val="AAAAAA"/>
                </a:solidFill>
                <a:latin typeface="Roboto" pitchFamily="34" charset="0"/>
                <a:ea typeface="Roboto" pitchFamily="34" charset="-122"/>
                <a:cs typeface="Roboto" pitchFamily="34" charset="-120"/>
              </a:rPr>
              <a:t>• 新しい視聴体験の創出</a:t>
            </a:r>
            <a:endParaRPr lang="en-US" sz="1100" dirty="0"/>
          </a:p>
        </p:txBody>
      </p:sp>
      <p:sp>
        <p:nvSpPr>
          <p:cNvPr id="34" name="Text 28"/>
          <p:cNvSpPr txBox="1"/>
          <p:nvPr/>
        </p:nvSpPr>
        <p:spPr>
          <a:xfrm>
            <a:off x="10394899" y="6420002"/>
            <a:ext cx="1138428" cy="152705"/>
          </a:xfrm>
          <a:prstGeom prst="rect">
            <a:avLst/>
          </a:prstGeom>
          <a:noFill/>
          <a:ln/>
        </p:spPr>
        <p:txBody>
          <a:bodyPr wrap="square" lIns="0" tIns="0" rIns="0" bIns="0" rtlCol="0" anchor="ctr"/>
          <a:lstStyle/>
          <a:p>
            <a:pPr marL="0" indent="0" algn="l">
              <a:buNone/>
            </a:pPr>
            <a:r>
              <a:rPr lang="en-US" sz="1000" dirty="0">
                <a:solidFill>
                  <a:srgbClr val="888888"/>
                </a:solidFill>
                <a:latin typeface="Roboto" pitchFamily="34" charset="0"/>
                <a:ea typeface="Roboto" pitchFamily="34" charset="-122"/>
                <a:cs typeface="Roboto" pitchFamily="34" charset="-120"/>
              </a:rPr>
              <a:t>iZCast | UNSOLID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C3E50"/>
          </a:solidFill>
          <a:ln/>
        </p:spPr>
        <p:txBody>
          <a:bodyPr/>
          <a:lstStyle/>
          <a:p>
            <a:endParaRPr lang="ja-JP" altLang="en-US"/>
          </a:p>
        </p:txBody>
      </p:sp>
      <p:sp>
        <p:nvSpPr>
          <p:cNvPr id="3" name="Shape 1"/>
          <p:cNvSpPr/>
          <p:nvPr/>
        </p:nvSpPr>
        <p:spPr>
          <a:xfrm>
            <a:off x="761695" y="381305"/>
            <a:ext cx="47549" cy="942746"/>
          </a:xfrm>
          <a:prstGeom prst="rect">
            <a:avLst/>
          </a:prstGeom>
          <a:solidFill>
            <a:srgbClr val="E74C3C"/>
          </a:solidFill>
          <a:ln/>
        </p:spPr>
        <p:txBody>
          <a:bodyPr/>
          <a:lstStyle/>
          <a:p>
            <a:endParaRPr lang="ja-JP" altLang="en-US"/>
          </a:p>
        </p:txBody>
      </p:sp>
      <p:sp>
        <p:nvSpPr>
          <p:cNvPr id="4" name="Text 2"/>
          <p:cNvSpPr txBox="1"/>
          <p:nvPr/>
        </p:nvSpPr>
        <p:spPr>
          <a:xfrm>
            <a:off x="952805" y="381305"/>
            <a:ext cx="1591056" cy="181051"/>
          </a:xfrm>
          <a:prstGeom prst="rect">
            <a:avLst/>
          </a:prstGeom>
          <a:noFill/>
          <a:ln/>
        </p:spPr>
        <p:txBody>
          <a:bodyPr wrap="square" lIns="0" tIns="0" rIns="0" bIns="0" rtlCol="0" anchor="ctr"/>
          <a:lstStyle/>
          <a:p>
            <a:pPr marL="0" indent="0" algn="l">
              <a:buNone/>
            </a:pPr>
            <a:r>
              <a:rPr lang="en-US" sz="1200" b="1" dirty="0">
                <a:solidFill>
                  <a:srgbClr val="3498DB"/>
                </a:solidFill>
                <a:latin typeface="Roboto" pitchFamily="34" charset="0"/>
                <a:ea typeface="Roboto" pitchFamily="34" charset="-122"/>
                <a:cs typeface="Roboto" pitchFamily="34" charset="-120"/>
              </a:rPr>
              <a:t>FUTURE ROADMAP</a:t>
            </a:r>
            <a:endParaRPr lang="en-US" sz="1200" dirty="0"/>
          </a:p>
        </p:txBody>
      </p:sp>
      <p:sp>
        <p:nvSpPr>
          <p:cNvPr id="5" name="Text 3"/>
          <p:cNvSpPr txBox="1"/>
          <p:nvPr/>
        </p:nvSpPr>
        <p:spPr>
          <a:xfrm>
            <a:off x="952805" y="1016813"/>
            <a:ext cx="1634033" cy="305410"/>
          </a:xfrm>
          <a:prstGeom prst="rect">
            <a:avLst/>
          </a:prstGeom>
          <a:noFill/>
          <a:ln/>
        </p:spPr>
        <p:txBody>
          <a:bodyPr wrap="square" lIns="0" tIns="0" rIns="0" bIns="0" rtlCol="0" anchor="ctr"/>
          <a:lstStyle/>
          <a:p>
            <a:pPr marL="0" indent="0" algn="l">
              <a:buNone/>
            </a:pPr>
            <a:r>
              <a:rPr lang="en-US" sz="1600" dirty="0">
                <a:solidFill>
                  <a:srgbClr val="E74C3C"/>
                </a:solidFill>
                <a:latin typeface="Noto Sans JP" pitchFamily="34" charset="0"/>
                <a:ea typeface="Noto Sans JP" pitchFamily="34" charset="-122"/>
                <a:cs typeface="Noto Sans JP" pitchFamily="34" charset="-120"/>
              </a:rPr>
              <a:t>将来性・拡張案</a:t>
            </a:r>
            <a:endParaRPr lang="en-US" sz="1600" dirty="0"/>
          </a:p>
        </p:txBody>
      </p:sp>
      <p:sp>
        <p:nvSpPr>
          <p:cNvPr id="6" name="Text 4"/>
          <p:cNvSpPr txBox="1"/>
          <p:nvPr/>
        </p:nvSpPr>
        <p:spPr>
          <a:xfrm>
            <a:off x="952805" y="571500"/>
            <a:ext cx="3195828" cy="419710"/>
          </a:xfrm>
          <a:prstGeom prst="rect">
            <a:avLst/>
          </a:prstGeom>
          <a:noFill/>
          <a:ln/>
        </p:spPr>
        <p:txBody>
          <a:bodyPr wrap="square" lIns="0" tIns="0" rIns="0" bIns="0" rtlCol="0" anchor="ctr"/>
          <a:lstStyle/>
          <a:p>
            <a:pPr marL="0" indent="0" algn="l">
              <a:buNone/>
            </a:pPr>
            <a:r>
              <a:rPr lang="en-US" sz="2800" b="1" dirty="0">
                <a:solidFill>
                  <a:srgbClr val="FFFFFF"/>
                </a:solidFill>
                <a:latin typeface="Roboto" pitchFamily="34" charset="0"/>
                <a:ea typeface="Roboto" pitchFamily="34" charset="-122"/>
                <a:cs typeface="Roboto" pitchFamily="34" charset="-120"/>
              </a:rPr>
              <a:t>Future Extensions</a:t>
            </a:r>
            <a:endParaRPr lang="en-US" sz="2800" dirty="0"/>
          </a:p>
        </p:txBody>
      </p:sp>
      <p:sp>
        <p:nvSpPr>
          <p:cNvPr id="7" name="Shape 5"/>
          <p:cNvSpPr/>
          <p:nvPr/>
        </p:nvSpPr>
        <p:spPr>
          <a:xfrm>
            <a:off x="761695" y="1588313"/>
            <a:ext cx="523951" cy="523951"/>
          </a:xfrm>
          <a:prstGeom prst="ellipse">
            <a:avLst/>
          </a:prstGeom>
          <a:solidFill>
            <a:srgbClr val="E74C3C">
              <a:alpha val="15000"/>
            </a:srgbClr>
          </a:solidFill>
          <a:ln/>
        </p:spPr>
        <p:txBody>
          <a:bodyPr/>
          <a:lstStyle/>
          <a:p>
            <a:endParaRPr lang="ja-JP" altLang="en-US"/>
          </a:p>
        </p:txBody>
      </p:sp>
      <p:pic>
        <p:nvPicPr>
          <p:cNvPr id="8" name="Image 0" descr="preencoded.png"/>
          <p:cNvPicPr>
            <a:picLocks noChangeAspect="1"/>
          </p:cNvPicPr>
          <p:nvPr/>
        </p:nvPicPr>
        <p:blipFill>
          <a:blip r:embed="rId3"/>
          <a:srcRect/>
          <a:stretch/>
        </p:blipFill>
        <p:spPr>
          <a:xfrm>
            <a:off x="899770" y="1727302"/>
            <a:ext cx="247802" cy="247802"/>
          </a:xfrm>
          <a:prstGeom prst="rect">
            <a:avLst/>
          </a:prstGeom>
        </p:spPr>
      </p:pic>
      <p:sp>
        <p:nvSpPr>
          <p:cNvPr id="9" name="Shape 6"/>
          <p:cNvSpPr/>
          <p:nvPr/>
        </p:nvSpPr>
        <p:spPr>
          <a:xfrm>
            <a:off x="761695" y="6267298"/>
            <a:ext cx="10668305" cy="9144"/>
          </a:xfrm>
          <a:prstGeom prst="rect">
            <a:avLst/>
          </a:prstGeom>
          <a:solidFill>
            <a:srgbClr val="FFFFFF">
              <a:alpha val="10000"/>
            </a:srgbClr>
          </a:solidFill>
          <a:ln/>
        </p:spPr>
        <p:txBody>
          <a:bodyPr/>
          <a:lstStyle/>
          <a:p>
            <a:endParaRPr lang="ja-JP" altLang="en-US"/>
          </a:p>
        </p:txBody>
      </p:sp>
      <p:sp>
        <p:nvSpPr>
          <p:cNvPr id="10" name="Shape 7"/>
          <p:cNvSpPr/>
          <p:nvPr/>
        </p:nvSpPr>
        <p:spPr>
          <a:xfrm>
            <a:off x="761695" y="2307031"/>
            <a:ext cx="523951" cy="523951"/>
          </a:xfrm>
          <a:prstGeom prst="ellipse">
            <a:avLst/>
          </a:prstGeom>
          <a:solidFill>
            <a:srgbClr val="3498DB">
              <a:alpha val="15000"/>
            </a:srgbClr>
          </a:solidFill>
          <a:ln/>
        </p:spPr>
        <p:txBody>
          <a:bodyPr/>
          <a:lstStyle/>
          <a:p>
            <a:endParaRPr lang="ja-JP" altLang="en-US"/>
          </a:p>
        </p:txBody>
      </p:sp>
      <p:sp>
        <p:nvSpPr>
          <p:cNvPr id="11" name="Shape 8"/>
          <p:cNvSpPr/>
          <p:nvPr/>
        </p:nvSpPr>
        <p:spPr>
          <a:xfrm>
            <a:off x="761695" y="3743554"/>
            <a:ext cx="523951" cy="523951"/>
          </a:xfrm>
          <a:prstGeom prst="ellipse">
            <a:avLst/>
          </a:prstGeom>
          <a:solidFill>
            <a:srgbClr val="3498DB">
              <a:alpha val="15000"/>
            </a:srgbClr>
          </a:solidFill>
          <a:ln/>
        </p:spPr>
        <p:txBody>
          <a:bodyPr/>
          <a:lstStyle/>
          <a:p>
            <a:endParaRPr lang="ja-JP" altLang="en-US"/>
          </a:p>
        </p:txBody>
      </p:sp>
      <p:sp>
        <p:nvSpPr>
          <p:cNvPr id="12" name="Text 9"/>
          <p:cNvSpPr txBox="1"/>
          <p:nvPr/>
        </p:nvSpPr>
        <p:spPr>
          <a:xfrm>
            <a:off x="1476756" y="1636776"/>
            <a:ext cx="1950415"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AI × オンボード映像</a:t>
            </a:r>
            <a:endParaRPr lang="en-US" sz="1500" dirty="0"/>
          </a:p>
        </p:txBody>
      </p:sp>
      <p:sp>
        <p:nvSpPr>
          <p:cNvPr id="13" name="Text 10"/>
          <p:cNvSpPr txBox="1"/>
          <p:nvPr/>
        </p:nvSpPr>
        <p:spPr>
          <a:xfrm>
            <a:off x="1476756" y="1931213"/>
            <a:ext cx="7392010"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クラッシュ予兆検知、ライン解析など、AIによるリアルタイム映像分析でレースの安全性と戦略判断を向上</a:t>
            </a:r>
            <a:endParaRPr lang="en-US" sz="1200" dirty="0"/>
          </a:p>
        </p:txBody>
      </p:sp>
      <p:pic>
        <p:nvPicPr>
          <p:cNvPr id="14" name="Image 1" descr="preencoded.png"/>
          <p:cNvPicPr>
            <a:picLocks noChangeAspect="1"/>
          </p:cNvPicPr>
          <p:nvPr/>
        </p:nvPicPr>
        <p:blipFill>
          <a:blip r:embed="rId4"/>
          <a:srcRect/>
          <a:stretch/>
        </p:blipFill>
        <p:spPr>
          <a:xfrm>
            <a:off x="899770" y="2445106"/>
            <a:ext cx="247802" cy="247802"/>
          </a:xfrm>
          <a:prstGeom prst="rect">
            <a:avLst/>
          </a:prstGeom>
        </p:spPr>
      </p:pic>
      <p:sp>
        <p:nvSpPr>
          <p:cNvPr id="15" name="Shape 11"/>
          <p:cNvSpPr/>
          <p:nvPr/>
        </p:nvSpPr>
        <p:spPr>
          <a:xfrm>
            <a:off x="761695" y="3024835"/>
            <a:ext cx="523951" cy="523951"/>
          </a:xfrm>
          <a:prstGeom prst="ellipse">
            <a:avLst/>
          </a:prstGeom>
          <a:solidFill>
            <a:srgbClr val="E74C3C">
              <a:alpha val="15000"/>
            </a:srgbClr>
          </a:solidFill>
          <a:ln/>
        </p:spPr>
        <p:txBody>
          <a:bodyPr/>
          <a:lstStyle/>
          <a:p>
            <a:endParaRPr lang="ja-JP" altLang="en-US"/>
          </a:p>
        </p:txBody>
      </p:sp>
      <p:sp>
        <p:nvSpPr>
          <p:cNvPr id="16" name="Shape 12"/>
          <p:cNvSpPr/>
          <p:nvPr/>
        </p:nvSpPr>
        <p:spPr>
          <a:xfrm>
            <a:off x="761695" y="4461358"/>
            <a:ext cx="523951" cy="523951"/>
          </a:xfrm>
          <a:prstGeom prst="ellipse">
            <a:avLst/>
          </a:prstGeom>
          <a:solidFill>
            <a:srgbClr val="E74C3C">
              <a:alpha val="15000"/>
            </a:srgbClr>
          </a:solidFill>
          <a:ln/>
        </p:spPr>
        <p:txBody>
          <a:bodyPr/>
          <a:lstStyle/>
          <a:p>
            <a:endParaRPr lang="ja-JP" altLang="en-US"/>
          </a:p>
        </p:txBody>
      </p:sp>
      <p:sp>
        <p:nvSpPr>
          <p:cNvPr id="17" name="Text 13"/>
          <p:cNvSpPr txBox="1"/>
          <p:nvPr/>
        </p:nvSpPr>
        <p:spPr>
          <a:xfrm>
            <a:off x="1476756" y="2354580"/>
            <a:ext cx="2350922"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テレメトリと映像の同期</a:t>
            </a:r>
            <a:endParaRPr lang="en-US" sz="1500" dirty="0"/>
          </a:p>
        </p:txBody>
      </p:sp>
      <p:sp>
        <p:nvSpPr>
          <p:cNvPr id="18" name="Text 14"/>
          <p:cNvSpPr txBox="1"/>
          <p:nvPr/>
        </p:nvSpPr>
        <p:spPr>
          <a:xfrm>
            <a:off x="1476756" y="2649931"/>
            <a:ext cx="6505956"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車両データと映像の完全同期により、各瞬間のドライバー操作と車両挙動の詳細分析が可能に</a:t>
            </a:r>
            <a:endParaRPr lang="en-US" sz="1200" dirty="0"/>
          </a:p>
        </p:txBody>
      </p:sp>
      <p:pic>
        <p:nvPicPr>
          <p:cNvPr id="19" name="Image 2" descr="preencoded.png"/>
          <p:cNvPicPr>
            <a:picLocks noChangeAspect="1"/>
          </p:cNvPicPr>
          <p:nvPr/>
        </p:nvPicPr>
        <p:blipFill>
          <a:blip r:embed="rId5"/>
          <a:srcRect t="-476" b="-476"/>
          <a:stretch/>
        </p:blipFill>
        <p:spPr>
          <a:xfrm>
            <a:off x="886054" y="3162910"/>
            <a:ext cx="276149" cy="247802"/>
          </a:xfrm>
          <a:prstGeom prst="rect">
            <a:avLst/>
          </a:prstGeom>
        </p:spPr>
      </p:pic>
      <p:sp>
        <p:nvSpPr>
          <p:cNvPr id="20" name="Text 15"/>
          <p:cNvSpPr txBox="1"/>
          <p:nvPr/>
        </p:nvSpPr>
        <p:spPr>
          <a:xfrm>
            <a:off x="1476756" y="3073298"/>
            <a:ext cx="1550822"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マルチカメラ化</a:t>
            </a:r>
            <a:endParaRPr lang="en-US" sz="1500" dirty="0"/>
          </a:p>
        </p:txBody>
      </p:sp>
      <p:sp>
        <p:nvSpPr>
          <p:cNvPr id="21" name="Text 16"/>
          <p:cNvSpPr txBox="1"/>
          <p:nvPr/>
        </p:nvSpPr>
        <p:spPr>
          <a:xfrm>
            <a:off x="1476756" y="3367735"/>
            <a:ext cx="6344107"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前方・後方・車外など複数アングルからの同時配信で、より包括的なレース状況把握を実現</a:t>
            </a:r>
            <a:endParaRPr lang="en-US" sz="1200" dirty="0"/>
          </a:p>
        </p:txBody>
      </p:sp>
      <p:pic>
        <p:nvPicPr>
          <p:cNvPr id="22" name="Image 3" descr="preencoded.png"/>
          <p:cNvPicPr>
            <a:picLocks noChangeAspect="1"/>
          </p:cNvPicPr>
          <p:nvPr/>
        </p:nvPicPr>
        <p:blipFill>
          <a:blip r:embed="rId6"/>
          <a:srcRect/>
          <a:stretch/>
        </p:blipFill>
        <p:spPr>
          <a:xfrm>
            <a:off x="899770" y="3881628"/>
            <a:ext cx="247802" cy="247802"/>
          </a:xfrm>
          <a:prstGeom prst="rect">
            <a:avLst/>
          </a:prstGeom>
        </p:spPr>
      </p:pic>
      <p:sp>
        <p:nvSpPr>
          <p:cNvPr id="23" name="Text 17"/>
          <p:cNvSpPr txBox="1"/>
          <p:nvPr/>
        </p:nvSpPr>
        <p:spPr>
          <a:xfrm>
            <a:off x="1476756" y="3791102"/>
            <a:ext cx="2551176"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総合ライブダッシュボード</a:t>
            </a:r>
            <a:endParaRPr lang="en-US" sz="1500" dirty="0"/>
          </a:p>
        </p:txBody>
      </p:sp>
      <p:sp>
        <p:nvSpPr>
          <p:cNvPr id="24" name="Text 18"/>
          <p:cNvSpPr txBox="1"/>
          <p:nvPr/>
        </p:nvSpPr>
        <p:spPr>
          <a:xfrm>
            <a:off x="1476756" y="4086454"/>
            <a:ext cx="6344107"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車両データと連携した包括的モニタリングシステムで、レース状況をリアルタイムに可視化</a:t>
            </a:r>
            <a:endParaRPr lang="en-US" sz="1200" dirty="0"/>
          </a:p>
        </p:txBody>
      </p:sp>
      <p:pic>
        <p:nvPicPr>
          <p:cNvPr id="25" name="Image 4" descr="preencoded.png"/>
          <p:cNvPicPr>
            <a:picLocks noChangeAspect="1"/>
          </p:cNvPicPr>
          <p:nvPr/>
        </p:nvPicPr>
        <p:blipFill>
          <a:blip r:embed="rId7"/>
          <a:srcRect t="-476" b="-476"/>
          <a:stretch/>
        </p:blipFill>
        <p:spPr>
          <a:xfrm>
            <a:off x="886054" y="4599432"/>
            <a:ext cx="276149" cy="247802"/>
          </a:xfrm>
          <a:prstGeom prst="rect">
            <a:avLst/>
          </a:prstGeom>
        </p:spPr>
      </p:pic>
      <p:sp>
        <p:nvSpPr>
          <p:cNvPr id="26" name="Shape 19"/>
          <p:cNvSpPr/>
          <p:nvPr/>
        </p:nvSpPr>
        <p:spPr>
          <a:xfrm>
            <a:off x="9670694" y="6476695"/>
            <a:ext cx="286207" cy="38405"/>
          </a:xfrm>
          <a:prstGeom prst="rect">
            <a:avLst/>
          </a:prstGeom>
          <a:solidFill>
            <a:srgbClr val="E74C3C"/>
          </a:solidFill>
          <a:ln/>
        </p:spPr>
        <p:txBody>
          <a:bodyPr/>
          <a:lstStyle/>
          <a:p>
            <a:endParaRPr lang="ja-JP" altLang="en-US"/>
          </a:p>
        </p:txBody>
      </p:sp>
      <p:sp>
        <p:nvSpPr>
          <p:cNvPr id="27" name="Shape 20"/>
          <p:cNvSpPr/>
          <p:nvPr/>
        </p:nvSpPr>
        <p:spPr>
          <a:xfrm>
            <a:off x="10032797" y="6476695"/>
            <a:ext cx="286207" cy="38405"/>
          </a:xfrm>
          <a:prstGeom prst="rect">
            <a:avLst/>
          </a:prstGeom>
          <a:solidFill>
            <a:srgbClr val="3498DB"/>
          </a:solidFill>
          <a:ln/>
        </p:spPr>
        <p:txBody>
          <a:bodyPr/>
          <a:lstStyle/>
          <a:p>
            <a:endParaRPr lang="ja-JP" altLang="en-US"/>
          </a:p>
        </p:txBody>
      </p:sp>
      <p:sp>
        <p:nvSpPr>
          <p:cNvPr id="28" name="Text 21"/>
          <p:cNvSpPr txBox="1"/>
          <p:nvPr/>
        </p:nvSpPr>
        <p:spPr>
          <a:xfrm>
            <a:off x="1476756" y="4508906"/>
            <a:ext cx="2531974"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5G/6G時代の超低遅延配信</a:t>
            </a:r>
            <a:endParaRPr lang="en-US" sz="1500" dirty="0"/>
          </a:p>
        </p:txBody>
      </p:sp>
      <p:sp>
        <p:nvSpPr>
          <p:cNvPr id="29" name="Text 22"/>
          <p:cNvSpPr txBox="1"/>
          <p:nvPr/>
        </p:nvSpPr>
        <p:spPr>
          <a:xfrm>
            <a:off x="1476756" y="4804258"/>
            <a:ext cx="5906110"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次世代通信規格への対応と最適化により、さらなる低遅延・高画質・高安定性を実現</a:t>
            </a:r>
            <a:endParaRPr lang="en-US" sz="1200" dirty="0"/>
          </a:p>
        </p:txBody>
      </p:sp>
      <p:sp>
        <p:nvSpPr>
          <p:cNvPr id="30" name="Text 23"/>
          <p:cNvSpPr txBox="1"/>
          <p:nvPr/>
        </p:nvSpPr>
        <p:spPr>
          <a:xfrm>
            <a:off x="10394899" y="6420002"/>
            <a:ext cx="1138428" cy="152705"/>
          </a:xfrm>
          <a:prstGeom prst="rect">
            <a:avLst/>
          </a:prstGeom>
          <a:noFill/>
          <a:ln/>
        </p:spPr>
        <p:txBody>
          <a:bodyPr wrap="square" lIns="0" tIns="0" rIns="0" bIns="0" rtlCol="0" anchor="ctr"/>
          <a:lstStyle/>
          <a:p>
            <a:pPr marL="0" indent="0" algn="l">
              <a:buNone/>
            </a:pPr>
            <a:r>
              <a:rPr lang="en-US" sz="1000" dirty="0">
                <a:solidFill>
                  <a:srgbClr val="888888"/>
                </a:solidFill>
                <a:latin typeface="Roboto" pitchFamily="34" charset="0"/>
                <a:ea typeface="Roboto" pitchFamily="34" charset="-122"/>
                <a:cs typeface="Roboto" pitchFamily="34" charset="-120"/>
              </a:rPr>
              <a:t>iZCast | UNSOLID</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C3E50"/>
          </a:solidFill>
          <a:ln/>
        </p:spPr>
        <p:txBody>
          <a:bodyPr/>
          <a:lstStyle/>
          <a:p>
            <a:endParaRPr lang="ja-JP" altLang="en-US"/>
          </a:p>
        </p:txBody>
      </p:sp>
      <p:sp>
        <p:nvSpPr>
          <p:cNvPr id="3" name="Shape 1"/>
          <p:cNvSpPr/>
          <p:nvPr/>
        </p:nvSpPr>
        <p:spPr>
          <a:xfrm>
            <a:off x="761695" y="381305"/>
            <a:ext cx="47549" cy="961949"/>
          </a:xfrm>
          <a:prstGeom prst="rect">
            <a:avLst/>
          </a:prstGeom>
          <a:solidFill>
            <a:srgbClr val="E74C3C"/>
          </a:solidFill>
          <a:ln/>
        </p:spPr>
        <p:txBody>
          <a:bodyPr/>
          <a:lstStyle/>
          <a:p>
            <a:endParaRPr lang="ja-JP" altLang="en-US"/>
          </a:p>
        </p:txBody>
      </p:sp>
      <p:sp>
        <p:nvSpPr>
          <p:cNvPr id="4" name="Text 2"/>
          <p:cNvSpPr txBox="1"/>
          <p:nvPr/>
        </p:nvSpPr>
        <p:spPr>
          <a:xfrm>
            <a:off x="952805" y="381305"/>
            <a:ext cx="1752905" cy="181051"/>
          </a:xfrm>
          <a:prstGeom prst="rect">
            <a:avLst/>
          </a:prstGeom>
          <a:noFill/>
          <a:ln/>
        </p:spPr>
        <p:txBody>
          <a:bodyPr wrap="square" lIns="0" tIns="0" rIns="0" bIns="0" rtlCol="0" anchor="ctr"/>
          <a:lstStyle/>
          <a:p>
            <a:pPr marL="0" indent="0" algn="l">
              <a:buNone/>
            </a:pPr>
            <a:r>
              <a:rPr lang="en-US" sz="1200" b="1" dirty="0">
                <a:solidFill>
                  <a:srgbClr val="3498DB"/>
                </a:solidFill>
                <a:latin typeface="Roboto" pitchFamily="34" charset="0"/>
                <a:ea typeface="Roboto" pitchFamily="34" charset="-122"/>
                <a:cs typeface="Roboto" pitchFamily="34" charset="-120"/>
              </a:rPr>
              <a:t>BENEFITS SUMMARY</a:t>
            </a:r>
            <a:endParaRPr lang="en-US" sz="1200" dirty="0"/>
          </a:p>
        </p:txBody>
      </p:sp>
      <p:sp>
        <p:nvSpPr>
          <p:cNvPr id="5" name="Text 3"/>
          <p:cNvSpPr txBox="1"/>
          <p:nvPr/>
        </p:nvSpPr>
        <p:spPr>
          <a:xfrm>
            <a:off x="952805" y="1036015"/>
            <a:ext cx="2052828" cy="305410"/>
          </a:xfrm>
          <a:prstGeom prst="rect">
            <a:avLst/>
          </a:prstGeom>
          <a:noFill/>
          <a:ln/>
        </p:spPr>
        <p:txBody>
          <a:bodyPr wrap="square" lIns="0" tIns="0" rIns="0" bIns="0" rtlCol="0" anchor="ctr"/>
          <a:lstStyle/>
          <a:p>
            <a:pPr marL="0" indent="0" algn="l">
              <a:buNone/>
            </a:pPr>
            <a:r>
              <a:rPr lang="en-US" sz="1600" dirty="0">
                <a:solidFill>
                  <a:srgbClr val="E74C3C"/>
                </a:solidFill>
                <a:latin typeface="Noto Sans JP" pitchFamily="34" charset="0"/>
                <a:ea typeface="Noto Sans JP" pitchFamily="34" charset="-122"/>
                <a:cs typeface="Noto Sans JP" pitchFamily="34" charset="-120"/>
              </a:rPr>
              <a:t>導入メリットまとめ</a:t>
            </a:r>
            <a:endParaRPr lang="en-US" sz="1600" dirty="0"/>
          </a:p>
        </p:txBody>
      </p:sp>
      <p:sp>
        <p:nvSpPr>
          <p:cNvPr id="6" name="Text 4"/>
          <p:cNvSpPr txBox="1"/>
          <p:nvPr/>
        </p:nvSpPr>
        <p:spPr>
          <a:xfrm>
            <a:off x="952805" y="571500"/>
            <a:ext cx="4415638" cy="419710"/>
          </a:xfrm>
          <a:prstGeom prst="rect">
            <a:avLst/>
          </a:prstGeom>
          <a:noFill/>
          <a:ln/>
        </p:spPr>
        <p:txBody>
          <a:bodyPr wrap="square" lIns="0" tIns="0" rIns="0" bIns="0" rtlCol="0" anchor="ctr"/>
          <a:lstStyle/>
          <a:p>
            <a:pPr marL="0" indent="0" algn="l">
              <a:buNone/>
            </a:pPr>
            <a:r>
              <a:rPr lang="en-US" sz="2800" b="1" dirty="0">
                <a:solidFill>
                  <a:srgbClr val="FFFFFF"/>
                </a:solidFill>
                <a:latin typeface="Roboto" pitchFamily="34" charset="0"/>
                <a:ea typeface="Roboto" pitchFamily="34" charset="-122"/>
                <a:cs typeface="Roboto" pitchFamily="34" charset="-120"/>
              </a:rPr>
              <a:t>Why Choose Our Solution</a:t>
            </a:r>
            <a:endParaRPr lang="en-US" sz="2800" dirty="0"/>
          </a:p>
        </p:txBody>
      </p:sp>
      <p:sp>
        <p:nvSpPr>
          <p:cNvPr id="7" name="Shape 5"/>
          <p:cNvSpPr/>
          <p:nvPr/>
        </p:nvSpPr>
        <p:spPr>
          <a:xfrm>
            <a:off x="761695" y="1607515"/>
            <a:ext cx="476402" cy="476402"/>
          </a:xfrm>
          <a:prstGeom prst="ellipse">
            <a:avLst/>
          </a:prstGeom>
          <a:solidFill>
            <a:srgbClr val="E74C3C">
              <a:alpha val="15000"/>
            </a:srgbClr>
          </a:solidFill>
          <a:ln/>
        </p:spPr>
        <p:txBody>
          <a:bodyPr/>
          <a:lstStyle/>
          <a:p>
            <a:endParaRPr lang="ja-JP" altLang="en-US"/>
          </a:p>
        </p:txBody>
      </p:sp>
      <p:pic>
        <p:nvPicPr>
          <p:cNvPr id="8" name="Image 0" descr="preencoded.png"/>
          <p:cNvPicPr>
            <a:picLocks noChangeAspect="1"/>
          </p:cNvPicPr>
          <p:nvPr/>
        </p:nvPicPr>
        <p:blipFill>
          <a:blip r:embed="rId3"/>
          <a:srcRect/>
          <a:stretch/>
        </p:blipFill>
        <p:spPr>
          <a:xfrm>
            <a:off x="886054" y="1731874"/>
            <a:ext cx="228600" cy="228600"/>
          </a:xfrm>
          <a:prstGeom prst="rect">
            <a:avLst/>
          </a:prstGeom>
        </p:spPr>
      </p:pic>
      <p:sp>
        <p:nvSpPr>
          <p:cNvPr id="9" name="Shape 6"/>
          <p:cNvSpPr/>
          <p:nvPr/>
        </p:nvSpPr>
        <p:spPr>
          <a:xfrm>
            <a:off x="761695" y="6267298"/>
            <a:ext cx="10668305" cy="9144"/>
          </a:xfrm>
          <a:prstGeom prst="rect">
            <a:avLst/>
          </a:prstGeom>
          <a:solidFill>
            <a:srgbClr val="FFFFFF">
              <a:alpha val="10000"/>
            </a:srgbClr>
          </a:solidFill>
          <a:ln/>
        </p:spPr>
        <p:txBody>
          <a:bodyPr/>
          <a:lstStyle/>
          <a:p>
            <a:endParaRPr lang="ja-JP" altLang="en-US"/>
          </a:p>
        </p:txBody>
      </p:sp>
      <p:sp>
        <p:nvSpPr>
          <p:cNvPr id="10" name="Shape 7"/>
          <p:cNvSpPr/>
          <p:nvPr/>
        </p:nvSpPr>
        <p:spPr>
          <a:xfrm>
            <a:off x="761695" y="2316175"/>
            <a:ext cx="476402" cy="476402"/>
          </a:xfrm>
          <a:prstGeom prst="ellipse">
            <a:avLst/>
          </a:prstGeom>
          <a:solidFill>
            <a:srgbClr val="3498DB">
              <a:alpha val="15000"/>
            </a:srgbClr>
          </a:solidFill>
          <a:ln/>
        </p:spPr>
        <p:txBody>
          <a:bodyPr/>
          <a:lstStyle/>
          <a:p>
            <a:endParaRPr lang="ja-JP" altLang="en-US"/>
          </a:p>
        </p:txBody>
      </p:sp>
      <p:sp>
        <p:nvSpPr>
          <p:cNvPr id="11" name="Shape 8"/>
          <p:cNvSpPr/>
          <p:nvPr/>
        </p:nvSpPr>
        <p:spPr>
          <a:xfrm>
            <a:off x="761695" y="3733495"/>
            <a:ext cx="476402" cy="476402"/>
          </a:xfrm>
          <a:prstGeom prst="ellipse">
            <a:avLst/>
          </a:prstGeom>
          <a:solidFill>
            <a:srgbClr val="3498DB">
              <a:alpha val="15000"/>
            </a:srgbClr>
          </a:solidFill>
          <a:ln/>
        </p:spPr>
        <p:txBody>
          <a:bodyPr/>
          <a:lstStyle/>
          <a:p>
            <a:endParaRPr lang="ja-JP" altLang="en-US"/>
          </a:p>
        </p:txBody>
      </p:sp>
      <p:sp>
        <p:nvSpPr>
          <p:cNvPr id="12" name="Text 9"/>
          <p:cNvSpPr txBox="1"/>
          <p:nvPr/>
        </p:nvSpPr>
        <p:spPr>
          <a:xfrm>
            <a:off x="1429207" y="1645920"/>
            <a:ext cx="5029200"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広いサーキットでも車内映像を"ほぼリアルタイム"で共有</a:t>
            </a:r>
            <a:endParaRPr lang="en-US" sz="1500" dirty="0"/>
          </a:p>
        </p:txBody>
      </p:sp>
      <p:sp>
        <p:nvSpPr>
          <p:cNvPr id="13" name="Text 10"/>
          <p:cNvSpPr txBox="1"/>
          <p:nvPr/>
        </p:nvSpPr>
        <p:spPr>
          <a:xfrm>
            <a:off x="1429207" y="1941271"/>
            <a:ext cx="9229954"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従来なら不可能だった広大なレースサーキット全体での車内映像のリアルタイム共有を実現。タイムラグをほとんど感じさせません。</a:t>
            </a:r>
            <a:endParaRPr lang="en-US" sz="1200" dirty="0"/>
          </a:p>
        </p:txBody>
      </p:sp>
      <p:pic>
        <p:nvPicPr>
          <p:cNvPr id="14" name="Image 1" descr="preencoded.png"/>
          <p:cNvPicPr>
            <a:picLocks noChangeAspect="1"/>
          </p:cNvPicPr>
          <p:nvPr/>
        </p:nvPicPr>
        <p:blipFill>
          <a:blip r:embed="rId4"/>
          <a:srcRect/>
          <a:stretch/>
        </p:blipFill>
        <p:spPr>
          <a:xfrm>
            <a:off x="886054" y="2440534"/>
            <a:ext cx="228600" cy="228600"/>
          </a:xfrm>
          <a:prstGeom prst="rect">
            <a:avLst/>
          </a:prstGeom>
        </p:spPr>
      </p:pic>
      <p:sp>
        <p:nvSpPr>
          <p:cNvPr id="15" name="Shape 11"/>
          <p:cNvSpPr/>
          <p:nvPr/>
        </p:nvSpPr>
        <p:spPr>
          <a:xfrm>
            <a:off x="761695" y="3024835"/>
            <a:ext cx="476402" cy="476402"/>
          </a:xfrm>
          <a:prstGeom prst="ellipse">
            <a:avLst/>
          </a:prstGeom>
          <a:solidFill>
            <a:srgbClr val="E74C3C">
              <a:alpha val="15000"/>
            </a:srgbClr>
          </a:solidFill>
          <a:ln/>
        </p:spPr>
        <p:txBody>
          <a:bodyPr/>
          <a:lstStyle/>
          <a:p>
            <a:endParaRPr lang="ja-JP" altLang="en-US"/>
          </a:p>
        </p:txBody>
      </p:sp>
      <p:sp>
        <p:nvSpPr>
          <p:cNvPr id="16" name="Shape 12"/>
          <p:cNvSpPr/>
          <p:nvPr/>
        </p:nvSpPr>
        <p:spPr>
          <a:xfrm>
            <a:off x="761695" y="4443070"/>
            <a:ext cx="476402" cy="476402"/>
          </a:xfrm>
          <a:prstGeom prst="ellipse">
            <a:avLst/>
          </a:prstGeom>
          <a:solidFill>
            <a:srgbClr val="E74C3C">
              <a:alpha val="15000"/>
            </a:srgbClr>
          </a:solidFill>
          <a:ln/>
        </p:spPr>
        <p:txBody>
          <a:bodyPr/>
          <a:lstStyle/>
          <a:p>
            <a:endParaRPr lang="ja-JP" altLang="en-US"/>
          </a:p>
        </p:txBody>
      </p:sp>
      <p:sp>
        <p:nvSpPr>
          <p:cNvPr id="17" name="Text 13"/>
          <p:cNvSpPr txBox="1"/>
          <p:nvPr/>
        </p:nvSpPr>
        <p:spPr>
          <a:xfrm>
            <a:off x="1429207" y="2354580"/>
            <a:ext cx="2619756"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国境を越えた遠隔運用が可能</a:t>
            </a:r>
            <a:endParaRPr lang="en-US" sz="1500" dirty="0"/>
          </a:p>
        </p:txBody>
      </p:sp>
      <p:sp>
        <p:nvSpPr>
          <p:cNvPr id="18" name="Text 14"/>
          <p:cNvSpPr txBox="1"/>
          <p:nvPr/>
        </p:nvSpPr>
        <p:spPr>
          <a:xfrm>
            <a:off x="1429207" y="2649931"/>
            <a:ext cx="7706563"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海外レースでも日本からリアルタイムで監視・管理・分析が可能。現地・本部間でのタイムロスを解消します。</a:t>
            </a:r>
            <a:endParaRPr lang="en-US" sz="1200" dirty="0"/>
          </a:p>
        </p:txBody>
      </p:sp>
      <p:pic>
        <p:nvPicPr>
          <p:cNvPr id="19" name="Image 2" descr="preencoded.png"/>
          <p:cNvPicPr>
            <a:picLocks noChangeAspect="1"/>
          </p:cNvPicPr>
          <p:nvPr/>
        </p:nvPicPr>
        <p:blipFill>
          <a:blip r:embed="rId5"/>
          <a:srcRect/>
          <a:stretch/>
        </p:blipFill>
        <p:spPr>
          <a:xfrm>
            <a:off x="886054" y="3149194"/>
            <a:ext cx="228600" cy="228600"/>
          </a:xfrm>
          <a:prstGeom prst="rect">
            <a:avLst/>
          </a:prstGeom>
        </p:spPr>
      </p:pic>
      <p:sp>
        <p:nvSpPr>
          <p:cNvPr id="20" name="Text 15"/>
          <p:cNvSpPr txBox="1"/>
          <p:nvPr/>
        </p:nvSpPr>
        <p:spPr>
          <a:xfrm>
            <a:off x="1429207" y="3063240"/>
            <a:ext cx="4124858"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映像演出・安全管理・分析すべてを同時に向上</a:t>
            </a:r>
            <a:endParaRPr lang="en-US" sz="1500" dirty="0"/>
          </a:p>
        </p:txBody>
      </p:sp>
      <p:sp>
        <p:nvSpPr>
          <p:cNvPr id="21" name="Text 16"/>
          <p:cNvSpPr txBox="1"/>
          <p:nvPr/>
        </p:nvSpPr>
        <p:spPr>
          <a:xfrm>
            <a:off x="1429207" y="3358591"/>
            <a:ext cx="7858354"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一つのシステムで複数の課題を解決。放送品質向上、安全性強化、詳細なデータ分析をすべて同時に実現します。</a:t>
            </a:r>
            <a:endParaRPr lang="en-US" sz="1200" dirty="0"/>
          </a:p>
        </p:txBody>
      </p:sp>
      <p:pic>
        <p:nvPicPr>
          <p:cNvPr id="22" name="Image 3" descr="preencoded.png"/>
          <p:cNvPicPr>
            <a:picLocks noChangeAspect="1"/>
          </p:cNvPicPr>
          <p:nvPr/>
        </p:nvPicPr>
        <p:blipFill>
          <a:blip r:embed="rId6"/>
          <a:srcRect t="-44" b="-44"/>
          <a:stretch/>
        </p:blipFill>
        <p:spPr>
          <a:xfrm>
            <a:off x="871423" y="3857854"/>
            <a:ext cx="256946" cy="228600"/>
          </a:xfrm>
          <a:prstGeom prst="rect">
            <a:avLst/>
          </a:prstGeom>
        </p:spPr>
      </p:pic>
      <p:sp>
        <p:nvSpPr>
          <p:cNvPr id="23" name="Text 17"/>
          <p:cNvSpPr txBox="1"/>
          <p:nvPr/>
        </p:nvSpPr>
        <p:spPr>
          <a:xfrm>
            <a:off x="1429207" y="3771900"/>
            <a:ext cx="3191256"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すでに多数の国際レースで実績あり</a:t>
            </a:r>
            <a:endParaRPr lang="en-US" sz="1500" dirty="0"/>
          </a:p>
        </p:txBody>
      </p:sp>
      <p:sp>
        <p:nvSpPr>
          <p:cNvPr id="24" name="Text 18"/>
          <p:cNvSpPr txBox="1"/>
          <p:nvPr/>
        </p:nvSpPr>
        <p:spPr>
          <a:xfrm>
            <a:off x="1429207" y="4067251"/>
            <a:ext cx="7315200"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GT World Challenge Asia、SUPER GTなど、トップレベルの国際レースシリーズでの豊富な実績と信頼性。</a:t>
            </a:r>
            <a:endParaRPr lang="en-US" sz="1200" dirty="0"/>
          </a:p>
        </p:txBody>
      </p:sp>
      <p:pic>
        <p:nvPicPr>
          <p:cNvPr id="25" name="Image 4" descr="preencoded.png"/>
          <p:cNvPicPr>
            <a:picLocks noChangeAspect="1"/>
          </p:cNvPicPr>
          <p:nvPr/>
        </p:nvPicPr>
        <p:blipFill>
          <a:blip r:embed="rId7"/>
          <a:srcRect l="-57" r="-57"/>
          <a:stretch/>
        </p:blipFill>
        <p:spPr>
          <a:xfrm>
            <a:off x="899770" y="4566514"/>
            <a:ext cx="200254" cy="228600"/>
          </a:xfrm>
          <a:prstGeom prst="rect">
            <a:avLst/>
          </a:prstGeom>
        </p:spPr>
      </p:pic>
      <p:sp>
        <p:nvSpPr>
          <p:cNvPr id="26" name="Shape 19"/>
          <p:cNvSpPr/>
          <p:nvPr/>
        </p:nvSpPr>
        <p:spPr>
          <a:xfrm>
            <a:off x="9670694" y="6476695"/>
            <a:ext cx="286207" cy="38405"/>
          </a:xfrm>
          <a:prstGeom prst="rect">
            <a:avLst/>
          </a:prstGeom>
          <a:solidFill>
            <a:srgbClr val="E74C3C"/>
          </a:solidFill>
          <a:ln/>
        </p:spPr>
        <p:txBody>
          <a:bodyPr/>
          <a:lstStyle/>
          <a:p>
            <a:endParaRPr lang="ja-JP" altLang="en-US"/>
          </a:p>
        </p:txBody>
      </p:sp>
      <p:sp>
        <p:nvSpPr>
          <p:cNvPr id="27" name="Shape 20"/>
          <p:cNvSpPr/>
          <p:nvPr/>
        </p:nvSpPr>
        <p:spPr>
          <a:xfrm>
            <a:off x="10032797" y="6476695"/>
            <a:ext cx="286207" cy="38405"/>
          </a:xfrm>
          <a:prstGeom prst="rect">
            <a:avLst/>
          </a:prstGeom>
          <a:solidFill>
            <a:srgbClr val="3498DB"/>
          </a:solidFill>
          <a:ln/>
        </p:spPr>
        <p:txBody>
          <a:bodyPr/>
          <a:lstStyle/>
          <a:p>
            <a:endParaRPr lang="ja-JP" altLang="en-US"/>
          </a:p>
        </p:txBody>
      </p:sp>
      <p:sp>
        <p:nvSpPr>
          <p:cNvPr id="28" name="Text 21"/>
          <p:cNvSpPr txBox="1"/>
          <p:nvPr/>
        </p:nvSpPr>
        <p:spPr>
          <a:xfrm>
            <a:off x="1429207" y="4480560"/>
            <a:ext cx="3400654"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低遅延×高画質×高安定のトリプル強化</a:t>
            </a:r>
            <a:endParaRPr lang="en-US" sz="1500" dirty="0"/>
          </a:p>
        </p:txBody>
      </p:sp>
      <p:sp>
        <p:nvSpPr>
          <p:cNvPr id="29" name="Text 22"/>
          <p:cNvSpPr txBox="1"/>
          <p:nvPr/>
        </p:nvSpPr>
        <p:spPr>
          <a:xfrm>
            <a:off x="1429207" y="4775911"/>
            <a:ext cx="8001000"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他社システムでは二者択一だった要素をすべて実現。速さと品質と安定性を犠牲にすることなく同時に提供します。</a:t>
            </a:r>
            <a:endParaRPr lang="en-US" sz="1200" dirty="0"/>
          </a:p>
        </p:txBody>
      </p:sp>
      <p:sp>
        <p:nvSpPr>
          <p:cNvPr id="30" name="Text 23"/>
          <p:cNvSpPr txBox="1"/>
          <p:nvPr/>
        </p:nvSpPr>
        <p:spPr>
          <a:xfrm>
            <a:off x="10394899" y="6420002"/>
            <a:ext cx="1138428" cy="152705"/>
          </a:xfrm>
          <a:prstGeom prst="rect">
            <a:avLst/>
          </a:prstGeom>
          <a:noFill/>
          <a:ln/>
        </p:spPr>
        <p:txBody>
          <a:bodyPr wrap="square" lIns="0" tIns="0" rIns="0" bIns="0" rtlCol="0" anchor="ctr"/>
          <a:lstStyle/>
          <a:p>
            <a:pPr marL="0" indent="0" algn="l">
              <a:buNone/>
            </a:pPr>
            <a:r>
              <a:rPr lang="en-US" sz="1000" dirty="0">
                <a:solidFill>
                  <a:srgbClr val="888888"/>
                </a:solidFill>
                <a:latin typeface="Roboto" pitchFamily="34" charset="0"/>
                <a:ea typeface="Roboto" pitchFamily="34" charset="-122"/>
                <a:cs typeface="Roboto" pitchFamily="34" charset="-120"/>
              </a:rPr>
              <a:t>iZCast | UNSOLID</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15030" y="-15088"/>
            <a:ext cx="12219909" cy="6883603"/>
          </a:xfrm>
          <a:prstGeom prst="rect">
            <a:avLst/>
          </a:prstGeom>
          <a:solidFill>
            <a:srgbClr val="2C3E50"/>
          </a:solidFill>
          <a:ln/>
        </p:spPr>
        <p:txBody>
          <a:bodyPr/>
          <a:lstStyle/>
          <a:p>
            <a:endParaRPr lang="ja-JP" altLang="en-US"/>
          </a:p>
        </p:txBody>
      </p:sp>
      <p:sp>
        <p:nvSpPr>
          <p:cNvPr id="3" name="Shape 1"/>
          <p:cNvSpPr/>
          <p:nvPr/>
        </p:nvSpPr>
        <p:spPr>
          <a:xfrm>
            <a:off x="761695" y="381305"/>
            <a:ext cx="47549" cy="923544"/>
          </a:xfrm>
          <a:prstGeom prst="rect">
            <a:avLst/>
          </a:prstGeom>
          <a:solidFill>
            <a:srgbClr val="E74C3C"/>
          </a:solidFill>
          <a:ln/>
        </p:spPr>
        <p:txBody>
          <a:bodyPr/>
          <a:lstStyle/>
          <a:p>
            <a:endParaRPr lang="ja-JP" altLang="en-US"/>
          </a:p>
        </p:txBody>
      </p:sp>
      <p:sp>
        <p:nvSpPr>
          <p:cNvPr id="4" name="Shape 2"/>
          <p:cNvSpPr/>
          <p:nvPr/>
        </p:nvSpPr>
        <p:spPr>
          <a:xfrm>
            <a:off x="761695" y="6515293"/>
            <a:ext cx="10668305" cy="9144"/>
          </a:xfrm>
          <a:prstGeom prst="rect">
            <a:avLst/>
          </a:prstGeom>
          <a:solidFill>
            <a:srgbClr val="FFFFFF">
              <a:alpha val="10000"/>
            </a:srgbClr>
          </a:solidFill>
          <a:ln/>
        </p:spPr>
        <p:txBody>
          <a:bodyPr/>
          <a:lstStyle/>
          <a:p>
            <a:endParaRPr lang="ja-JP" altLang="en-US"/>
          </a:p>
        </p:txBody>
      </p:sp>
      <p:sp>
        <p:nvSpPr>
          <p:cNvPr id="5" name="Text 3"/>
          <p:cNvSpPr txBox="1"/>
          <p:nvPr/>
        </p:nvSpPr>
        <p:spPr>
          <a:xfrm>
            <a:off x="952805" y="381305"/>
            <a:ext cx="2057400" cy="181051"/>
          </a:xfrm>
          <a:prstGeom prst="rect">
            <a:avLst/>
          </a:prstGeom>
          <a:noFill/>
          <a:ln/>
        </p:spPr>
        <p:txBody>
          <a:bodyPr wrap="square" lIns="0" tIns="0" rIns="0" bIns="0" rtlCol="0" anchor="ctr"/>
          <a:lstStyle/>
          <a:p>
            <a:pPr marL="0" indent="0" algn="l">
              <a:buNone/>
            </a:pPr>
            <a:r>
              <a:rPr lang="en-US" sz="1200" b="1" dirty="0">
                <a:solidFill>
                  <a:srgbClr val="3498DB"/>
                </a:solidFill>
                <a:latin typeface="Roboto" pitchFamily="34" charset="0"/>
                <a:ea typeface="Roboto" pitchFamily="34" charset="-122"/>
                <a:cs typeface="Roboto" pitchFamily="34" charset="-120"/>
              </a:rPr>
              <a:t>CONTACT &amp; NEXT STEPS</a:t>
            </a:r>
            <a:endParaRPr lang="en-US" sz="1200" dirty="0"/>
          </a:p>
        </p:txBody>
      </p:sp>
      <p:sp>
        <p:nvSpPr>
          <p:cNvPr id="6" name="Text 4"/>
          <p:cNvSpPr txBox="1"/>
          <p:nvPr/>
        </p:nvSpPr>
        <p:spPr>
          <a:xfrm>
            <a:off x="952805" y="996696"/>
            <a:ext cx="2852928" cy="305410"/>
          </a:xfrm>
          <a:prstGeom prst="rect">
            <a:avLst/>
          </a:prstGeom>
          <a:noFill/>
          <a:ln/>
        </p:spPr>
        <p:txBody>
          <a:bodyPr wrap="square" lIns="0" tIns="0" rIns="0" bIns="0" rtlCol="0" anchor="ctr"/>
          <a:lstStyle/>
          <a:p>
            <a:pPr marL="0" indent="0" algn="l">
              <a:buNone/>
            </a:pPr>
            <a:r>
              <a:rPr lang="en-US" sz="1600" dirty="0">
                <a:solidFill>
                  <a:srgbClr val="E74C3C"/>
                </a:solidFill>
                <a:latin typeface="Noto Sans JP" pitchFamily="34" charset="0"/>
                <a:ea typeface="Noto Sans JP" pitchFamily="34" charset="-122"/>
                <a:cs typeface="Noto Sans JP" pitchFamily="34" charset="-120"/>
              </a:rPr>
              <a:t>お問い合わせ / 次のステップ</a:t>
            </a:r>
            <a:endParaRPr lang="en-US" sz="1600" dirty="0"/>
          </a:p>
        </p:txBody>
      </p:sp>
      <p:sp>
        <p:nvSpPr>
          <p:cNvPr id="7" name="Text 5"/>
          <p:cNvSpPr txBox="1"/>
          <p:nvPr/>
        </p:nvSpPr>
        <p:spPr>
          <a:xfrm>
            <a:off x="952805" y="571500"/>
            <a:ext cx="4334256" cy="400507"/>
          </a:xfrm>
          <a:prstGeom prst="rect">
            <a:avLst/>
          </a:prstGeom>
          <a:noFill/>
          <a:ln/>
        </p:spPr>
        <p:txBody>
          <a:bodyPr wrap="square" lIns="0" tIns="0" rIns="0" bIns="0" rtlCol="0" anchor="ctr"/>
          <a:lstStyle/>
          <a:p>
            <a:pPr marL="0" indent="0" algn="l">
              <a:buNone/>
            </a:pPr>
            <a:r>
              <a:rPr lang="en-US" sz="2700" b="1" dirty="0">
                <a:solidFill>
                  <a:srgbClr val="FFFFFF"/>
                </a:solidFill>
                <a:latin typeface="Roboto" pitchFamily="34" charset="0"/>
                <a:ea typeface="Roboto" pitchFamily="34" charset="-122"/>
                <a:cs typeface="Roboto" pitchFamily="34" charset="-120"/>
              </a:rPr>
              <a:t>Start Your Implementation</a:t>
            </a:r>
            <a:endParaRPr lang="en-US" sz="2700" dirty="0"/>
          </a:p>
        </p:txBody>
      </p:sp>
      <p:sp>
        <p:nvSpPr>
          <p:cNvPr id="8" name="Shape 6"/>
          <p:cNvSpPr/>
          <p:nvPr/>
        </p:nvSpPr>
        <p:spPr>
          <a:xfrm>
            <a:off x="761695" y="1538935"/>
            <a:ext cx="523951" cy="523951"/>
          </a:xfrm>
          <a:prstGeom prst="ellipse">
            <a:avLst/>
          </a:prstGeom>
          <a:solidFill>
            <a:srgbClr val="E74C3C">
              <a:alpha val="15000"/>
            </a:srgbClr>
          </a:solidFill>
          <a:ln/>
        </p:spPr>
        <p:txBody>
          <a:bodyPr/>
          <a:lstStyle/>
          <a:p>
            <a:endParaRPr lang="ja-JP" altLang="en-US"/>
          </a:p>
        </p:txBody>
      </p:sp>
      <p:pic>
        <p:nvPicPr>
          <p:cNvPr id="9" name="Image 0" descr="preencoded.png"/>
          <p:cNvPicPr>
            <a:picLocks noChangeAspect="1"/>
          </p:cNvPicPr>
          <p:nvPr/>
        </p:nvPicPr>
        <p:blipFill>
          <a:blip r:embed="rId3"/>
          <a:srcRect t="-476" b="-476"/>
          <a:stretch/>
        </p:blipFill>
        <p:spPr>
          <a:xfrm>
            <a:off x="886054" y="1677010"/>
            <a:ext cx="276149" cy="247802"/>
          </a:xfrm>
          <a:prstGeom prst="rect">
            <a:avLst/>
          </a:prstGeom>
        </p:spPr>
      </p:pic>
      <p:sp>
        <p:nvSpPr>
          <p:cNvPr id="10" name="Shape 7"/>
          <p:cNvSpPr/>
          <p:nvPr/>
        </p:nvSpPr>
        <p:spPr>
          <a:xfrm>
            <a:off x="761695" y="2257654"/>
            <a:ext cx="523951" cy="523951"/>
          </a:xfrm>
          <a:prstGeom prst="ellipse">
            <a:avLst/>
          </a:prstGeom>
          <a:solidFill>
            <a:srgbClr val="3498DB">
              <a:alpha val="15000"/>
            </a:srgbClr>
          </a:solidFill>
          <a:ln/>
        </p:spPr>
        <p:txBody>
          <a:bodyPr/>
          <a:lstStyle/>
          <a:p>
            <a:endParaRPr lang="ja-JP" altLang="en-US"/>
          </a:p>
        </p:txBody>
      </p:sp>
      <p:sp>
        <p:nvSpPr>
          <p:cNvPr id="11" name="Shape 8"/>
          <p:cNvSpPr/>
          <p:nvPr/>
        </p:nvSpPr>
        <p:spPr>
          <a:xfrm>
            <a:off x="761695" y="3694176"/>
            <a:ext cx="523951" cy="523951"/>
          </a:xfrm>
          <a:prstGeom prst="ellipse">
            <a:avLst/>
          </a:prstGeom>
          <a:solidFill>
            <a:srgbClr val="3498DB">
              <a:alpha val="15000"/>
            </a:srgbClr>
          </a:solidFill>
          <a:ln/>
        </p:spPr>
        <p:txBody>
          <a:bodyPr/>
          <a:lstStyle/>
          <a:p>
            <a:endParaRPr lang="ja-JP" altLang="en-US"/>
          </a:p>
        </p:txBody>
      </p:sp>
      <p:sp>
        <p:nvSpPr>
          <p:cNvPr id="12" name="Text 9"/>
          <p:cNvSpPr txBox="1"/>
          <p:nvPr/>
        </p:nvSpPr>
        <p:spPr>
          <a:xfrm>
            <a:off x="1476756" y="1577340"/>
            <a:ext cx="1286561"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システム構築</a:t>
            </a:r>
            <a:endParaRPr lang="en-US" sz="1500" dirty="0"/>
          </a:p>
        </p:txBody>
      </p:sp>
      <p:sp>
        <p:nvSpPr>
          <p:cNvPr id="13" name="Text 10"/>
          <p:cNvSpPr txBox="1"/>
          <p:nvPr/>
        </p:nvSpPr>
        <p:spPr>
          <a:xfrm>
            <a:off x="1476756" y="1881835"/>
            <a:ext cx="8030261"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お客様のレース環境に合わせたカスタマイズと最適化。サーキットの特性を考慮した通信設計と機材セットアップ。</a:t>
            </a:r>
            <a:endParaRPr lang="en-US" sz="1200" dirty="0"/>
          </a:p>
        </p:txBody>
      </p:sp>
      <p:pic>
        <p:nvPicPr>
          <p:cNvPr id="14" name="Image 1" descr="preencoded.png"/>
          <p:cNvPicPr>
            <a:picLocks noChangeAspect="1"/>
          </p:cNvPicPr>
          <p:nvPr/>
        </p:nvPicPr>
        <p:blipFill>
          <a:blip r:embed="rId4"/>
          <a:srcRect l="-775" r="-775"/>
          <a:stretch/>
        </p:blipFill>
        <p:spPr>
          <a:xfrm>
            <a:off x="866851" y="2395728"/>
            <a:ext cx="314554" cy="247802"/>
          </a:xfrm>
          <a:prstGeom prst="rect">
            <a:avLst/>
          </a:prstGeom>
        </p:spPr>
      </p:pic>
      <p:sp>
        <p:nvSpPr>
          <p:cNvPr id="15" name="Shape 11"/>
          <p:cNvSpPr/>
          <p:nvPr/>
        </p:nvSpPr>
        <p:spPr>
          <a:xfrm>
            <a:off x="761695" y="4573830"/>
            <a:ext cx="10668305" cy="544068"/>
          </a:xfrm>
          <a:prstGeom prst="roundRect">
            <a:avLst>
              <a:gd name="adj" fmla="val 7107"/>
            </a:avLst>
          </a:prstGeom>
          <a:solidFill>
            <a:srgbClr val="FFFFFF">
              <a:alpha val="3000"/>
            </a:srgbClr>
          </a:solidFill>
          <a:ln/>
        </p:spPr>
        <p:txBody>
          <a:bodyPr/>
          <a:lstStyle/>
          <a:p>
            <a:endParaRPr lang="ja-JP" altLang="en-US"/>
          </a:p>
        </p:txBody>
      </p:sp>
      <p:sp>
        <p:nvSpPr>
          <p:cNvPr id="16" name="Shape 12"/>
          <p:cNvSpPr/>
          <p:nvPr/>
        </p:nvSpPr>
        <p:spPr>
          <a:xfrm>
            <a:off x="761695" y="5145610"/>
            <a:ext cx="10668305" cy="28346"/>
          </a:xfrm>
          <a:prstGeom prst="rect">
            <a:avLst/>
          </a:prstGeom>
          <a:solidFill>
            <a:srgbClr val="E74C3C"/>
          </a:solidFill>
          <a:ln/>
        </p:spPr>
        <p:txBody>
          <a:bodyPr/>
          <a:lstStyle/>
          <a:p>
            <a:endParaRPr lang="ja-JP" altLang="en-US"/>
          </a:p>
        </p:txBody>
      </p:sp>
      <p:sp>
        <p:nvSpPr>
          <p:cNvPr id="17" name="Shape 13"/>
          <p:cNvSpPr/>
          <p:nvPr/>
        </p:nvSpPr>
        <p:spPr>
          <a:xfrm>
            <a:off x="761695" y="5291826"/>
            <a:ext cx="10668305" cy="828446"/>
          </a:xfrm>
          <a:prstGeom prst="roundRect">
            <a:avLst>
              <a:gd name="adj" fmla="val 5075"/>
            </a:avLst>
          </a:prstGeom>
          <a:solidFill>
            <a:srgbClr val="FFFFFF">
              <a:alpha val="5000"/>
            </a:srgbClr>
          </a:solidFill>
          <a:ln/>
        </p:spPr>
        <p:txBody>
          <a:bodyPr/>
          <a:lstStyle/>
          <a:p>
            <a:endParaRPr lang="ja-JP" altLang="en-US"/>
          </a:p>
        </p:txBody>
      </p:sp>
      <p:sp>
        <p:nvSpPr>
          <p:cNvPr id="18" name="Shape 14"/>
          <p:cNvSpPr/>
          <p:nvPr/>
        </p:nvSpPr>
        <p:spPr>
          <a:xfrm>
            <a:off x="761695" y="5291826"/>
            <a:ext cx="28346" cy="828446"/>
          </a:xfrm>
          <a:prstGeom prst="rect">
            <a:avLst/>
          </a:prstGeom>
          <a:solidFill>
            <a:srgbClr val="3498DB"/>
          </a:solidFill>
          <a:ln/>
        </p:spPr>
        <p:txBody>
          <a:bodyPr/>
          <a:lstStyle/>
          <a:p>
            <a:endParaRPr lang="ja-JP" altLang="en-US"/>
          </a:p>
        </p:txBody>
      </p:sp>
      <p:sp>
        <p:nvSpPr>
          <p:cNvPr id="19" name="Text 15"/>
          <p:cNvSpPr txBox="1"/>
          <p:nvPr/>
        </p:nvSpPr>
        <p:spPr>
          <a:xfrm>
            <a:off x="5313578" y="4688129"/>
            <a:ext cx="1828800" cy="400507"/>
          </a:xfrm>
          <a:prstGeom prst="rect">
            <a:avLst/>
          </a:prstGeom>
          <a:noFill/>
          <a:ln/>
        </p:spPr>
        <p:txBody>
          <a:bodyPr wrap="square" lIns="0" tIns="0" rIns="0" bIns="0" rtlCol="0" anchor="ctr"/>
          <a:lstStyle/>
          <a:p>
            <a:pPr marL="0" indent="0" algn="ctr">
              <a:buNone/>
            </a:pPr>
            <a:r>
              <a:rPr lang="en-US" sz="2700" b="1" dirty="0">
                <a:solidFill>
                  <a:srgbClr val="FFFFFF"/>
                </a:solidFill>
                <a:latin typeface="Roboto" pitchFamily="34" charset="0"/>
                <a:ea typeface="Roboto" pitchFamily="34" charset="-122"/>
                <a:cs typeface="Roboto" pitchFamily="34" charset="-120"/>
              </a:rPr>
              <a:t>UNSOLID</a:t>
            </a:r>
            <a:endParaRPr lang="en-US" sz="2700" dirty="0"/>
          </a:p>
        </p:txBody>
      </p:sp>
      <p:sp>
        <p:nvSpPr>
          <p:cNvPr id="20" name="Text 16"/>
          <p:cNvSpPr txBox="1"/>
          <p:nvPr/>
        </p:nvSpPr>
        <p:spPr>
          <a:xfrm>
            <a:off x="1200607" y="5472877"/>
            <a:ext cx="1157630" cy="200254"/>
          </a:xfrm>
          <a:prstGeom prst="rect">
            <a:avLst/>
          </a:prstGeom>
          <a:noFill/>
          <a:ln/>
        </p:spPr>
        <p:txBody>
          <a:bodyPr wrap="square" lIns="0" tIns="0" rIns="0" bIns="0" rtlCol="0" anchor="ctr"/>
          <a:lstStyle/>
          <a:p>
            <a:pPr marL="0" indent="0" algn="l">
              <a:buNone/>
            </a:pPr>
            <a:r>
              <a:rPr lang="en-US" sz="1300" b="1" dirty="0">
                <a:solidFill>
                  <a:srgbClr val="FFFFFF"/>
                </a:solidFill>
                <a:latin typeface="Roboto" pitchFamily="34" charset="0"/>
                <a:ea typeface="Roboto" pitchFamily="34" charset="-122"/>
                <a:cs typeface="Roboto" pitchFamily="34" charset="-120"/>
              </a:rPr>
              <a:t>お問い合わせ</a:t>
            </a:r>
            <a:endParaRPr lang="en-US" sz="1300" dirty="0"/>
          </a:p>
        </p:txBody>
      </p:sp>
      <p:sp>
        <p:nvSpPr>
          <p:cNvPr id="21" name="Text 17"/>
          <p:cNvSpPr txBox="1"/>
          <p:nvPr/>
        </p:nvSpPr>
        <p:spPr>
          <a:xfrm>
            <a:off x="933602" y="5768228"/>
            <a:ext cx="1705356"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Web: www.unsolid.com</a:t>
            </a:r>
            <a:endParaRPr lang="en-US" sz="1200" dirty="0"/>
          </a:p>
        </p:txBody>
      </p:sp>
      <p:sp>
        <p:nvSpPr>
          <p:cNvPr id="22" name="Shape 18"/>
          <p:cNvSpPr/>
          <p:nvPr/>
        </p:nvSpPr>
        <p:spPr>
          <a:xfrm>
            <a:off x="761695" y="6258347"/>
            <a:ext cx="1181405" cy="256946"/>
          </a:xfrm>
          <a:prstGeom prst="roundRect">
            <a:avLst>
              <a:gd name="adj" fmla="val 52722"/>
            </a:avLst>
          </a:prstGeom>
          <a:solidFill>
            <a:srgbClr val="E74C3C">
              <a:alpha val="10000"/>
            </a:srgbClr>
          </a:solidFill>
          <a:ln/>
        </p:spPr>
        <p:txBody>
          <a:bodyPr/>
          <a:lstStyle/>
          <a:p>
            <a:endParaRPr lang="ja-JP" altLang="en-US"/>
          </a:p>
        </p:txBody>
      </p:sp>
      <p:sp>
        <p:nvSpPr>
          <p:cNvPr id="23" name="Shape 19"/>
          <p:cNvSpPr/>
          <p:nvPr/>
        </p:nvSpPr>
        <p:spPr>
          <a:xfrm>
            <a:off x="2017166" y="6258347"/>
            <a:ext cx="1067105" cy="256946"/>
          </a:xfrm>
          <a:prstGeom prst="roundRect">
            <a:avLst>
              <a:gd name="adj" fmla="val 52722"/>
            </a:avLst>
          </a:prstGeom>
          <a:solidFill>
            <a:srgbClr val="3498DB">
              <a:alpha val="10000"/>
            </a:srgbClr>
          </a:solidFill>
          <a:ln/>
        </p:spPr>
        <p:txBody>
          <a:bodyPr/>
          <a:lstStyle/>
          <a:p>
            <a:endParaRPr lang="ja-JP" altLang="en-US"/>
          </a:p>
        </p:txBody>
      </p:sp>
      <p:sp>
        <p:nvSpPr>
          <p:cNvPr id="24" name="Shape 20"/>
          <p:cNvSpPr/>
          <p:nvPr/>
        </p:nvSpPr>
        <p:spPr>
          <a:xfrm>
            <a:off x="5595214" y="6258347"/>
            <a:ext cx="952805" cy="256946"/>
          </a:xfrm>
          <a:prstGeom prst="roundRect">
            <a:avLst>
              <a:gd name="adj" fmla="val 52722"/>
            </a:avLst>
          </a:prstGeom>
          <a:solidFill>
            <a:srgbClr val="E74C3C">
              <a:alpha val="10000"/>
            </a:srgbClr>
          </a:solidFill>
          <a:ln/>
        </p:spPr>
        <p:txBody>
          <a:bodyPr/>
          <a:lstStyle/>
          <a:p>
            <a:endParaRPr lang="ja-JP" altLang="en-US"/>
          </a:p>
        </p:txBody>
      </p:sp>
      <p:sp>
        <p:nvSpPr>
          <p:cNvPr id="25" name="Shape 21"/>
          <p:cNvSpPr/>
          <p:nvPr/>
        </p:nvSpPr>
        <p:spPr>
          <a:xfrm>
            <a:off x="761695" y="2975458"/>
            <a:ext cx="523951" cy="523951"/>
          </a:xfrm>
          <a:prstGeom prst="ellipse">
            <a:avLst/>
          </a:prstGeom>
          <a:solidFill>
            <a:srgbClr val="E74C3C">
              <a:alpha val="15000"/>
            </a:srgbClr>
          </a:solidFill>
          <a:ln/>
        </p:spPr>
        <p:txBody>
          <a:bodyPr/>
          <a:lstStyle/>
          <a:p>
            <a:endParaRPr lang="ja-JP" altLang="en-US"/>
          </a:p>
        </p:txBody>
      </p:sp>
      <p:sp>
        <p:nvSpPr>
          <p:cNvPr id="26" name="Shape 22"/>
          <p:cNvSpPr/>
          <p:nvPr/>
        </p:nvSpPr>
        <p:spPr>
          <a:xfrm>
            <a:off x="9522562" y="6739321"/>
            <a:ext cx="286207" cy="38405"/>
          </a:xfrm>
          <a:prstGeom prst="rect">
            <a:avLst/>
          </a:prstGeom>
          <a:solidFill>
            <a:srgbClr val="E74C3C"/>
          </a:solidFill>
          <a:ln/>
        </p:spPr>
        <p:txBody>
          <a:bodyPr/>
          <a:lstStyle/>
          <a:p>
            <a:endParaRPr lang="ja-JP" altLang="en-US"/>
          </a:p>
        </p:txBody>
      </p:sp>
      <p:sp>
        <p:nvSpPr>
          <p:cNvPr id="27" name="Text 23"/>
          <p:cNvSpPr txBox="1"/>
          <p:nvPr/>
        </p:nvSpPr>
        <p:spPr>
          <a:xfrm>
            <a:off x="1476756" y="2295144"/>
            <a:ext cx="905256"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デモ提供</a:t>
            </a:r>
            <a:endParaRPr lang="en-US" sz="1500" dirty="0"/>
          </a:p>
        </p:txBody>
      </p:sp>
      <p:sp>
        <p:nvSpPr>
          <p:cNvPr id="28" name="Text 24"/>
          <p:cNvSpPr txBox="1"/>
          <p:nvPr/>
        </p:nvSpPr>
        <p:spPr>
          <a:xfrm>
            <a:off x="1476756" y="2600554"/>
            <a:ext cx="6954012"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実際のレース環境での実証デモ。超低遅延体験とリアルタイム映像の効果を直接確認いただけます。</a:t>
            </a:r>
            <a:endParaRPr lang="en-US" sz="1200" dirty="0"/>
          </a:p>
        </p:txBody>
      </p:sp>
      <p:pic>
        <p:nvPicPr>
          <p:cNvPr id="29" name="Image 2" descr="preencoded.png"/>
          <p:cNvPicPr>
            <a:picLocks noChangeAspect="1"/>
          </p:cNvPicPr>
          <p:nvPr/>
        </p:nvPicPr>
        <p:blipFill>
          <a:blip r:embed="rId5"/>
          <a:srcRect/>
          <a:stretch/>
        </p:blipFill>
        <p:spPr>
          <a:xfrm>
            <a:off x="899770" y="3113532"/>
            <a:ext cx="247802" cy="247802"/>
          </a:xfrm>
          <a:prstGeom prst="rect">
            <a:avLst/>
          </a:prstGeom>
        </p:spPr>
      </p:pic>
      <p:sp>
        <p:nvSpPr>
          <p:cNvPr id="30" name="Text 25"/>
          <p:cNvSpPr txBox="1"/>
          <p:nvPr/>
        </p:nvSpPr>
        <p:spPr>
          <a:xfrm>
            <a:off x="1476756" y="3013862"/>
            <a:ext cx="1095451"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現場テスト</a:t>
            </a:r>
            <a:endParaRPr lang="en-US" sz="1500" dirty="0"/>
          </a:p>
        </p:txBody>
      </p:sp>
      <p:sp>
        <p:nvSpPr>
          <p:cNvPr id="31" name="Text 26"/>
          <p:cNvSpPr txBox="1"/>
          <p:nvPr/>
        </p:nvSpPr>
        <p:spPr>
          <a:xfrm>
            <a:off x="1476756" y="3318358"/>
            <a:ext cx="6344107"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実際のレース環境での動作確認と調整。最適な映像品質とネットワーク設定を検証します。</a:t>
            </a:r>
            <a:endParaRPr lang="en-US" sz="1200" dirty="0"/>
          </a:p>
        </p:txBody>
      </p:sp>
      <p:pic>
        <p:nvPicPr>
          <p:cNvPr id="32" name="Image 3" descr="preencoded.png"/>
          <p:cNvPicPr>
            <a:picLocks noChangeAspect="1"/>
          </p:cNvPicPr>
          <p:nvPr/>
        </p:nvPicPr>
        <p:blipFill>
          <a:blip r:embed="rId6"/>
          <a:srcRect/>
          <a:stretch/>
        </p:blipFill>
        <p:spPr>
          <a:xfrm>
            <a:off x="899770" y="3832250"/>
            <a:ext cx="247802" cy="247802"/>
          </a:xfrm>
          <a:prstGeom prst="rect">
            <a:avLst/>
          </a:prstGeom>
        </p:spPr>
      </p:pic>
      <p:sp>
        <p:nvSpPr>
          <p:cNvPr id="34" name="Shape 28"/>
          <p:cNvSpPr/>
          <p:nvPr/>
        </p:nvSpPr>
        <p:spPr>
          <a:xfrm>
            <a:off x="9884664" y="6739321"/>
            <a:ext cx="286207" cy="38405"/>
          </a:xfrm>
          <a:prstGeom prst="rect">
            <a:avLst/>
          </a:prstGeom>
          <a:solidFill>
            <a:srgbClr val="3498DB"/>
          </a:solidFill>
          <a:ln/>
        </p:spPr>
        <p:txBody>
          <a:bodyPr/>
          <a:lstStyle/>
          <a:p>
            <a:endParaRPr lang="ja-JP" altLang="en-US"/>
          </a:p>
        </p:txBody>
      </p:sp>
      <p:sp>
        <p:nvSpPr>
          <p:cNvPr id="35" name="Text 29"/>
          <p:cNvSpPr txBox="1"/>
          <p:nvPr/>
        </p:nvSpPr>
        <p:spPr>
          <a:xfrm>
            <a:off x="1476756" y="3731666"/>
            <a:ext cx="1286561" cy="228600"/>
          </a:xfrm>
          <a:prstGeom prst="rect">
            <a:avLst/>
          </a:prstGeom>
          <a:noFill/>
          <a:ln/>
        </p:spPr>
        <p:txBody>
          <a:bodyPr wrap="square" lIns="0" tIns="0" rIns="0" bIns="0" rtlCol="0" anchor="ctr"/>
          <a:lstStyle/>
          <a:p>
            <a:pPr marL="0" indent="0" algn="l">
              <a:buNone/>
            </a:pPr>
            <a:r>
              <a:rPr lang="en-US" sz="1500" b="1" dirty="0">
                <a:solidFill>
                  <a:srgbClr val="FFFFFF"/>
                </a:solidFill>
                <a:latin typeface="Roboto" pitchFamily="34" charset="0"/>
                <a:ea typeface="Roboto" pitchFamily="34" charset="-122"/>
                <a:cs typeface="Roboto" pitchFamily="34" charset="-120"/>
              </a:rPr>
              <a:t>導入サポート</a:t>
            </a:r>
            <a:endParaRPr lang="en-US" sz="1500" dirty="0"/>
          </a:p>
        </p:txBody>
      </p:sp>
      <p:sp>
        <p:nvSpPr>
          <p:cNvPr id="36" name="Text 30"/>
          <p:cNvSpPr txBox="1"/>
          <p:nvPr/>
        </p:nvSpPr>
        <p:spPr>
          <a:xfrm>
            <a:off x="1476756" y="4037076"/>
            <a:ext cx="6334963"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スムーズな導入と運用をサポート。技術チームが常駐し、安定したサービスを提供します。</a:t>
            </a:r>
            <a:endParaRPr lang="en-US" sz="1200" dirty="0"/>
          </a:p>
        </p:txBody>
      </p:sp>
      <p:pic>
        <p:nvPicPr>
          <p:cNvPr id="37" name="Image 4" descr="preencoded.png"/>
          <p:cNvPicPr>
            <a:picLocks noChangeAspect="1"/>
          </p:cNvPicPr>
          <p:nvPr/>
        </p:nvPicPr>
        <p:blipFill>
          <a:blip r:embed="rId7"/>
          <a:srcRect/>
          <a:stretch/>
        </p:blipFill>
        <p:spPr>
          <a:xfrm>
            <a:off x="933602" y="5484764"/>
            <a:ext cx="171907" cy="171907"/>
          </a:xfrm>
          <a:prstGeom prst="rect">
            <a:avLst/>
          </a:prstGeom>
        </p:spPr>
      </p:pic>
      <p:sp>
        <p:nvSpPr>
          <p:cNvPr id="38" name="Shape 31"/>
          <p:cNvSpPr/>
          <p:nvPr/>
        </p:nvSpPr>
        <p:spPr>
          <a:xfrm>
            <a:off x="3159252" y="6258347"/>
            <a:ext cx="990295" cy="256946"/>
          </a:xfrm>
          <a:prstGeom prst="roundRect">
            <a:avLst>
              <a:gd name="adj" fmla="val 52722"/>
            </a:avLst>
          </a:prstGeom>
          <a:solidFill>
            <a:srgbClr val="E74C3C">
              <a:alpha val="10000"/>
            </a:srgbClr>
          </a:solidFill>
          <a:ln/>
        </p:spPr>
        <p:txBody>
          <a:bodyPr/>
          <a:lstStyle/>
          <a:p>
            <a:endParaRPr lang="ja-JP" altLang="en-US"/>
          </a:p>
        </p:txBody>
      </p:sp>
      <p:sp>
        <p:nvSpPr>
          <p:cNvPr id="39" name="Shape 32"/>
          <p:cNvSpPr/>
          <p:nvPr/>
        </p:nvSpPr>
        <p:spPr>
          <a:xfrm>
            <a:off x="4223614" y="6258347"/>
            <a:ext cx="1295705" cy="256946"/>
          </a:xfrm>
          <a:prstGeom prst="roundRect">
            <a:avLst>
              <a:gd name="adj" fmla="val 52722"/>
            </a:avLst>
          </a:prstGeom>
          <a:solidFill>
            <a:srgbClr val="3498DB">
              <a:alpha val="10000"/>
            </a:srgbClr>
          </a:solidFill>
          <a:ln/>
        </p:spPr>
        <p:txBody>
          <a:bodyPr/>
          <a:lstStyle/>
          <a:p>
            <a:endParaRPr lang="ja-JP" altLang="en-US"/>
          </a:p>
        </p:txBody>
      </p:sp>
      <p:sp>
        <p:nvSpPr>
          <p:cNvPr id="40" name="Text 33"/>
          <p:cNvSpPr txBox="1"/>
          <p:nvPr/>
        </p:nvSpPr>
        <p:spPr>
          <a:xfrm>
            <a:off x="857707" y="6315039"/>
            <a:ext cx="1083564" cy="143561"/>
          </a:xfrm>
          <a:prstGeom prst="rect">
            <a:avLst/>
          </a:prstGeom>
          <a:noFill/>
          <a:ln/>
        </p:spPr>
        <p:txBody>
          <a:bodyPr wrap="square" lIns="0" tIns="0" rIns="0" bIns="0" rtlCol="0" anchor="ctr"/>
          <a:lstStyle/>
          <a:p>
            <a:pPr marL="0" indent="0" algn="l">
              <a:buNone/>
            </a:pPr>
            <a:r>
              <a:rPr lang="en-US" sz="900" dirty="0">
                <a:solidFill>
                  <a:srgbClr val="E74C3C"/>
                </a:solidFill>
                <a:latin typeface="Roboto" pitchFamily="34" charset="0"/>
                <a:ea typeface="Roboto" pitchFamily="34" charset="-122"/>
                <a:cs typeface="Roboto" pitchFamily="34" charset="-120"/>
              </a:rPr>
              <a:t>Ultra Low Latency</a:t>
            </a:r>
            <a:endParaRPr lang="en-US" sz="900" dirty="0"/>
          </a:p>
        </p:txBody>
      </p:sp>
      <p:sp>
        <p:nvSpPr>
          <p:cNvPr id="41" name="Text 34"/>
          <p:cNvSpPr txBox="1"/>
          <p:nvPr/>
        </p:nvSpPr>
        <p:spPr>
          <a:xfrm>
            <a:off x="2112264" y="6315039"/>
            <a:ext cx="969264" cy="143561"/>
          </a:xfrm>
          <a:prstGeom prst="rect">
            <a:avLst/>
          </a:prstGeom>
          <a:noFill/>
          <a:ln/>
        </p:spPr>
        <p:txBody>
          <a:bodyPr wrap="square" lIns="0" tIns="0" rIns="0" bIns="0" rtlCol="0" anchor="ctr"/>
          <a:lstStyle/>
          <a:p>
            <a:pPr marL="0" indent="0" algn="l">
              <a:buNone/>
            </a:pPr>
            <a:r>
              <a:rPr lang="en-US" sz="900" dirty="0">
                <a:solidFill>
                  <a:srgbClr val="3498DB"/>
                </a:solidFill>
                <a:latin typeface="Roboto" pitchFamily="34" charset="0"/>
                <a:ea typeface="Roboto" pitchFamily="34" charset="-122"/>
                <a:cs typeface="Roboto" pitchFamily="34" charset="-120"/>
              </a:rPr>
              <a:t>0.5–2 sec delay</a:t>
            </a:r>
            <a:endParaRPr lang="en-US" sz="900" dirty="0"/>
          </a:p>
        </p:txBody>
      </p:sp>
      <p:sp>
        <p:nvSpPr>
          <p:cNvPr id="42" name="Text 35"/>
          <p:cNvSpPr txBox="1"/>
          <p:nvPr/>
        </p:nvSpPr>
        <p:spPr>
          <a:xfrm>
            <a:off x="3254350" y="6315039"/>
            <a:ext cx="893369" cy="143561"/>
          </a:xfrm>
          <a:prstGeom prst="rect">
            <a:avLst/>
          </a:prstGeom>
          <a:noFill/>
          <a:ln/>
        </p:spPr>
        <p:txBody>
          <a:bodyPr wrap="square" lIns="0" tIns="0" rIns="0" bIns="0" rtlCol="0" anchor="ctr"/>
          <a:lstStyle/>
          <a:p>
            <a:pPr marL="0" indent="0" algn="l">
              <a:buNone/>
            </a:pPr>
            <a:r>
              <a:rPr lang="en-US" sz="900" dirty="0">
                <a:solidFill>
                  <a:srgbClr val="E74C3C"/>
                </a:solidFill>
                <a:latin typeface="Roboto" pitchFamily="34" charset="0"/>
                <a:ea typeface="Roboto" pitchFamily="34" charset="-122"/>
                <a:cs typeface="Roboto" pitchFamily="34" charset="-120"/>
              </a:rPr>
              <a:t>Multi-path LTE</a:t>
            </a:r>
            <a:endParaRPr lang="en-US" sz="900" dirty="0"/>
          </a:p>
        </p:txBody>
      </p:sp>
      <p:sp>
        <p:nvSpPr>
          <p:cNvPr id="43" name="Text 36"/>
          <p:cNvSpPr txBox="1"/>
          <p:nvPr/>
        </p:nvSpPr>
        <p:spPr>
          <a:xfrm>
            <a:off x="4318711" y="6315039"/>
            <a:ext cx="1197864" cy="143561"/>
          </a:xfrm>
          <a:prstGeom prst="rect">
            <a:avLst/>
          </a:prstGeom>
          <a:noFill/>
          <a:ln/>
        </p:spPr>
        <p:txBody>
          <a:bodyPr wrap="square" lIns="0" tIns="0" rIns="0" bIns="0" rtlCol="0" anchor="ctr"/>
          <a:lstStyle/>
          <a:p>
            <a:pPr marL="0" indent="0" algn="l">
              <a:buNone/>
            </a:pPr>
            <a:r>
              <a:rPr lang="en-US" sz="900" dirty="0">
                <a:solidFill>
                  <a:srgbClr val="3498DB"/>
                </a:solidFill>
                <a:latin typeface="Roboto" pitchFamily="34" charset="0"/>
                <a:ea typeface="Roboto" pitchFamily="34" charset="-122"/>
                <a:cs typeface="Roboto" pitchFamily="34" charset="-120"/>
              </a:rPr>
              <a:t>Global transmission</a:t>
            </a:r>
            <a:endParaRPr lang="en-US" sz="900" dirty="0"/>
          </a:p>
        </p:txBody>
      </p:sp>
      <p:sp>
        <p:nvSpPr>
          <p:cNvPr id="44" name="Text 37"/>
          <p:cNvSpPr txBox="1"/>
          <p:nvPr/>
        </p:nvSpPr>
        <p:spPr>
          <a:xfrm>
            <a:off x="5690311" y="6315039"/>
            <a:ext cx="854964" cy="143561"/>
          </a:xfrm>
          <a:prstGeom prst="rect">
            <a:avLst/>
          </a:prstGeom>
          <a:noFill/>
          <a:ln/>
        </p:spPr>
        <p:txBody>
          <a:bodyPr wrap="square" lIns="0" tIns="0" rIns="0" bIns="0" rtlCol="0" anchor="ctr"/>
          <a:lstStyle/>
          <a:p>
            <a:pPr marL="0" indent="0" algn="l">
              <a:buNone/>
            </a:pPr>
            <a:r>
              <a:rPr lang="en-US" sz="900" dirty="0">
                <a:solidFill>
                  <a:srgbClr val="E74C3C"/>
                </a:solidFill>
                <a:latin typeface="Roboto" pitchFamily="34" charset="0"/>
                <a:ea typeface="Roboto" pitchFamily="34" charset="-122"/>
                <a:cs typeface="Roboto" pitchFamily="34" charset="-120"/>
              </a:rPr>
              <a:t>FHD 1080p30</a:t>
            </a:r>
            <a:endParaRPr lang="en-US" sz="900" dirty="0"/>
          </a:p>
        </p:txBody>
      </p:sp>
      <p:sp>
        <p:nvSpPr>
          <p:cNvPr id="45" name="Text 38"/>
          <p:cNvSpPr txBox="1"/>
          <p:nvPr/>
        </p:nvSpPr>
        <p:spPr>
          <a:xfrm>
            <a:off x="10246766" y="6667998"/>
            <a:ext cx="1305763" cy="181051"/>
          </a:xfrm>
          <a:prstGeom prst="rect">
            <a:avLst/>
          </a:prstGeom>
          <a:noFill/>
          <a:ln/>
        </p:spPr>
        <p:txBody>
          <a:bodyPr wrap="square" lIns="0" tIns="0" rIns="0" bIns="0" rtlCol="0" anchor="ctr"/>
          <a:lstStyle/>
          <a:p>
            <a:pPr marL="0" indent="0" algn="l">
              <a:buNone/>
            </a:pPr>
            <a:r>
              <a:rPr lang="en-US" sz="1200" dirty="0">
                <a:solidFill>
                  <a:srgbClr val="AAAAAA"/>
                </a:solidFill>
                <a:latin typeface="Roboto" pitchFamily="34" charset="0"/>
                <a:ea typeface="Roboto" pitchFamily="34" charset="-122"/>
                <a:cs typeface="Roboto" pitchFamily="34" charset="-120"/>
              </a:rPr>
              <a:t>iZCast | UNSOLID</a:t>
            </a:r>
            <a:endParaRPr lang="en-US" sz="1200" dirty="0"/>
          </a:p>
        </p:txBody>
      </p:sp>
      <p:sp>
        <p:nvSpPr>
          <p:cNvPr id="33" name="角丸四角形 32">
            <a:extLst>
              <a:ext uri="{FF2B5EF4-FFF2-40B4-BE49-F238E27FC236}">
                <a16:creationId xmlns:a16="http://schemas.microsoft.com/office/drawing/2014/main" id="{03CCF835-B515-05EC-7982-89A048700F93}"/>
              </a:ext>
            </a:extLst>
          </p:cNvPr>
          <p:cNvSpPr/>
          <p:nvPr/>
        </p:nvSpPr>
        <p:spPr>
          <a:xfrm>
            <a:off x="4373067" y="5060647"/>
            <a:ext cx="5873699" cy="5623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Contact</a:t>
            </a:r>
            <a:r>
              <a:rPr kumimoji="1" lang="ja-JP" altLang="en-US"/>
              <a:t>情報は追加お願いします。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TotalTime>
  <Words>1009</Words>
  <Application>Microsoft Macintosh PowerPoint</Application>
  <PresentationFormat>ワイド画面</PresentationFormat>
  <Paragraphs>255</Paragraphs>
  <Slides>13</Slides>
  <Notes>13</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13</vt:i4>
      </vt:variant>
    </vt:vector>
  </HeadingPairs>
  <TitlesOfParts>
    <vt:vector size="17" baseType="lpstr">
      <vt:lpstr>Noto Sans JP</vt:lpstr>
      <vt:lpstr>Arial</vt:lpstr>
      <vt:lpstr>Roboto</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R.Shidara</cp:lastModifiedBy>
  <cp:revision>10</cp:revision>
  <dcterms:created xsi:type="dcterms:W3CDTF">2025-11-13T13:16:19Z</dcterms:created>
  <dcterms:modified xsi:type="dcterms:W3CDTF">2025-11-15T15:18:11Z</dcterms:modified>
</cp:coreProperties>
</file>